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27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RITL per Admisi (Rp juta)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Papua Barat</c:v>
                  </c:pt>
                  <c:pt idx="1">
                    <c:v>Rata-rata Nas.</c:v>
                  </c:pt>
                  <c:pt idx="2">
                    <c:v>DKI Jakarta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3.32</c:v>
                </c:pt>
                <c:pt idx="1">
                  <c:v>4.75</c:v>
                </c:pt>
                <c:pt idx="2">
                  <c:v>7.82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Kendali Risiko Klaim JKN di Tangan Faskes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 2026  ·  BPJS Kesehatan × Asosiasi Health Tech Indonesia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Kategori 2 — Efisiensi Risiko pada Fasilitas Kesehatan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github.com/fahriialfiansyah/tilik-klaim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 ·  IDENTITAS &amp; POSITIONING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 itu TilikKlaim — dan apa yang kami cakup?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356616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TENTANG TILIK KLAIM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integrity layer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bekerja di sisi faskes — sebelum klaim dikirim ke BPJS, bukan setelah ditolak.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3566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02920" y="2724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 Sistem melaporkan SINYAL RISIKO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163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Manusia yang memutuskan. Selalu.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Data tetap di infrastruktur faskes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41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Setiap keputusan tercatat &amp; auditable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CAKUPAN: 4 mode inti aktif berkode (5 dari 20 sub-kategori resmi BPJS)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55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Phantom billing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48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Repeat billing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Inflated bills (Tahap 2)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Manipulasi kelas perawatan (Tahap 2)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Upcoding (Tahap 2)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Services unbundling / fragmentation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511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Cloning (penjiplakan klaim)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803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Pemecahan episode (parsial)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663440" y="4169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 Rujukan, Prolonged Stay, Obat/Alkes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→ di luar scope dengan justifikasi teknis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JKN: Program terbesar di dunia, beban yang tidak terlihat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657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283 Juta+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Peserta JKN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(terbesar di dunia)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4688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172,59 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biaya klaim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tahun (2023)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7200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108,04%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ratio — Rp 108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keluar per Rp 100 masuk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6751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664 Juta+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Kunjungan FKRTL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tahun (2023)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788920"/>
            <a:ext cx="1920240" cy="3657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" y="292608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▲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17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ratio 108% berarti setiap rupiah iuran yang masuk tidak cukup menutup klaim yang dibayarkan — anomali yang tidak terdeteksi sebelum pengiriman memperburuk ketidakseimbangan ini secara sistemik.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DJSN 2023 | data.bpjs-kesehatan.go.id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Variasi biaya klaim yang tidak dapat dijelaskan klinis semata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34440"/>
            <a:ext cx="3657600" cy="3200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394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2,35×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Rasio tertinggi vs terendah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093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DKI Jakarta vs Papua Barat (RITL 2018)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35000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3949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+51,6%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Kelas 1 vs Kelas 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Sinyal upcoding kelas perawatan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335584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3949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+18,7%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Sulawesi Utara (RJTL)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4105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Lonjakan dalam 2 tahun (2015–2017)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Tabel 6.3.3 DJSN 2018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Tidak ada filter internal sebelum klaim dikirim ke BPJS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7432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Layanan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diberikan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1168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01168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dibuat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SIM 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74904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BPJS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Verifikasi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2376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22376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Bayar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2148840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074920" y="2395728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8549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572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ini masalah?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26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Casemix officer bekerja manual — tidak ada sistem deteksi anomali terstruktur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55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Duplikasi klaim antar periode tidak terpantau secara sistemik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856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Biaya yang menyimpang dari norma wilayah/kelas lolos tanpa peringatan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153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Penolakan klaim baru diketahui SETELAH submit — proses keberatan 30–90 hari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TilikKlaim: Quality Gate internal sebelum submit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KONDISI SAAT INI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7432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dibuat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42316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ke BPJS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Ditolak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7208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Keberatan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TILIK KLAIM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27432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dibuat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67335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01168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1071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74904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Signal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48640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22376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bersih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081528"/>
            <a:ext cx="18288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2103120" y="30815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Mode Aktif: Phantom · Repeat · Unbundling · Cloning  (+3 mode Tahap 2)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▶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SINYAL, BUKAN TUDUHAN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melaporkan — manusia memutuskan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33832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■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384048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TETAP DI FASKES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data keluar ke server eksternal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309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■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LANGKAH TERCATAT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immutable untuk setiap disposisi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Output: Apa yang dilihat Casemix Officer?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502920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RISK SIGNAL CARD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234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#INV-2024-087341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11480" y="17099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Pasien: [ID Anonim]   ·   Faskes: RS X   ·   Tgl: 12 Mar 2024   ·   Kelas: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502920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1148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 SINYAL TERDETEKSI — INFLATED BILLS     Risiko: TINGGI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klaim diajukan: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9.200.000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Ekspektasi (Prov×Kelas×Usia):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4.750.000 ± Rp 1.200.000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Deviasi dari mean + 2σ: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026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+53%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 referensi: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DJSN 2018 — Tabel 6.3.3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5029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1148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DISPOSISI (wajib pilih + isi alasan):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114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Setuju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0116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Investigasi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6118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⬆ Eskalasi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234440"/>
            <a:ext cx="3337560" cy="361188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669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AUDIT TRAIL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78308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14:32:01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Sistem: INFLATED_BILLS_FLAG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0.89 | Threshold: 0.70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278892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576072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14:45:22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Casemix: dr. Sari W.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Disposisi: INVESTIGASI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Alasan: "Klaim pasca-operasi major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perlu verifikasi berkas"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576072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15:20:09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Komite: Disetujui dengan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koreksi Rp 7.100.000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entri immutable — tidak dapat diedit atau dihapus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 vs alternatif yang sudah 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10312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01752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4505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BPJS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(Post-submit)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0507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6509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188720"/>
            <a:ext cx="20116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251192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01752" y="1664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4505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submit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0507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 (manual)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6509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Variatif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66420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251192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Sebelum — terstruktur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01752" y="21396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24505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776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0507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6509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2139696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251192" y="2139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Deterministik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615184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01752" y="2615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Skalabilitas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24505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40507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56509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2615184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7251192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Sistemik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090672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301752" y="3090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Data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24505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ke BPJS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40507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56509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Sering ke cloud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78040" y="3090672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 txBox="1"/>
          <p:nvPr/>
        </p:nvSpPr>
        <p:spPr>
          <a:xfrm>
            <a:off x="7251192" y="3090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Data di faskes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566160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301752" y="3566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3774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24505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 yang punya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776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40507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5778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 txBox="1"/>
          <p:nvPr/>
        </p:nvSpPr>
        <p:spPr>
          <a:xfrm>
            <a:off x="56509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78040" y="3566160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 txBox="1"/>
          <p:nvPr/>
        </p:nvSpPr>
        <p:spPr>
          <a:xfrm>
            <a:off x="7251192" y="3566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Milik faskes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404164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 txBox="1"/>
          <p:nvPr/>
        </p:nvSpPr>
        <p:spPr>
          <a:xfrm>
            <a:off x="301752" y="40416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Liability Jelas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3774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 txBox="1"/>
          <p:nvPr/>
        </p:nvSpPr>
        <p:spPr>
          <a:xfrm>
            <a:off x="24505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9776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 txBox="1"/>
          <p:nvPr/>
        </p:nvSpPr>
        <p:spPr>
          <a:xfrm>
            <a:off x="40507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778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 txBox="1"/>
          <p:nvPr/>
        </p:nvSpPr>
        <p:spPr>
          <a:xfrm>
            <a:off x="56509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178040" y="404164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 txBox="1"/>
          <p:nvPr/>
        </p:nvSpPr>
        <p:spPr>
          <a:xfrm>
            <a:off x="7251192" y="4041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Human-in-loop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6" name="Text 74"/>
          <p:cNvSpPr txBox="1"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 adalah satu-satunya solusi yang bekerja di titik paling kritis — sebelum submit, dengan data yang dapat diaudit, dan liability chain yang jelas.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8686800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Arsitektur: 3-Layer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1148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klaim dari SIM 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(CSV / API upload)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1148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Pasien pseudonim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 ICD-10, INA-CBGs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Tanggal layanan, Provinsi, Kelas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33756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Engine Deterministik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(ADR-0002: No LLM)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33756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Duplikasi detector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Kode-biaya validator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26364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Signal Card per klaim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 prioritas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Disposition Form + alasan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immutable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274320" y="4315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FastAPI  ·  React  ·  PostgreSQL  ·  Docker Compose (demo lokal, tanpa dependensi eksternal)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74320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Privacy by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2450592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Deterministik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626864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Human-in-the-loop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803136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Audit Trail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 Data Dua Lapis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LAPIS 1 — Data Publik DJSN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dataset dari data.bpjs-kesehatan.go.id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Agregat per Provinsi × Kelas × Usia (2014–2018)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6.2.1 — RJTL per Hak Kelas Perawatan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6.2.2 — RJTL per Usia &amp; Jenis Kelamin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6.2.3 — RJTL per Provinsi (34 Prov.)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741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6.3.1 — RITL per Hak Kelas Perawatan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6.3.2 — RITL per Usia &amp; Jenis Kelamin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 6.3.3 — RITL per Provinsi (34 Prov.)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Basis rencana Expected Cost Matrix (Tahap 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70916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LAPIS 2 — Data Sintetik Terkalibrasi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Synthea dikalibrasi ke distribusi DJSN Indonesia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(bukan distribusi generik Amerika Serikat)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Clean (baseline)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688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Phantom billing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044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Repeat billing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401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Unbundling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7581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Cloning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16052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709160" y="4224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sintetik adalah KEUNGGULAN: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· Auditable · Privacy by Design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Metode Deteksi — Tahap 1 (Aktif) &amp; Tahap 2 (Direncanakan)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" cy="16002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7432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Phantom &amp; Repeat Billing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Deteksi duplikasi: ID pasien + kode tindakan + tanggal dalam window waktu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66344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Inflated Bills &amp; Kelas Perawatan (Tahap 2)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Matrix: flag jika biaya &gt; mean + 2σ per Provinsi × Kelas × Usia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16636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DJSN Lapis 1 (6 tabel)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1148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7432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Unbundling  +  Upcoding (Tahap 2)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Inkonsistensi ICD-10 vs profil biaya INA-CBGs. Tindakan terpecah yang seharusnya 1 paket CBG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7724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411480" cy="160020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66344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↺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Cloning (Penjiplakan Klaim)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scoring pada vektor fitur klaim antar pasien berbeda dalam periode dekat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16636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45152"/>
            <a:ext cx="8549640" cy="384048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457200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▶️  ADR-0002: Tidak ada LLM di jalur keputusan risiko — Rules engine deterministik menghasilkan output identik untuk input yang sama. Wajib untuk akuntabilitas audit.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Sistem · Asumsi Transparan · Kepatuhan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38404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6576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OUTPUT SISTEM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Risk Signal Card per klaim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Review Queue (prioritas risiko)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Disposition Form + alasan wajib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 Trail immutable per klaim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29184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ASUMSI &amp; KETERBATASAN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Baseline DJSN 2018 — perlu kalibrasi ulang dengan tarif INA-CBGs terkini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Sinyal adalah indikator, bukan bukti fraud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Akurasi bergantung pada kelengkapan kode klaim dari SIM 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7432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1792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KEPATUHAN REGULASI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UU PDP No. 27/2022: data tidak meninggalkan faskes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Interoperabilitas HL7/FHIR: arsitektur API-first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Human-in-the-loop: semua keputusan tetap pada manusia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Siap integrasi Platform Satu Sehat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Bukti Evaluasi: Rules-only vs Hybrid (Sprint 06)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10312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01752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4505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Rules-only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 rule deterministik)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0507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(rules + model statistik)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6509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Interval 95%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188720"/>
            <a:ext cx="20116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251192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01752" y="1664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4505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0,6510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0507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0,6510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6509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66420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251192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Tidak ada beda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01752" y="21396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@Budget 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24505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95,65%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776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0507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6509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2139696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251192" y="2139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Overlap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615184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01752" y="2615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@Budget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24505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32,35%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40507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33,82%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56509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2615184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7251192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Beda 1 kasus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090672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301752" y="3090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PR-AUC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24505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0,7122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40507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0,8440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56509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Tdk dihitung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78040" y="3090672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 txBox="1"/>
          <p:nvPr/>
        </p:nvSpPr>
        <p:spPr>
          <a:xfrm>
            <a:off x="7251192" y="3090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Hybrid lebih tinggi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566160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301752" y="3566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Metrik per-mode (4 mode)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3774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24505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Identik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776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40507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Identik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5778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 txBox="1"/>
          <p:nvPr/>
        </p:nvSpPr>
        <p:spPr>
          <a:xfrm>
            <a:off x="56509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78040" y="3566160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 txBox="1"/>
          <p:nvPr/>
        </p:nvSpPr>
        <p:spPr>
          <a:xfrm>
            <a:off x="7251192" y="3566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Model deteksi nihil baru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404164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 txBox="1"/>
          <p:nvPr/>
        </p:nvSpPr>
        <p:spPr>
          <a:xfrm>
            <a:off x="301752" y="40416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Kriteria acceptance (P/R@K)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3774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 txBox="1"/>
          <p:nvPr/>
        </p:nvSpPr>
        <p:spPr>
          <a:xfrm>
            <a:off x="24505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9776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 txBox="1"/>
          <p:nvPr/>
        </p:nvSpPr>
        <p:spPr>
          <a:xfrm>
            <a:off x="40507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signifikan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778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 txBox="1"/>
          <p:nvPr/>
        </p:nvSpPr>
        <p:spPr>
          <a:xfrm>
            <a:off x="56509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178040" y="404164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 txBox="1"/>
          <p:nvPr/>
        </p:nvSpPr>
        <p:spPr>
          <a:xfrm>
            <a:off x="7251192" y="4041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Klausul hapus masih berlaku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6" name="Text 74"/>
          <p:cNvSpPr txBox="1"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Kesimpulan (dilaporkan apa adanya): lapisan statistik TIDAK terbukti signifikan lebih baik dari rules-only pada kriteria acceptance resmi — bukan kegagalan produk, justru bukti metode yang lebih kredibel daripada gain marjinal yang tidak teruji.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8686800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Kami tidak mengklaim lebih dari yang ada. Justru itulah yang membuat kami kredibel.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777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7432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34440" y="1261872"/>
            <a:ext cx="777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3444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Konsep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94560" y="1261872"/>
            <a:ext cx="777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19456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54680" y="1261872"/>
            <a:ext cx="777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15468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Validasi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11480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7492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07492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3504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03504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9516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99516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8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5528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95528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9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24028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◀ TilikKlaim saat ini (TRL 3–4)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487168"/>
            <a:ext cx="85496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27432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ARTEFAK TERVERIFIKASI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7706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74320" y="2770632"/>
            <a:ext cx="16459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502920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 Repositori Publik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311810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github.com/fahriialfiansyah/tilik-klaim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332841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Backend + Frontend + docker-compose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3538728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8 sprint terarsip · commit history aktif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90288" y="27706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90288" y="2770632"/>
            <a:ext cx="164592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4818888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Expected Cost Matrix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818888" y="311810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6 tabel DJSN 2018 (34 Prov × 3 Kelas × 16 Usia)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818888" y="332841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Threshold mean + 2σ per sel matriks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818888" y="3538728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5 skenario sintetik seed tetap — reproducible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8862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74320" y="3886200"/>
            <a:ext cx="1645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502920" y="3950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 ADR-0002 — No LLM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423367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"Tidak ada LLM di jalur keputusan risiko"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444398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Setiap flag reprodusibel &amp; diaudit independen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465429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Filosofi: sinyal risiko, bukan vonis fraud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90288" y="38862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590288" y="3886200"/>
            <a:ext cx="164592" cy="10058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4818888" y="3950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UI Design Tersedia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818888" y="423367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 layar: Antrean · Kasus · Ingest · Audit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818888" y="444398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Token CSS navy/teal/amber — tersinkron ke app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818888" y="465429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Lihat slide berikutnya untuk tampilan layar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95528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Desain Antarmuka — 4 Layar Tersedia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241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design/mockup/reference.html  ·  branch: development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0" y="658368"/>
            <a:ext cx="278892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080760" y="658368"/>
            <a:ext cx="2697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Plex Sans  ·  Token CSS Navy/Teal/Amber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 first  ·  Kontras WCAG AA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37744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10896" y="13898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20624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7744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92608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2608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92608" y="2331720"/>
            <a:ext cx="23774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7744" y="2313432"/>
            <a:ext cx="3657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92608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0936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936" y="1764792"/>
            <a:ext cx="137571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" y="190195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" y="1938528"/>
            <a:ext cx="1165311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0936" y="2075688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0936" y="2112264"/>
            <a:ext cx="1052017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30936" y="224942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0936" y="2286000"/>
            <a:ext cx="1456639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0936" y="242316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0936" y="2459736"/>
            <a:ext cx="8901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0936" y="2596896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0936" y="2633472"/>
            <a:ext cx="1262421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37744" y="406908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237744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ANTREAN REVIEW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Daftar klaim masuk dengan badge status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(Perlu Ditinjau / Konflik / Bersih)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22576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322576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395728" y="1389888"/>
            <a:ext cx="73152" cy="731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2505456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322576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377440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377440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377440" y="2331720"/>
            <a:ext cx="237744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322576" y="2313432"/>
            <a:ext cx="36576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377440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715768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715768" y="1764792"/>
            <a:ext cx="1456639" cy="1280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715768" y="192024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2715768" y="1956816"/>
            <a:ext cx="809244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715768" y="2066544"/>
            <a:ext cx="1132942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715768" y="2176272"/>
            <a:ext cx="971093" cy="822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2715768" y="2286000"/>
            <a:ext cx="1375715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715768" y="2395728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2715768" y="2432304"/>
            <a:ext cx="647395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715768" y="2542032"/>
            <a:ext cx="1213866" cy="822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2715768" y="2651760"/>
            <a:ext cx="890168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2715768" y="2761488"/>
            <a:ext cx="1294790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322576" y="4069080"/>
            <a:ext cx="20116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2322576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KASUS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322576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Workspace: matriks bukti,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swim-lane, peta tautan antar-dokumen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407408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407408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480560" y="1389888"/>
            <a:ext cx="73152" cy="7315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 txBox="1"/>
          <p:nvPr/>
        </p:nvSpPr>
        <p:spPr>
          <a:xfrm>
            <a:off x="4590288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407408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462272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462272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462272" y="2331720"/>
            <a:ext cx="237744" cy="7315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407408" y="2313432"/>
            <a:ext cx="36576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462272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800600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4800600" y="176479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4800600" y="1801368"/>
            <a:ext cx="1132942" cy="164592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4800600" y="199339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4800600" y="2029968"/>
            <a:ext cx="72832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4800600" y="214884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4800600" y="2185416"/>
            <a:ext cx="1424269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4800600" y="2304288"/>
            <a:ext cx="971093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4800600" y="242316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800600" y="2459736"/>
            <a:ext cx="566471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800600" y="2596896"/>
            <a:ext cx="1165311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800600" y="2734056"/>
            <a:ext cx="971093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4407408" y="4069080"/>
            <a:ext cx="20116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 txBox="1"/>
          <p:nvPr/>
        </p:nvSpPr>
        <p:spPr>
          <a:xfrm>
            <a:off x="4407408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/ DEMO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4407408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CSV dari SIM-RS, preview tabel,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pipeline deteksi real-time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492240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492240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6565392" y="138988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 txBox="1"/>
          <p:nvPr/>
        </p:nvSpPr>
        <p:spPr>
          <a:xfrm>
            <a:off x="6675120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492240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6547104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6547104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6547104" y="2331720"/>
            <a:ext cx="237744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6492240" y="2313432"/>
            <a:ext cx="36576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6547104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6885432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6885432" y="1764792"/>
            <a:ext cx="89016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6885432" y="2048256"/>
            <a:ext cx="1213866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6885432" y="2276856"/>
            <a:ext cx="679765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6885432" y="2468880"/>
            <a:ext cx="1424269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6885432" y="275234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6885432" y="2788920"/>
            <a:ext cx="1424269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6885432" y="2907792"/>
            <a:ext cx="971093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6885432" y="302666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6885432" y="3063240"/>
            <a:ext cx="647395" cy="1005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6885432" y="3191256"/>
            <a:ext cx="1132942" cy="100584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6492240" y="4069080"/>
            <a:ext cx="20116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 txBox="1"/>
          <p:nvPr/>
        </p:nvSpPr>
        <p:spPr>
          <a:xfrm>
            <a:off x="6492240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&amp; EVALUASI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6492240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Metrik precision/recall, tren per periode,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perubahan threshold &amp; reasoning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37744" y="4828032"/>
            <a:ext cx="1828800" cy="18288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 txBox="1"/>
          <p:nvPr/>
        </p:nvSpPr>
        <p:spPr>
          <a:xfrm>
            <a:off x="274320" y="4828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— TIDAK DAPAT DITUTUP</a:t>
            </a:r>
            <a:endParaRPr lang="en-US" sz="650" dirty="0"/>
          </a:p>
        </p:txBody>
      </p:sp>
      <p:sp>
        <p:nvSpPr>
          <p:cNvPr id="109" name="Text 107"/>
          <p:cNvSpPr txBox="1"/>
          <p:nvPr/>
        </p:nvSpPr>
        <p:spPr>
          <a:xfrm>
            <a:off x="795528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realistis: Mockup → Produk (18 bulan)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286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Sekarang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3–4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" y="2377440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720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mode deteksi aktif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(rules engine)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3182112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5720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 · Repeat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Unbundling · Cloning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986784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5720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demo lokal siap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23160" y="1234440"/>
            <a:ext cx="20116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24231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1–3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74320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4–5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32888" y="237744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65176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 &amp; Inflated Bills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(Tahap 2, data DJSN)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32888" y="3182112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265176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wawancara casemix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officer → validasi UX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3986784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265176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faskes: Letter of Intent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17720" y="123444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461772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4–9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9377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5–6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727448" y="237744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84632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1 RS pilot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(data klaim riil)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27448" y="318211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484632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CSV dari SIM 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Risk Signal Card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27448" y="398678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484632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Ukur precision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rejection before/after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812280" y="1234440"/>
            <a:ext cx="2011680" cy="6858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681228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3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10–18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Prototipe ke Pasar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713232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1228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922008" y="2377440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704088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faskes pembayar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(SaaS subscription)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22008" y="3182112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704088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1 vendor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22008" y="3986784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704088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funding: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1–3 miliar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Mengapa TilikKlaim dapat dieksekusi?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TIM MINIMAL (Fase 1)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Backend Engineer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FastAPI, PostgreSQL, rules engine — Full-time 3 bln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Frontend / UX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user testing casemix officer — Part-time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Domain Expert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 / rekam medis — Advisory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4389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80560" y="1234440"/>
            <a:ext cx="43891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6344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INFRASTRUKTUR &amp; BIAYA (Fase 1)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7190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Cloud VPS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500 rb–1 juta/bulan (Docker, bukan enterprise)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Database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self-hosted — data tidak ke third-party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907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Total burn rate 3 bln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150–300 juta (termasuk tim)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49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Mengapa layak dieksekusi: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Tidak butuh data BPJS untuk mulai — DJSN + sintetik cukup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Tidak butuh integrasi SIM RS untuk pilot — upload CSV sudah cukup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Stack 100% open-source — zero licensing cost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Tidak perlu izin Kemenkes untuk prototype — analitik statistik, bukan alat klinis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Nilai TilikKlaim untuk Satu Rumah Sakit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49640" cy="502920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Asumsi simulasi (perlu divalidasi di pilot): RS tipe C · 500 klaim RITL/bulan · Rejection rate saat ini 6% · Nilai rata-rata klaim RITL Rp 4.747.547 (DJSN 2018) · Penurunan rejection: 40% (konservatif)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" y="1874520"/>
            <a:ext cx="4114800" cy="38404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TANPA TilikKlaim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ditolak/bulan: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59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× 6% = 30 klaim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terhambat/bulan: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834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142.426.410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Proses keberatan: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30–90 hari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856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flow: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85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Terganggu setiap bulan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74520"/>
            <a:ext cx="4251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0" y="1874520"/>
            <a:ext cx="4251960" cy="38404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754880" y="1874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DENGAN TilikKlaim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359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Rejection berkurang 40%: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klaim terselamatkan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terselamatkan/bulan: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56.970.564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310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TilikKlaim: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3.000.000/bulan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785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benefit/bulan: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7856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53.970.564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07408"/>
            <a:ext cx="8549640" cy="530352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57200" y="4407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  19×*  per bulan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440740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56,9 juta diselamatkan vs Rp 3 juta biaya subscription   ·   Payback period &lt; 2 minggu pertama   ·   *Proyeksi ilustratif, belum divalidasi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Dampak Nasional: 500 Faskes × TilikKlaim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324 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Efisiensi/tahun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seluruh ekosistem faskes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faskes × Rp 54 juta net benefit/bulan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01568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1,04 T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Potensi efisiensi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JKN/tahun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dari 3% anomali klaim Rp 172,59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(asumsi ilustratif — belum divalidasi)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45936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20×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rata-rata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faskes berlangganan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terselamatkan vs biaya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berdasarkan simulasi RS tipe 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8549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572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Dampak Non-Finansial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Casemix Officer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500 klaim manual/bulan → fokus pada ~30 klaim berisiko tinggi. Berkurang: overtime, stres, human error.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Faskes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internal terdokumentasi → bukti due diligence jika ada sengketa BPJS. Cash flow lebih prediktabel.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■️ BPJS / JKN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pertama ada di sumber klaim. Beban verifikasi BPJS berkurang. Data yang masuk lebih berkualitas.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49640" cy="347472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11480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Semua proyeksi berbasis asumsi transparan —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akan divalidasi di pilot Fase 1–2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264408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264408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117336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117336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50017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B8  ·  RISIKO, PRIVASI &amp; ETIKA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 yang Sadar Risikonya Sendiri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65760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False Positive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(Alert Fatigue)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468880" cy="9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1148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Terlalu banyak sinyal → casemix officer mengabaikan semua flag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Threshold dikalibrasi per faskes (bukan global)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Precision &gt; Recall di fase awal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Feedback loop: disposisi → perbaiki model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Target: &lt; 15% klaim diflag di awal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18688" y="1234440"/>
            <a:ext cx="27432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310128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Data Privasi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UU PDP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1709928"/>
            <a:ext cx="2468880" cy="9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35584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Data klaim pasien terekspos ke pihak ketiga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Arsitektur on-premise / private cloud faskes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 TIDAK meninggalkan infrastruktur faskes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Pseudonimisasi ID pasien dalam log audit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Compliance: UU PDP No. 27/2022 by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63056" y="1234440"/>
            <a:ext cx="2743200" cy="4754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254496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 Liability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Akuntabilitas Hukum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0216" y="1709928"/>
            <a:ext cx="2468880" cy="91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300216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Jika sinyal "aman" tapi klaim ditolak — siapa bertanggung jawab?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TilikKlaim = alat bantu, BUKAN penjamin klaim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ToS eksplisit: keputusan final ada pada casemix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 trail immutable: setiap disposisi tercatat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00216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Human-in-the-loop wajib — tidak ada auto-approve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8549640" cy="621792"/>
          </a:xfrm>
          <a:prstGeom prst="rect">
            <a:avLst/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5720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PRIVACY BY DESIGN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tetap di faskes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transfer tanpa consent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1012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◎  HUMAN-IN-THE-LOOP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31012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melaporkan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Manusia memutuskan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AUDIT TRAIL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keputusan tercatat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dapat dihapus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40"/>
          </a:solidFill>
          <a:ln w="12700">
            <a:solidFill>
              <a:srgbClr val="0A1E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B9  ·  PROFIL &amp; PENGALAMAN TIM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 TilikKlaim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25880" y="1481328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Luthfi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KETUA TIM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Mahasiswa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Lead &amp; Domain Research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Domain JKN &amp; Casemix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Riset &amp; Validasi Klaim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Koordinasi Tim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60520" y="1481328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16052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Fahri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4904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1A3A6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74904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ANGGOTA TIM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Karyawan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· API · AI Architecture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Backend Engineering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REST API &amp; 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/ Rules Architecture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Database &amp; DevOps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995160" y="1481328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99516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1A3A6B"/>
          </a:solidFill>
          <a:ln w="12700">
            <a:solidFill>
              <a:srgbClr val="00897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58368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ANGGOTA TIM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Karyawan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· UI/UX Design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Frontend Development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UI / UX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React &amp; Component Library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User Research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 github.com/fahriialfiansyah/tilik-klaim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2026-09-11T09:19:37Z</dcterms:created>
  <dcterms:modified xsi:type="dcterms:W3CDTF">2026-09-11T09:19:37Z</dcterms:modified>
</cp:coreProperties>
</file>