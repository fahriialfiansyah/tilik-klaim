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91" autoAdjust="0"/>
    <p:restoredTop sz="95975" autoAdjust="0"/>
  </p:normalViewPr>
  <p:slideViewPr>
    <p:cSldViewPr snapToGrid="0" snapToObjects="1">
      <p:cViewPr varScale="1">
        <p:scale>
          <a:sx n="134" d="100"/>
          <a:sy n="134" d="100"/>
        </p:scale>
        <p:origin x="125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Biaya RITL per Admisi (Rp juta)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89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DBC-4FED-96FE-19161FA4BE3F}"/>
              </c:ext>
            </c:extLst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DBC-4FED-96FE-19161FA4BE3F}"/>
              </c:ext>
            </c:extLst>
          </c:dPt>
          <c:dPt>
            <c:idx val="2"/>
            <c:invertIfNegative val="0"/>
            <c:bubble3D val="0"/>
            <c:spPr>
              <a:solidFill>
                <a:srgbClr val="D32F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DBC-4FED-96FE-19161FA4BE3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Papua Barat</c:v>
                </c:pt>
                <c:pt idx="1">
                  <c:v>Rata-rata Nas.</c:v>
                </c:pt>
                <c:pt idx="2">
                  <c:v>DKI Jakarta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3.32</c:v>
                </c:pt>
                <c:pt idx="1">
                  <c:v>4.75</c:v>
                </c:pt>
                <c:pt idx="2">
                  <c:v>7.82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DBC-4FED-96FE-19161FA4BE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b"/>
        <c:majorGridlines>
          <c:spPr>
            <a:ln w="1270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2704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4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TilikKlaim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1148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83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Pre-Submission Claim Integrity System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untuk Fasilitas Kesehatan JKN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8229600" cy="18288"/>
          </a:xfrm>
          <a:prstGeom prst="rect">
            <a:avLst/>
          </a:prstGeom>
          <a:solidFill>
            <a:srgbClr val="2D5F8A"/>
          </a:solidFill>
          <a:ln w="12700">
            <a:solidFill>
              <a:srgbClr val="2D5F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Healthkathon 2026  ·  BPJS Kesehatan × Asosiasi Health Tech Indonesia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4389120" cy="384048"/>
          </a:xfrm>
          <a:prstGeom prst="roundRect">
            <a:avLst>
              <a:gd name="adj" fmla="val 14286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2461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Kategori 2 — Efisiensi Risiko pada Fasilitas Kesehatan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9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github.com/fahriialfiansyah/tilik-klaim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B1  ·  IDENTITAS &amp; POSITIONING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20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Apa </a:t>
            </a:r>
            <a:r>
              <a:rPr lang="en-US" sz="2800" b="1" dirty="0" err="1">
                <a:solidFill>
                  <a:srgbClr val="0020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itu</a:t>
            </a:r>
            <a:r>
              <a:rPr lang="en-US" sz="2800" b="1" dirty="0">
                <a:solidFill>
                  <a:srgbClr val="0020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TilikKlaim</a:t>
            </a:r>
            <a:r>
              <a:rPr lang="en-US" sz="2800" b="1" dirty="0">
                <a:solidFill>
                  <a:srgbClr val="0020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dan apa yang kami cakup?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023360" cy="3566160"/>
          </a:xfrm>
          <a:prstGeom prst="rect">
            <a:avLst/>
          </a:prstGeom>
          <a:solidFill>
            <a:srgbClr val="E8EAF6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0292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TENTANG TILIK KLAIM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75564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3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integrity layer</a:t>
            </a: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yang bekerja di </a:t>
            </a:r>
            <a:r>
              <a:rPr lang="en-US" sz="130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sisi</a:t>
            </a: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fasilitas</a:t>
            </a: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kesehatan</a:t>
            </a: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sebelum</a:t>
            </a: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klaim dikirim ke BPJS, bukan setelah ditolak.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633472"/>
            <a:ext cx="35661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7249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🔍  Sistem melaporkan SINYAL RISIKO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1638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👤  Manusia yang memutuskan. Selalu.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6027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🔒  Data tetap di infrastruktur faskes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0416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  Setiap keputusan tercatat &amp; auditable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1234440"/>
            <a:ext cx="43891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6634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CAKUPAN (8 dari 20 sub-kategori resmi BPJS)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17556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 Phantom billing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0482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 Repeat billing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3408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 Inflated bills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633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 Manipulasi kelas perawatan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29260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 Upcoding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32186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 Services unbundling / fragmentation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35112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 Cloning (penjiplakan klaim)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38039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 Pemecahan episode (parsial)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4114800"/>
            <a:ext cx="40233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416966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  Rujukan, Prolonged Stay, Obat/Alkes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→ di luar scope dengan justifikasi teknis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  ·  MASALAH &amp; URGENSI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90025"/>
            <a:ext cx="8458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 err="1">
                <a:solidFill>
                  <a:srgbClr val="0020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Jaminan</a:t>
            </a:r>
            <a:r>
              <a:rPr lang="en-US" sz="28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Kesehatan Nasional</a:t>
            </a:r>
          </a:p>
          <a:p>
            <a:pPr marL="0" indent="0" algn="ctr">
              <a:buNone/>
            </a:pPr>
            <a:r>
              <a:rPr lang="en-US" sz="28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Program terbesar di dunia, </a:t>
            </a:r>
            <a:r>
              <a:rPr lang="en-US" sz="2800" b="1" dirty="0" err="1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beban</a:t>
            </a:r>
            <a:r>
              <a:rPr lang="en-US" sz="28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r>
              <a:rPr lang="en-US" sz="2800" b="1" dirty="0" err="1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tidak</a:t>
            </a:r>
            <a:r>
              <a:rPr lang="en-US" sz="28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r>
              <a:rPr lang="en-US" sz="2800" b="1" dirty="0" err="1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terlihat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565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283 Juta+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Peserta JKN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(terbesar di dunia)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41732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2316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Rp 172,59 T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biaya klaim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pada </a:t>
            </a:r>
            <a:r>
              <a:rPr lang="en-US" sz="100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tahun</a:t>
            </a: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2023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26280" y="141732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2628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32F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108,04%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Rasio </a:t>
            </a:r>
            <a:r>
              <a:rPr lang="en-US" sz="100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klaim</a:t>
            </a: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senilai</a:t>
            </a: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dengan</a:t>
            </a: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Rp108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keluar per Rp100 masuk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29400" y="141732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897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664 Juta+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Kunjungan</a:t>
            </a: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/>
              <a:t>Fasilitas</a:t>
            </a:r>
            <a:r>
              <a:rPr lang="en-US" sz="1000" dirty="0"/>
              <a:t> Kesehatan </a:t>
            </a:r>
            <a:r>
              <a:rPr lang="en-US" sz="1000" dirty="0" err="1"/>
              <a:t>Rujukan</a:t>
            </a:r>
            <a:r>
              <a:rPr lang="en-US" sz="1000" dirty="0"/>
              <a:t> Tingkat </a:t>
            </a:r>
            <a:r>
              <a:rPr lang="en-US" sz="1000" dirty="0" err="1"/>
              <a:t>Lanjut</a:t>
            </a:r>
            <a:r>
              <a:rPr lang="en-US" sz="1000" dirty="0"/>
              <a:t> (</a:t>
            </a: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FKRTL)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pada </a:t>
            </a:r>
            <a:r>
              <a:rPr lang="en-US" sz="100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Tahun</a:t>
            </a: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2023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26280" y="2788920"/>
            <a:ext cx="1920240" cy="36576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926080"/>
            <a:ext cx="8503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2F2F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02920" y="3063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0175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Rasio </a:t>
            </a:r>
            <a:r>
              <a:rPr lang="en-US" sz="120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klaim</a:t>
            </a: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senilai</a:t>
            </a: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108% berarti setiap rupiah iuran yang masuk tidak cukup menutup klaim yang </a:t>
            </a:r>
            <a:r>
              <a:rPr lang="en-US" sz="120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dibayarkan</a:t>
            </a: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terhadap</a:t>
            </a: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 anomali yang tidak terdeteksi sebelum pengiriman memperburuk ketidakseimbangan ini secara sistemik.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Sumber: DJSN 2023 | data.bpjs-kesehatan.go.id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  ·  MASALAH &amp; URGENSI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5029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 err="1">
                <a:solidFill>
                  <a:srgbClr val="002060"/>
                </a:solidFill>
                <a:latin typeface="+mj-lt"/>
              </a:rPr>
              <a:t>Biaya</a:t>
            </a:r>
            <a:r>
              <a:rPr lang="en-US" sz="2800" b="1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+mj-lt"/>
              </a:rPr>
              <a:t>klaim</a:t>
            </a:r>
            <a:r>
              <a:rPr lang="en-US" sz="2800" b="1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+mj-lt"/>
              </a:rPr>
              <a:t>bervariasi</a:t>
            </a:r>
            <a:r>
              <a:rPr lang="en-US" sz="2800" b="1" dirty="0">
                <a:solidFill>
                  <a:srgbClr val="002060"/>
                </a:solidFill>
                <a:latin typeface="+mj-lt"/>
              </a:rPr>
              <a:t> </a:t>
            </a:r>
            <a:r>
              <a:rPr lang="en-US" sz="2800" b="1" dirty="0" err="1">
                <a:solidFill>
                  <a:srgbClr val="002060"/>
                </a:solidFill>
                <a:latin typeface="+mj-lt"/>
              </a:rPr>
              <a:t>tanpa</a:t>
            </a:r>
            <a:r>
              <a:rPr lang="en-US" sz="2800" b="1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+mj-lt"/>
              </a:rPr>
              <a:t>dasar</a:t>
            </a:r>
            <a:r>
              <a:rPr lang="en-US" sz="2800" b="1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+mj-lt"/>
              </a:rPr>
              <a:t>klinis</a:t>
            </a:r>
            <a:endParaRPr lang="en-US" sz="2800" dirty="0">
              <a:solidFill>
                <a:srgbClr val="002060"/>
              </a:solidFill>
              <a:latin typeface="+mj-lt"/>
            </a:endParaRPr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234440"/>
          <a:ext cx="47548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212080" y="1234440"/>
            <a:ext cx="3657600" cy="320040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39496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32F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2,35×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18562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Rasio tertinggi vs terendah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20939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DKI Jakarta vs Papua Barat (RITL 2018)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394960" y="2350008"/>
            <a:ext cx="329184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394960" y="2423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+51,6%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5394960" y="28620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Kelas 1 vs Kelas 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30998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Sinyal upcoding kelas perawatan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94960" y="3355848"/>
            <a:ext cx="329184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9496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65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+18,7%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38679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Sulawesi Utara (RJTL)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94960" y="41056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Lonjakan dalam 2 tahun (2015–2017)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7432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Sumber: Tabel 6.3.3 DJSN 2018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  ·  MASALAH &amp; URGENSI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496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 err="1">
                <a:solidFill>
                  <a:srgbClr val="002060"/>
                </a:solidFill>
                <a:latin typeface="+mj-lt"/>
              </a:rPr>
              <a:t>Klaim</a:t>
            </a:r>
            <a:r>
              <a:rPr lang="en-US" sz="2800" b="1" dirty="0">
                <a:solidFill>
                  <a:srgbClr val="002060"/>
                </a:solidFill>
                <a:latin typeface="+mj-lt"/>
              </a:rPr>
              <a:t> BPJS </a:t>
            </a:r>
            <a:r>
              <a:rPr lang="en-US" sz="2800" b="1" dirty="0" err="1">
                <a:solidFill>
                  <a:srgbClr val="002060"/>
                </a:solidFill>
                <a:latin typeface="+mj-lt"/>
              </a:rPr>
              <a:t>tanpa</a:t>
            </a:r>
            <a:r>
              <a:rPr lang="en-US" sz="2800" b="1" dirty="0">
                <a:solidFill>
                  <a:srgbClr val="002060"/>
                </a:solidFill>
                <a:latin typeface="+mj-lt"/>
              </a:rPr>
              <a:t> </a:t>
            </a:r>
            <a:r>
              <a:rPr lang="en-US" sz="2800" b="1" dirty="0" err="1">
                <a:solidFill>
                  <a:srgbClr val="002060"/>
                </a:solidFill>
                <a:latin typeface="+mj-lt"/>
              </a:rPr>
              <a:t>validasi</a:t>
            </a:r>
            <a:r>
              <a:rPr lang="en-US" sz="2800" b="1" dirty="0">
                <a:solidFill>
                  <a:srgbClr val="002060"/>
                </a:solidFill>
                <a:latin typeface="+mj-lt"/>
              </a:rPr>
              <a:t> internal </a:t>
            </a:r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320" y="1371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Layanan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diberikan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37360" y="1719072"/>
            <a:ext cx="228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37160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11680" y="1371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Klaim dibuat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 SIM 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1719072"/>
            <a:ext cx="228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137160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49040" y="1371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 BPJS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12080" y="1719072"/>
            <a:ext cx="228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137160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0" y="1371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Verifikasi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BPJS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1719072"/>
            <a:ext cx="228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137160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1371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Bayar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Tolak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0" y="1353312"/>
            <a:ext cx="502920" cy="813816"/>
          </a:xfrm>
          <a:prstGeom prst="rect">
            <a:avLst/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0" y="1353312"/>
            <a:ext cx="5029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66360" y="2148840"/>
            <a:ext cx="54864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74920" y="2395728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2423160"/>
            <a:ext cx="85496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57200" y="2578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Mengapa ini masalah?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29260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  Casemix officer bekerja manual — tidak ada sistem deteksi anomali terstruktur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35584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  Duplikasi klaim antar periode tidak terpantau secara sistemik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78561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  Biaya yang menyimpang dari norma wilayah/kelas lolos tanpa peringatan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21538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  Penolakan klaim baru diketahui SETELAH submit — proses keberatan 30–90 hari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B3  ·  SOLUSI &amp; KEUNGGULAN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12064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d-ID" sz="2800" b="1" noProof="0" dirty="0" err="1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TilikKlaim</a:t>
            </a:r>
            <a:r>
              <a:rPr lang="id-ID" sz="2800" b="1" noProof="0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: </a:t>
            </a:r>
            <a:r>
              <a:rPr lang="id-ID" sz="2800" b="1" noProof="0" dirty="0" err="1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Quality</a:t>
            </a:r>
            <a:r>
              <a:rPr lang="id-ID" sz="2800" b="1" noProof="0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r>
              <a:rPr lang="id-ID" sz="2800" b="1" noProof="0" dirty="0" err="1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Gate</a:t>
            </a:r>
            <a:r>
              <a:rPr lang="id-ID" sz="2800" b="1" noProof="0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internal sebelum </a:t>
            </a:r>
            <a:r>
              <a:rPr lang="id-ID" sz="2800" b="1" noProof="0" dirty="0" err="1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submit</a:t>
            </a:r>
            <a:endParaRPr lang="id-ID" sz="28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1234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KONDISI SAAT INI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Klaim dibuat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50876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23160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 ke BPJS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50876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Ditolak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20840" y="150876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0840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Keberatan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" y="22128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DENGAN TILIK KLAIM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487168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4320" y="248716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Klaim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dibuat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11680" y="2487168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011680" y="248716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TilikKlaim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749040" y="2487168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49040" y="248716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Signal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0" y="2487168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0" y="248716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Casemix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223760" y="2487168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223760" y="248716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bersih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11680" y="3081528"/>
            <a:ext cx="18288" cy="320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103120" y="308152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Mode: Phantom · Repeat · Inflated Bills · Upcoding · Unbundling · Cloning · Kelas Perawatan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520440"/>
            <a:ext cx="2743200" cy="123444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371475" y="3694938"/>
            <a:ext cx="3543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828675" y="3750564"/>
            <a:ext cx="2082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SINYAL, BUKAN TUDUHAN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371475" y="40050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</a:t>
            </a: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melaporkan</a:t>
            </a: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00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manusia</a:t>
            </a: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memutuskan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0" y="3520440"/>
            <a:ext cx="2743200" cy="123444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3297555" y="3653790"/>
            <a:ext cx="3543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3754755" y="3749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TETAP DI FASKES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3297555" y="40050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Tidak ada data keluar ke server eksternal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26480" y="3520440"/>
            <a:ext cx="2743200" cy="123444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6223635" y="3661410"/>
            <a:ext cx="3543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6680835" y="374523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SETIAP LANGKAH TERCATAT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223635" y="40050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trail immutable untuk setiap disposisi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 / 20</a:t>
            </a:r>
            <a:endParaRPr lang="en-US" sz="900" dirty="0"/>
          </a:p>
        </p:txBody>
      </p:sp>
      <p:sp>
        <p:nvSpPr>
          <p:cNvPr id="47" name="Arrow: Chevron 46">
            <a:extLst>
              <a:ext uri="{FF2B5EF4-FFF2-40B4-BE49-F238E27FC236}">
                <a16:creationId xmlns:a16="http://schemas.microsoft.com/office/drawing/2014/main" id="{FAD648C4-81FD-D71F-47BF-F92FDE8DD482}"/>
              </a:ext>
            </a:extLst>
          </p:cNvPr>
          <p:cNvSpPr/>
          <p:nvPr/>
        </p:nvSpPr>
        <p:spPr>
          <a:xfrm>
            <a:off x="2090811" y="1693545"/>
            <a:ext cx="298938" cy="98678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DDC1519F-84BB-EDB4-B7E4-77F75953FCBC}"/>
              </a:ext>
            </a:extLst>
          </p:cNvPr>
          <p:cNvSpPr/>
          <p:nvPr/>
        </p:nvSpPr>
        <p:spPr>
          <a:xfrm>
            <a:off x="1778508" y="2731389"/>
            <a:ext cx="191262" cy="952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Arrow: Chevron 48">
            <a:extLst>
              <a:ext uri="{FF2B5EF4-FFF2-40B4-BE49-F238E27FC236}">
                <a16:creationId xmlns:a16="http://schemas.microsoft.com/office/drawing/2014/main" id="{D67BD44B-6621-3EB0-2D47-CBD77224F2E3}"/>
              </a:ext>
            </a:extLst>
          </p:cNvPr>
          <p:cNvSpPr/>
          <p:nvPr/>
        </p:nvSpPr>
        <p:spPr>
          <a:xfrm>
            <a:off x="4237746" y="1693545"/>
            <a:ext cx="298938" cy="98678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Arrow: Chevron 49">
            <a:extLst>
              <a:ext uri="{FF2B5EF4-FFF2-40B4-BE49-F238E27FC236}">
                <a16:creationId xmlns:a16="http://schemas.microsoft.com/office/drawing/2014/main" id="{33BA5E45-316E-4B43-EC7A-C8913E9F75A0}"/>
              </a:ext>
            </a:extLst>
          </p:cNvPr>
          <p:cNvSpPr/>
          <p:nvPr/>
        </p:nvSpPr>
        <p:spPr>
          <a:xfrm>
            <a:off x="6387978" y="1693545"/>
            <a:ext cx="298938" cy="98678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0DABA09-355F-D897-3AAE-962FDE30A636}"/>
              </a:ext>
            </a:extLst>
          </p:cNvPr>
          <p:cNvSpPr/>
          <p:nvPr/>
        </p:nvSpPr>
        <p:spPr>
          <a:xfrm>
            <a:off x="3519678" y="2731389"/>
            <a:ext cx="191262" cy="952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3DF6B79-D93C-19BC-982B-9934AC0E6FAD}"/>
              </a:ext>
            </a:extLst>
          </p:cNvPr>
          <p:cNvSpPr/>
          <p:nvPr/>
        </p:nvSpPr>
        <p:spPr>
          <a:xfrm>
            <a:off x="5261229" y="2731389"/>
            <a:ext cx="191262" cy="952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0B3B02D9-D75E-2609-BFA3-2290A4C61B87}"/>
              </a:ext>
            </a:extLst>
          </p:cNvPr>
          <p:cNvSpPr/>
          <p:nvPr/>
        </p:nvSpPr>
        <p:spPr>
          <a:xfrm>
            <a:off x="6998589" y="2731389"/>
            <a:ext cx="191262" cy="952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B3  ·  SOLUSI &amp; KEUNGGULAN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49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Output: Apa yang dilihat Casemix Officer?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5029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5029200" cy="475488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344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  RISK SIGNAL CARD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12344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Klaim #INV-2024-087341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709928"/>
            <a:ext cx="50292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17099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Pasien: [ID Anonim]   ·   Faskes: RS X   ·   Tgl: 12 Mar 2024   ·   Kelas: 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057400"/>
            <a:ext cx="5029200" cy="274320"/>
          </a:xfrm>
          <a:prstGeom prst="rect">
            <a:avLst/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" y="2057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   SINYAL TERDETEKSI — INFLATED BILLS     Risiko: TINGGI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" y="2423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Biaya klaim diajukan: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 9.200.000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" y="27249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Ekspektasi (Prov×Kelas×Usia):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724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 4.750.000 ± Rp 1.200.000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30266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Deviasi dari mean + 2σ: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026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+53%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" y="33284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Sumber referensi: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33284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DJSN 2018 — Tabel 6.3.3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639312"/>
            <a:ext cx="50292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1480" y="3685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DISPOSISI (wajib pilih + isi alasan):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393192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1480" y="39319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Setuju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11680" y="393192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011680" y="39319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🔍 Investigasi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11880" y="393192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611880" y="39319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⬆ Eskalasi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0" y="1234440"/>
            <a:ext cx="3337560" cy="3611880"/>
          </a:xfrm>
          <a:prstGeom prst="rect">
            <a:avLst/>
          </a:prstGeom>
          <a:solidFill>
            <a:srgbClr val="E8EAF6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566928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 AUDIT TRAIL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0" y="1783080"/>
            <a:ext cx="29260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760720" y="1828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2024-03-12 14:32:01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Sistem: INFLATED_BILLS_FLAG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Score: 0.89 | Threshold: 0.70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0" y="2788920"/>
            <a:ext cx="29260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760720" y="2834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2024-03-12 14:45:22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Casemix: dr. Sari W.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Disposisi: INVESTIGASI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Alasan: "Klaim pasca-operasi major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perlu verifikasi berkas"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0" y="3794760"/>
            <a:ext cx="29260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760720" y="38404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2024-03-12 15:20:09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Komite: Disetujui dengan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 koreksi Rp 7.100.000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36576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Setiap entri immutable — tidak dapat diedit atau dihapus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B3  ·  SOLUSI &amp; KEUNGGULAN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9728" y="502920"/>
            <a:ext cx="8942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TilikKlaim vs alternatif yang sudah ada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" y="1188720"/>
            <a:ext cx="2103120" cy="475488"/>
          </a:xfrm>
          <a:prstGeom prst="rect">
            <a:avLst/>
          </a:prstGeom>
          <a:solidFill>
            <a:srgbClr val="0C246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64592" y="11887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Uji Parameter</a:t>
            </a:r>
          </a:p>
        </p:txBody>
      </p:sp>
      <p:sp>
        <p:nvSpPr>
          <p:cNvPr id="7" name="Shape 5"/>
          <p:cNvSpPr/>
          <p:nvPr/>
        </p:nvSpPr>
        <p:spPr>
          <a:xfrm>
            <a:off x="2240280" y="1188720"/>
            <a:ext cx="1554480" cy="475488"/>
          </a:xfrm>
          <a:prstGeom prst="rect">
            <a:avLst/>
          </a:prstGeom>
          <a:solidFill>
            <a:srgbClr val="0C246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13432" y="11887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BPJS</a:t>
            </a: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(Post-submit)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0" y="1188720"/>
            <a:ext cx="1554480" cy="475488"/>
          </a:xfrm>
          <a:prstGeom prst="rect">
            <a:avLst/>
          </a:prstGeom>
          <a:solidFill>
            <a:srgbClr val="0C246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13632" y="11887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</a:t>
            </a:r>
            <a:r>
              <a:rPr lang="en-US" sz="1000" dirty="0"/>
              <a:t> </a:t>
            </a:r>
            <a:r>
              <a:rPr lang="en-US" sz="1000" b="1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Casemix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40680" y="1188720"/>
            <a:ext cx="1554480" cy="475488"/>
          </a:xfrm>
          <a:prstGeom prst="rect">
            <a:avLst/>
          </a:prstGeom>
          <a:solidFill>
            <a:srgbClr val="0C246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13832" y="11887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Black-box</a:t>
            </a:r>
            <a:r>
              <a:rPr lang="en-US" sz="1000" dirty="0"/>
              <a:t> </a:t>
            </a: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0" y="1188720"/>
            <a:ext cx="2011680" cy="475488"/>
          </a:xfrm>
          <a:prstGeom prst="rect">
            <a:avLst/>
          </a:prstGeom>
          <a:solidFill>
            <a:srgbClr val="0C246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14032" y="11887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TilikKlaim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" y="1664208"/>
            <a:ext cx="210312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4592" y="166420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40280" y="166420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13432" y="16642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Setelah submit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0" y="166420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13632" y="16642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Sebelum (manual)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40680" y="166420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13832" y="16642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Variatif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40880" y="1664208"/>
            <a:ext cx="2011680" cy="475488"/>
          </a:xfrm>
          <a:prstGeom prst="rect">
            <a:avLst/>
          </a:prstGeom>
          <a:solidFill>
            <a:srgbClr val="E0F2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14032" y="166420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Sebelum — terstruktur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440" y="2139696"/>
            <a:ext cx="210312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64592" y="213969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40280" y="2139696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313432" y="213969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40480" y="2139696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913632" y="213969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2139696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513832" y="213969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40880" y="2139696"/>
            <a:ext cx="2011680" cy="475488"/>
          </a:xfrm>
          <a:prstGeom prst="rect">
            <a:avLst/>
          </a:prstGeom>
          <a:solidFill>
            <a:srgbClr val="E0F2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14032" y="213969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Deterministik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1440" y="2615184"/>
            <a:ext cx="210312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64592" y="26151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Skalabilitas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40280" y="2615184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313432" y="261518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840480" y="2615184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913632" y="261518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40680" y="2615184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513832" y="261518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040880" y="2615184"/>
            <a:ext cx="2011680" cy="475488"/>
          </a:xfrm>
          <a:prstGeom prst="rect">
            <a:avLst/>
          </a:prstGeom>
          <a:solidFill>
            <a:srgbClr val="E0F2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114032" y="261518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Sistemik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1440" y="3090672"/>
            <a:ext cx="210312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64592" y="30906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Data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240280" y="3090672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313432" y="30906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ke BPJS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840480" y="3090672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913632" y="30906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440680" y="3090672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513832" y="30906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Sering ke cloud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040880" y="3090672"/>
            <a:ext cx="2011680" cy="475488"/>
          </a:xfrm>
          <a:prstGeom prst="rect">
            <a:avLst/>
          </a:prstGeom>
          <a:solidFill>
            <a:srgbClr val="E0F2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114032" y="309067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Data di faskes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1440" y="3566160"/>
            <a:ext cx="210312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64592" y="35661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240280" y="3566160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313432" y="35661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BPJS yang punya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840480" y="3566160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913632" y="35661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Tidak ada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440680" y="3566160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513832" y="35661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Tidak ada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040880" y="3566160"/>
            <a:ext cx="2011680" cy="475488"/>
          </a:xfrm>
          <a:prstGeom prst="rect">
            <a:avLst/>
          </a:prstGeom>
          <a:solidFill>
            <a:srgbClr val="E0F2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114032" y="35661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Milik faskes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91440" y="4041648"/>
            <a:ext cx="210312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64592" y="40416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Liability Jelas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240280" y="404164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2313432" y="40416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840480" y="404164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3913632" y="40416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440680" y="404164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5513832" y="40416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7040880" y="4041648"/>
            <a:ext cx="2011680" cy="475488"/>
          </a:xfrm>
          <a:prstGeom prst="rect">
            <a:avLst/>
          </a:prstGeom>
          <a:solidFill>
            <a:srgbClr val="E0F2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7114032" y="404164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Human-in-loop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91440" y="4572000"/>
            <a:ext cx="8686800" cy="411480"/>
          </a:xfrm>
          <a:prstGeom prst="rect">
            <a:avLst/>
          </a:prstGeom>
          <a:solidFill>
            <a:srgbClr val="EEF4FF"/>
          </a:solidFill>
          <a:ln w="12700">
            <a:solidFill>
              <a:srgbClr val="1565C0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76" name="Text 74"/>
          <p:cNvSpPr txBox="1"/>
          <p:nvPr/>
        </p:nvSpPr>
        <p:spPr>
          <a:xfrm>
            <a:off x="91439" y="4572000"/>
            <a:ext cx="86867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TilikKlaim adalah satu-satunya solusi yang bekerja di titik paling </a:t>
            </a:r>
            <a:r>
              <a:rPr lang="en-US" sz="1100" b="1" dirty="0" err="1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kritis</a:t>
            </a: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</a:p>
          <a:p>
            <a:pPr marL="0" indent="0" algn="ctr">
              <a:buNone/>
            </a:pPr>
            <a:r>
              <a:rPr lang="en-US" sz="1100" b="1" dirty="0" err="1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Sebelum</a:t>
            </a: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submit, dengan data yang dapat diaudit, dan liability chain yang jelas.</a:t>
            </a:r>
            <a:endParaRPr lang="en-US" sz="1100" dirty="0"/>
          </a:p>
        </p:txBody>
      </p:sp>
      <p:sp>
        <p:nvSpPr>
          <p:cNvPr id="77" name="Text 75"/>
          <p:cNvSpPr txBox="1"/>
          <p:nvPr/>
        </p:nvSpPr>
        <p:spPr>
          <a:xfrm>
            <a:off x="8549640" y="45720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20</a:t>
            </a:r>
            <a:endParaRPr lang="en-US" sz="8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4E1E5CC-F289-7520-EFBA-CA32721ED04C}"/>
              </a:ext>
            </a:extLst>
          </p:cNvPr>
          <p:cNvSpPr txBox="1"/>
          <p:nvPr/>
        </p:nvSpPr>
        <p:spPr>
          <a:xfrm>
            <a:off x="22860" y="136588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B4  ·  PENDEKATAN TEKNIS &amp; DATA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Arsitektur: 3-Layer Data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65176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32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INPUT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11480" y="17373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klaim dari SIM 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(CSV / API upload)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834640"/>
            <a:ext cx="237744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28803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Pasien pseudonim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Kode ICD-10, INA-CBGs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Tanggal layanan, Provinsi, Kelas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00400" y="1234440"/>
            <a:ext cx="2651760" cy="365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PROSES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160020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337560" y="17373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Engine Deterministik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(ADR-0002: No LLM)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2834640"/>
            <a:ext cx="237744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37560" y="28803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Cost Matrix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Duplikasi detector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Similarity scoring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Kode-biaya validator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126480" y="1234440"/>
            <a:ext cx="2651760" cy="36576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OUTPUT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160020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C2461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263640" y="17373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Signal Card per klaim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Queue prioritas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Disposition Form + alasan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Trail immutable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2834640"/>
            <a:ext cx="237744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74320" y="43159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Stack: FastAPI  ·  React  ·  PostgreSQL  ·  Docker Compose (demo lokal, tanpa dependensi eksternal)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645152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E8EAF6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4320" y="46451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🔒 Privacy by Design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50592" y="4645152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E8EAF6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450592" y="46451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Deterministik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26864" y="4645152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E8EAF6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26864" y="46451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👤 Human-in-the-loop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03136" y="4645152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E8EAF6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03136" y="46451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 Audit Trail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B4  ·  PENDEKATAN TEKNIS &amp; DATA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Strategi Data Dua Lapis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LAPIS 1 — Data Publik DJSN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6916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dataset dari data.bpjs-kesehatan.go.id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Agregat per Provinsi × Kelas × Usia (2014–2018)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042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 6.2.1 — RJTL per Hak Kelas Perawatan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609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 6.2.2 — RJTL per Usia &amp; Jenis Kelamin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 6.2.3 — RJTL per Provinsi (34 Prov.)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37413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 6.3.1 — RITL per Hak Kelas Perawatan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730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 6.3.2 — RITL per Usia &amp; Jenis Kelamin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087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 6.3.3 — RITL per Provinsi (34 Prov.)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4622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Digunakan sebagai Expected Cost Matrix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188720"/>
            <a:ext cx="4297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188720"/>
            <a:ext cx="429768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11887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LAPIS 2 — Data Sintetik Terkalibrasi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709160" y="1691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Synthea dikalibrasi ke distribusi DJSN Indonesia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(bukan distribusi generik Amerika Serikat)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2331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Clean (baseline)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709160" y="268833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🔴 Phantom billing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30449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🔴 Repeat billing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709160" y="34015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🔴 Unbundling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375818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🔴 Cloning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4160520"/>
            <a:ext cx="402336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09160" y="42245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Mengapa sintetik adalah KEUNGGULAN: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Reproducible · Auditable · Privacy by Design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B4  ·  PENDEKATAN TEKNIS &amp; DATA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 Sub-Kategori yang Dicakup — Metode Deteksi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2F2F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411480" cy="160020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" y="17830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👻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3898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Phantom &amp; Repeat Billing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7373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Deteksi duplikasi: ID pasien + kode tindakan + tanggal dalam window waktu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257860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578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sintetik Lapis 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280160"/>
            <a:ext cx="411480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17830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💰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13898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Inflated Bills &amp; Kelas Perawatan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17373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Cost Matrix: flag jika biaya &gt; mean + 2σ per Provinsi × Kelas × Usia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66360" y="257860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66360" y="2578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DJSN Lapis 1 (6 tabel)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0632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63240"/>
            <a:ext cx="411480" cy="1600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4320" y="35661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📝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31729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Upcoding &amp; Unbundling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35204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Inkonsistensi ICD-10 vs profil biaya INA-CBGs. Tindakan terpecah yang seharusnya 1 paket CBG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" y="436168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3616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sintetik Lapis 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0632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C2461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063240"/>
            <a:ext cx="411480" cy="160020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63440" y="35661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🔄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166360" y="31729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Cloning (Penjiplakan Klaim)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35204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Similarity scoring pada vektor fitur klaim antar pasien berbeda dalam periode dekat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66360" y="436168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66360" y="43616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sintetik Lapis 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645152"/>
            <a:ext cx="8549640" cy="384048"/>
          </a:xfrm>
          <a:prstGeom prst="rect">
            <a:avLst/>
          </a:prstGeom>
          <a:solidFill>
            <a:srgbClr val="FFF9E6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457200" y="4645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🏗️  ADR-0002: Tidak ada LLM di jalur keputusan risiko — Rules engine deterministik menghasilkan output identik untuk input yang sama. Wajib untuk akuntabilitas audit.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95528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B4  ·  PENDEKATAN TEKNIS &amp; DATA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Output Sistem · Asumsi Transparan · Kepatuhan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C2461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743200" cy="384048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234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📤 OUTPUT SISTEM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7190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Risk Signal Card per klaim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252374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Review Queue (prioritas risiko)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332841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Disposition Form + alasan wajib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413308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Audit Trail immutable per klaim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23444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234440"/>
            <a:ext cx="27432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91840" y="1234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 ASUMSI &amp; KETERBATASAN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17190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Baseline DJSN 2018 — perlu kalibrasi ulang dengan tarif INA-CBGs terkini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337560" y="252374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Sinyal adalah indikator, bukan bukti fraud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332841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Akurasi bergantung pada kelengkapan kode klaim dari SIM 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23444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234440"/>
            <a:ext cx="274320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1234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🔒 KEPATUHAN REGULASI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17190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UU PDP No. 27/2022: data tidak meninggalkan faskes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252374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Interoperabilitas HL7/FHIR: arsitektur API-first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332841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Human-in-the-loop: semua keputusan tetap pada manusia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413308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Siap integrasi Platform Satu Sehat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B5  ·  TINGKAT KEMATANGAN &amp; PROTOTYPE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Kami tidak mengklaim lebih dari yang ada. Justru itulah yang membuat kami kredibel.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77724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320" y="13716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TRL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190195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234440" y="1371600"/>
            <a:ext cx="77724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13716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TRL 2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90195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Konsep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94560" y="1371600"/>
            <a:ext cx="77724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94560" y="13716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TRL 3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190195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154680" y="1371600"/>
            <a:ext cx="77724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54680" y="13716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TRL 4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154680" y="190195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Validasi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0" y="1371600"/>
            <a:ext cx="777240" cy="5029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0" y="13716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TRL 5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190195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74920" y="1371600"/>
            <a:ext cx="777240" cy="5029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74920" y="13716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TRL 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074920" y="190195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035040" y="1371600"/>
            <a:ext cx="777240" cy="5029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35040" y="13716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TRL 7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190195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Proto-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995160" y="1371600"/>
            <a:ext cx="777240" cy="5029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95160" y="13716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TRL 8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995160" y="190195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955280" y="1371600"/>
            <a:ext cx="777240" cy="5029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955280" y="13716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TRL 9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7955280" y="190195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Produk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2286000" y="2395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◀ TilikKlaim saat ini (TRL 3–4)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2788920"/>
            <a:ext cx="2011680" cy="196596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365760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📁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" y="28529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Repositori Publik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11480" y="3337560"/>
            <a:ext cx="17830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+ React + PostgreSQL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Compose · Commit history aktif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450592" y="2788920"/>
            <a:ext cx="2011680" cy="196596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2542032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2999232" y="28529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Layer Siap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2587752" y="3337560"/>
            <a:ext cx="17830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tabel DJSN ter-load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Cost Matrix: logika selesai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skenario sintetik deterministik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26864" y="2788920"/>
            <a:ext cx="2011680" cy="196596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4718304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5175504" y="28529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ADR Terdokumentasi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4764024" y="3337560"/>
            <a:ext cx="17830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ADR-0002 tercatat: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Alasan tidak pakai LLM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 jalur keputusan risiko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03136" y="2788920"/>
            <a:ext cx="2011680" cy="196596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689457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47" name="Text 45"/>
          <p:cNvSpPr txBox="1"/>
          <p:nvPr/>
        </p:nvSpPr>
        <p:spPr>
          <a:xfrm>
            <a:off x="7351776" y="28529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Scaffold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940296" y="3337560"/>
            <a:ext cx="17830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React: struktur ada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Signal Card: wireframe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Queue: komponen dasar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795528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B5  ·  TINGKAT KEMATANGAN &amp; PROTOTYPE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Semua artefak dapat diverifikasi secara independen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74320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2344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📁  Repositori Publik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github.com/fahriialfiansyah/tilik-klaim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029968"/>
            <a:ext cx="246888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2103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Struktur: backend/ + frontend/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2761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docker-compose.yml siap jalankan lokal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" y="341985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README: panduan setup &lt; 10 menit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" y="407822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Commit history: progres aktif &amp; tertelusur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18688" y="123444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1234440"/>
            <a:ext cx="2743200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10128" y="12344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  Expected Cost Matrix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355848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Berbasis 6 Tabel DJSN 2018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55848" y="2029968"/>
            <a:ext cx="246888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55848" y="2103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Input: 34 Provinsi × 3 Kelas × 16 Kel. Usia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355848" y="2761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Output: threshold mean + 2σ per sel matriks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355848" y="341985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Contoh: DKI/Kelas 2/Usia 41–65 → flag jika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biaya &gt; Rp 9.500.000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355848" y="407822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5 skenario sintetik seed tetap → reproducible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63056" y="123444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63056" y="1234440"/>
            <a:ext cx="274320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54496" y="12344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🏗️  ADR-0002 Terdokumentasi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300216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Decision Record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0216" y="2029968"/>
            <a:ext cx="246888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00216" y="2103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"Tidak ada LLM di jalur keputusan risiko"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300216" y="2761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Alasan: akuntabilitas hukum butuh determinisme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300216" y="341985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Setiap flag reprodusibel oleh auditor independen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300216" y="407822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Bukan keterbatasan — ini standar akuntabilitas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B6  ·  RENCANA &amp; KELAYAKAN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Roadmap realistis: Mockup → Produk (18 bulan)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2011680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8600" y="1234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FASE 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28600" y="1581912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Sekarang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Healthkathon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938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TRL 3–4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2267712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" y="2377440"/>
            <a:ext cx="54864" cy="594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37744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Cost Matrix berjalan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(data DJSN)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" y="3182112"/>
            <a:ext cx="54864" cy="594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18211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skenario end-to-end: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Inflated Bills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" y="3986784"/>
            <a:ext cx="54864" cy="594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986784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demo lokal siap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141732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423160" y="1234440"/>
            <a:ext cx="201168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423160" y="1234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FASE 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423160" y="1581912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Bulan 1–3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of Concept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0" y="1938528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743200" y="1938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TRL 4–5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23160" y="2267712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32888" y="2377440"/>
            <a:ext cx="54864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51760" y="237744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mode deteksi aktif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(data sintetik)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32888" y="3182112"/>
            <a:ext cx="54864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651760" y="318211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wawancara casemix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officer → validasi UX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32888" y="3986784"/>
            <a:ext cx="54864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651760" y="3986784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faskes: Letter of Intent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434840" y="141732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617720" y="1234440"/>
            <a:ext cx="201168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17720" y="1234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FASE 2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617720" y="1581912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Bulan 4–9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0" y="1938528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937760" y="1938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TRL 5–6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17720" y="2267712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27448" y="2377440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46320" y="237744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1 RS pilot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(data klaim riil)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27448" y="3182112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46320" y="318211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CSV dari SIM 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Risk Signal Card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27448" y="3986784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46320" y="3986784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Ukur precision rate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rejection before/after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629400" y="141732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6812280" y="1234440"/>
            <a:ext cx="2011680" cy="68580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812280" y="1234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FASE 3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812280" y="1581912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Bulan 10–18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to Market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132320" y="1938528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132320" y="1938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TRL 7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12280" y="2267712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78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922008" y="2377440"/>
            <a:ext cx="54864" cy="59436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040880" y="237744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faskes pembayar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(SaaS subscription)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922008" y="3182112"/>
            <a:ext cx="54864" cy="59436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040880" y="318211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Integrasi 1 vendor SIM RS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922008" y="3986784"/>
            <a:ext cx="54864" cy="59436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040880" y="3986784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Seed funding: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 1–3 miliar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795528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B6  ·  RENCANA &amp; KELAYAKAN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Mengapa TilikKlaim dapat dieksekusi?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023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402336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34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👥 TIM MINIMAL (Fase 1)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719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👤 Backend Engineer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938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FastAPI, PostgreSQL, rules engine — Full-time 3 bln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313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👤 Frontend / UX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532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React, user testing casemix officer — Part-time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9077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👤 Domain Expert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Casemix / rekam medis — Advisory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1234440"/>
            <a:ext cx="43891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1234440"/>
            <a:ext cx="438912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12344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☁️ INFRASTRUKTUR &amp; BIAYA (Fase 1)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171907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Cloud VPS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19385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 500 rb–1 juta/bulan (Docker, bukan enterprise)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23134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Database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25328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self-hosted — data tidak ke third-party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290779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Total burn rate 3 bln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31272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 150–300 juta (termasuk tim)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703320"/>
            <a:ext cx="8549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5720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Mengapa layak dieksekusi: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0690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Tidak butuh data BPJS untuk mulai — DJSN + sintetik cukup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40690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Tidak butuh integrasi SIM RS untuk pilot — upload CSV sudah cukup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434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Stack 100% open-source — zero licensing cost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4434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Tidak perlu izin Kemenkes untuk prototype — analitik statistik, bukan alat klinis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95528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B7  ·  DAMPAK &amp; NILAI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Nilai TilikKlaim untuk Satu Rumah Sakit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49640" cy="502920"/>
          </a:xfrm>
          <a:prstGeom prst="rect">
            <a:avLst/>
          </a:prstGeom>
          <a:solidFill>
            <a:srgbClr val="FFF9E6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57200" y="1234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 Asumsi simulasi (perlu divalidasi di pilot): RS tipe C · 500 klaim RITL/bulan · Rejection rate saat ini 6% · Nilai rata-rata klaim RITL Rp 4.747.547 (DJSN 2018) · Penurunan rejection: 40% (konservatif)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41148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2F2F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874520"/>
            <a:ext cx="4114800" cy="384048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745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 TANPA TilikKlaim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3591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Klaim ditolak/bulan: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35915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 × 6% = 30 klaim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Nilai terhambat/bulan: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8346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 142.426.410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3101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Proses keberatan: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33101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30–90 hari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7856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 flow: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378561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Terganggu setiap bulan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874520"/>
            <a:ext cx="42519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78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874520"/>
            <a:ext cx="4251960" cy="384048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18745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DENGAN TilikKlaim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23591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Rejection berkurang 40%: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23591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klaim terselamatkan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Nilai terselamatkan/bulan: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2834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 56.970.564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33101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Biaya TilikKlaim: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33101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 3.000.000/bulan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378561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benefit/bulan: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0" y="378561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A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 53.970.564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407408"/>
            <a:ext cx="8549640" cy="530352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440740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897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ROI  19×  per bulan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3657600" y="440740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 56,9 juta diselamatkan vs Rp 3 juta biaya subscription   ·   Payback period &lt; 2 minggu pertama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B7  ·  DAMPAK &amp; NILAI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Dampak Nasional: 500 Faskes × TilikKlaim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78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57200" y="13898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A87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Rp 342 M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842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Efisiensi/tahun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 seluruh ekosistem faskes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87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 faskes × Rp 57 juta net benefit/bulan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18688" y="12344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401568" y="13898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65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Rp 1,04 T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401568" y="19842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Potensi efisiensi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 JKN/tahun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01568" y="2487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 dari 3% anomali klaim Rp 172,59 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(asumsi konservatif)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63056" y="12344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45936" y="13898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897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20×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345936" y="19842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 rata-rata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faskes berlangganan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345936" y="2487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Nilai terselamatkan vs biaya subscription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berdasarkan simulasi RS tipe 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8549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57200" y="3218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Dampak Non-Finansial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566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👤 Casemix Officer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84048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Dari 500 klaim manual/bulan → fokus pada ~30 klaim berisiko tinggi. Berkurang: overtime, stres, human error.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401568" y="3566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🏥 Faskes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401568" y="384048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trail internal terdokumentasi → bukti due diligence jika ada sengketa BPJS. Cash flow lebih prediktabel.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345936" y="3566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🏛️ BPJS / JKN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345936" y="384048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pertama ada di sumber klaim. Beban verifikasi BPJS berkurang. Data yang masuk lebih berkualitas.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27432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Semua proyeksi berbasis asumsi transparan — akan divalidasi di pilot Fase 1–2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95528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B8  ·  RISIKO, PRIVASI &amp; ETIKA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246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Sistem yang Sadar Risikonya Sendiri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432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74320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2344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  False Positive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(Alert Fatigue)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709928"/>
            <a:ext cx="2468880" cy="91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Risiko: Terlalu banyak sinyal → casemix officer mengabaikan semua flag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23042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Mitigasi: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2514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Threshold dikalibrasi per faskes (bukan global)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" y="29169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Precision &gt; Recall di fase awal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" y="33192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Feedback loop: disposisi → perbaiki model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" y="37216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Target: &lt; 15% klaim diflag di awal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18688" y="1234440"/>
            <a:ext cx="27432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18688" y="1234440"/>
            <a:ext cx="274320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10128" y="12344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🔒  Data Privasi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UU PDP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55848" y="1709928"/>
            <a:ext cx="2468880" cy="91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55848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Risiko: Data klaim pasien terekspos ke pihak ketiga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355848" y="23042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Mitigasi: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355848" y="2514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Arsitektur on-premise / private cloud faskes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355848" y="29169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Data TIDAK meninggalkan infrastruktur faskes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355848" y="33192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Pseudonimisasi ID pasien dalam log audit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355848" y="37216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Compliance: UU PDP No. 27/2022 by design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63056" y="1234440"/>
            <a:ext cx="27432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2F2F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1234440"/>
            <a:ext cx="2743200" cy="475488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54496" y="12344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⚖️  Liability &amp;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Akuntabilitas Hukum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0216" y="1709928"/>
            <a:ext cx="2468880" cy="9144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00216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Risiko: Jika sinyal "aman" tapi klaim ditolak — siapa bertanggung jawab?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300216" y="23042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Mitigasi: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300216" y="2514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TilikKlaim = alat bantu, BUKAN penjamin klaim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300216" y="29169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ToS eksplisit: keputusan final ada pada casemix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300216" y="33192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Audit trail immutable: setiap disposisi tercatat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300216" y="37216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Human-in-the-loop wajib — tidak ada auto-approve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4206240"/>
            <a:ext cx="8549640" cy="621792"/>
          </a:xfrm>
          <a:prstGeom prst="rect">
            <a:avLst/>
          </a:prstGeom>
          <a:solidFill>
            <a:srgbClr val="E8EAF6"/>
          </a:solidFill>
          <a:ln w="12700">
            <a:solidFill>
              <a:srgbClr val="0C2461"/>
            </a:solidFill>
            <a:prstDash val="solid"/>
          </a:ln>
          <a:effectLst>
            <a:outerShdw blurRad="50800" dist="25400" dir="2700000" algn="bl" rotWithShape="0">
              <a:srgbClr val="94A3B8">
                <a:alpha val="1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457200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🔒  PRIVACY BY DESIGN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507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tetap di faskes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Tidak ada transfer tanpa consent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3310128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🧠  HUMAN-IN-THE-LOOP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3310128" y="4507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 melaporkan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Manusia memutuskan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163056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24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  AUDIT TRAIL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163056" y="4507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Setiap keputusan tercatat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Tidak dapat dihapus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795528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24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40"/>
          </a:solidFill>
          <a:ln w="12700">
            <a:solidFill>
              <a:srgbClr val="0A1E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B9  ·  PROFIL &amp; PENGALAMAN TIM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6217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 TilikKlaim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152D5A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1508760"/>
            <a:ext cx="822960" cy="8229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👤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4231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[Nama Anggota 1]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78892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Lead / Backend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127248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Python / FastAPI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PostgreSQL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Rules Engine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Docker / DevOps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32588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152D5A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1508760"/>
            <a:ext cx="822960" cy="8229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6052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👤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24231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[Nama Anggota 2]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66160" y="278892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6616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Expert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3127248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Rekam Medis / INA-CBGs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Casemix Officer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Sistem JKN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Validasi Klinis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32588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152D5A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95160" y="1508760"/>
            <a:ext cx="822960" cy="8229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9516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👤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24231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[Nama Anggota 3]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278892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/ Product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3127248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React Frontend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User Research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Product Design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UX Testing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89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📁  github.com/fahriialfiansyah/tilik-klaim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95528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9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 panose="020B06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0B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2461</Words>
  <Application>Microsoft Office PowerPoint</Application>
  <PresentationFormat>On-screen Show (16:9)</PresentationFormat>
  <Paragraphs>532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Inter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Luthfi Ardiansyah</cp:lastModifiedBy>
  <cp:revision>10</cp:revision>
  <dcterms:created xsi:type="dcterms:W3CDTF">2026-09-10T13:30:32Z</dcterms:created>
  <dcterms:modified xsi:type="dcterms:W3CDTF">2026-09-11T09:38:49Z</dcterms:modified>
</cp:coreProperties>
</file>