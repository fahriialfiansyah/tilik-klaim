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Biaya RITL per Admisi (Rp juta)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32F2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Papua Barat</c:v>
                  </c:pt>
                  <c:pt idx="1">
                    <c:v>Rata-rata Nas.</c:v>
                  </c:pt>
                  <c:pt idx="2">
                    <c:v>DKI Jakarta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3.32</c:v>
                </c:pt>
                <c:pt idx="1">
                  <c:v>4.75</c:v>
                </c:pt>
                <c:pt idx="2">
                  <c:v>7.82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1270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TilikKlaim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1480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Kendali Risiko Klaim JKN di Tangan Faskes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18288"/>
          </a:xfrm>
          <a:prstGeom prst="rect">
            <a:avLst/>
          </a:prstGeom>
          <a:solidFill>
            <a:srgbClr val="2D5F8A"/>
          </a:solidFill>
          <a:ln w="12700">
            <a:solidFill>
              <a:srgbClr val="2D5F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Healthkathon 2026  ·  BPJS Kesehatan × Asosiasi Health Tech Indonesia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4389120" cy="384048"/>
          </a:xfrm>
          <a:prstGeom prst="roundRect">
            <a:avLst>
              <a:gd name="adj" fmla="val 14286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2461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2 — Efisiensi Risiko pada Fasilitas Kesehatan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github.com/fahriialfiansyah/tilik-klaim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 ·  IDENTITAS &amp; POSITIONING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TilikKlaim — dan apa yang kami cakup?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3566160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TENTANG TILIK KLAIM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7556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integrity layer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bekerja di sisi faskes — sebelum klaim dikirim ke BPJS, bukan setelah ditolak.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633472"/>
            <a:ext cx="35661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7249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Sistem melaporkan SINYAL RISIKO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1638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Manusia yang memutuskan. Selalu.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60273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Data tetap di infrastruktur faskes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0416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Setiap keputusan tercatat &amp; auditable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1234440"/>
            <a:ext cx="43891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6634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 (8 dari 20 sub-kategori resmi BPJS)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17556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Phantom billing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0482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Repeat billing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3408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Inflated bills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6334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Manipulasi kelas perawatan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9260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Upcoding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2186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Services unbundling / fragmentation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351129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Cloning (penjiplakan klaim)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8039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Pemecahan episode (parsial)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4114800"/>
            <a:ext cx="40233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416966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 Rujukan, Prolonged Stay, Obat/Alkes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di luar scope dengan justifikasi teknis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 ·  MASALAH &amp; URGENSI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JKN: Program terbesar di dunia, beban yang tidak terlihat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283 Juta+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JKN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(terbesar di dunia)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4173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6888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C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172,59 T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biaya klaim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tahun (2023)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14173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3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108,04%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ratio — Rp 108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 per Rp 100 masuk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29400" y="141732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664 Juta+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Kunjungan FKRTL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tahun (2023)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2788920"/>
            <a:ext cx="1920240" cy="36576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26080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2F2F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02920" y="3063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▲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0175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ratio 108% berarti setiap rupiah iuran yang masuk tidak cukup menutup klaim yang dibayarkan — anomali yang tidak terdeteksi sebelum pengiriman memperburuk ketidakseimbangan ini secara sistemik.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2004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DJSN 2023 | data.bpjs-kesehatan.go.id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 ·  MASALAH &amp; URGENSI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Variasi biaya klaim yang tidak dapat dijelaskan klinis semata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23444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234440"/>
            <a:ext cx="3657600" cy="320040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39496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32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2,35×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8562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Rasio tertinggi vs terendah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209397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DKI Jakarta vs Papua Barat (RITL 2018)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94960" y="2350008"/>
            <a:ext cx="329184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9496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+51,6%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2862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Kelas 1 vs Kelas 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3099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 upcoding kelas perawatan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94960" y="3355848"/>
            <a:ext cx="329184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9496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+18,7%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38679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Sulawesi Utara (RJTL)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41056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Lonjakan dalam 2 tahun (2015–2017)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7432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Tabel 6.3.3 DJSN 2018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 ·  MASALAH &amp; URGENSI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Tidak ada filter internal sebelum klaim dikirim ke BPJS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1371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diberikan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1719072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371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11680" y="1371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Klaim dibuat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SIM 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719072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1371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9040" y="1371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BPJS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1719072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1371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0" y="1371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BPJS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719072"/>
            <a:ext cx="22860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137160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13716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Bayar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Tolak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1353312"/>
            <a:ext cx="502920" cy="813816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0" y="1353312"/>
            <a:ext cx="5029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66360" y="2148840"/>
            <a:ext cx="54864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74920" y="2395728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423160"/>
            <a:ext cx="8549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57200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ini masalah?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92608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Casemix officer bekerja manual — tidak ada sistem deteksi anomali terstruktur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35584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Duplikasi klaim antar periode tidak terpantau secara sistemik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78561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Biaya yang menyimpang dari norma wilayah/kelas lolos tanpa peringatan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215384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Penolakan klaim baru diketahui SETELAH submit — proses keberatan 30–90 hari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 ·  SOLUSI &amp; KEUNGGULAN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TilikKlaim: Quality Gate internal sebelum submit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1234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KONDISI SAAT INI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Klaim dibuat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993392" y="15819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23160" y="150876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2316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ke BPJS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142232" y="15819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150876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Ditolak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91072" y="15819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20840" y="1508760"/>
            <a:ext cx="1783080" cy="457200"/>
          </a:xfrm>
          <a:prstGeom prst="roundRect">
            <a:avLst>
              <a:gd name="adj" fmla="val 12000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15087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Keberatan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" y="2212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TILIK KLAIM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487168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" y="24871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Klaim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dibuat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673352" y="2615184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011680" y="2487168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011680" y="24871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TilikKlaim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410712" y="2615184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49040" y="2487168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49040" y="24871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Signal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148072" y="2615184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0" y="2487168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0" y="24871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Casemix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885432" y="2615184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223760" y="2487168"/>
            <a:ext cx="1463040" cy="594360"/>
          </a:xfrm>
          <a:prstGeom prst="roundRect">
            <a:avLst>
              <a:gd name="adj" fmla="val 9231"/>
            </a:avLst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23760" y="248716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bersih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0" y="3081528"/>
            <a:ext cx="18288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103120" y="308152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Mode: Phantom · Repeat · Inflated Bills · Upcoding · Unbundling · Cloning · Kelas Perawatan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520440"/>
            <a:ext cx="2743200" cy="123444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45720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▶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SINYAL, BUKAN TUDUHAN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melaporkan — manusia memutuskan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0" y="3520440"/>
            <a:ext cx="2743200" cy="123444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338328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3840480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TETAP DI FASKES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3383280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data keluar ke server eksternal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26480" y="3520440"/>
            <a:ext cx="2743200" cy="1234440"/>
          </a:xfrm>
          <a:prstGeom prst="rect">
            <a:avLst/>
          </a:prstGeom>
          <a:solidFill>
            <a:srgbClr val="EEF4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630936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■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6766560" y="36393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LANGKAH TERCATAT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309360" y="40050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immutable untuk setiap disposisi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 ·  SOLUSI &amp; KEUNGGULAN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Output: Apa yang dilihat Casemix Officer?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5029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502920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344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RISK SIGNAL CARD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2344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Klaim #INV-2024-087341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09928"/>
            <a:ext cx="50292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17099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Pasien: [ID Anonim]   ·   Faskes: RS X   ·   Tgl: 12 Mar 2024   ·   Kelas: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057400"/>
            <a:ext cx="5029200" cy="274320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20574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 SINYAL TERDETEKSI — INFLATED BILLS     Risiko: TINGGI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423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klaim diajukan: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9.200.000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" y="2724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Ekspektasi (Prov×Kelas×Usia):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4.750.000 ± Rp 1.200.000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3026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Deviasi dari mean + 2σ: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0266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+53%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33284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referensi: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3284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DJSN 2018 — Tabel 6.3.3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39312"/>
            <a:ext cx="50292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1480" y="3685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DISPOSISI (wajib pilih + isi alasan):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93192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" y="3931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Setuju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393192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11680" y="3931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Investigasi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11880" y="3931920"/>
            <a:ext cx="1417320" cy="320040"/>
          </a:xfrm>
          <a:prstGeom prst="roundRect">
            <a:avLst>
              <a:gd name="adj" fmla="val 14286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11880" y="3931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Eskalasi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0" y="1234440"/>
            <a:ext cx="3337560" cy="3611880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566928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AUDIT TRAIL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0" y="1783080"/>
            <a:ext cx="29260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6072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2024-03-12 14:32:01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Sistem: INFLATED_BILLS_FLAG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0.89 | Threshold: 0.70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0" y="2788920"/>
            <a:ext cx="29260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760720" y="2834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2024-03-12 14:45:22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Casemix: dr. Sari W.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Disposisi: INVESTIGASI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Alasan: "Klaim pasca-operasi major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verifikasi berkas"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0" y="3794760"/>
            <a:ext cx="29260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760720" y="38404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2024-03-12 15:20:09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Komite: Disetujui dengan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koreksi Rp 7.100.000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36576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entri immutable — tidak dapat diedit atau dihapus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 ·  SOLUSI &amp; KEUNGGULAN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TilikKlaim vs alternatif yang sudah ada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10312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1752" y="11887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188720"/>
            <a:ext cx="155448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50592" y="11887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BPJS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(Post-submit)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77640" y="1188720"/>
            <a:ext cx="155448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50792" y="11887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Casemix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1188720"/>
            <a:ext cx="155448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50992" y="11887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78040" y="1188720"/>
            <a:ext cx="2011680" cy="475488"/>
          </a:xfrm>
          <a:prstGeom prst="rect">
            <a:avLst/>
          </a:prstGeom>
          <a:solidFill>
            <a:srgbClr val="0C246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1192" y="118872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TilikKlaim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664208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1752" y="166420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166420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50592" y="16642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submit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77640" y="166420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50792" y="16642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(manual)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77840" y="166420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50992" y="166420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1664208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51192" y="16642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Sebelum — terstruktur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1752" y="213969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77440" y="213969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450592" y="21396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977640" y="213969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050792" y="21396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77840" y="2139696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50992" y="213969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178040" y="2139696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51192" y="213969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Deterministik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" y="2615184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01752" y="26151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Skalabilitas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77440" y="261518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450592" y="261518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977640" y="261518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050792" y="261518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77840" y="2615184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650992" y="261518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178040" y="2615184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251192" y="261518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Sistemik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28600" y="3090672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01752" y="30906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Data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377440" y="309067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450592" y="30906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ke BPJS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977640" y="309067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050792" y="30906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577840" y="3090672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650992" y="309067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Sering ke cloud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178040" y="3090672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251192" y="30906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 di faskes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28600" y="3566160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01752" y="35661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377440" y="35661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450592" y="35661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BPJS yang punya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977640" y="35661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050792" y="35661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577840" y="3566160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650992" y="35661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178040" y="3566160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251192" y="35661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Milik faskes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28600" y="4041648"/>
            <a:ext cx="2103120" cy="475488"/>
          </a:xfrm>
          <a:prstGeom prst="rect">
            <a:avLst/>
          </a:prstGeom>
          <a:solidFill>
            <a:srgbClr val="E8EA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301752" y="40416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Jelas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377440" y="404164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2450592" y="40416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977640" y="404164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050792" y="40416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577840" y="4041648"/>
            <a:ext cx="1554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5650992" y="404164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178040" y="4041648"/>
            <a:ext cx="2011680" cy="475488"/>
          </a:xfrm>
          <a:prstGeom prst="rect">
            <a:avLst/>
          </a:prstGeom>
          <a:solidFill>
            <a:srgbClr val="E0F2F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251192" y="404164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Human-in-loop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228600" y="4572000"/>
            <a:ext cx="868680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76" name="Text 74"/>
          <p:cNvSpPr txBox="1"/>
          <p:nvPr/>
        </p:nvSpPr>
        <p:spPr>
          <a:xfrm>
            <a:off x="411480" y="4572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TilikKlaim adalah satu-satunya solusi yang bekerja di titik paling kritis — sebelum submit, dengan data yang dapat diaudit, dan liability chain yang jelas.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8686800" y="45720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 ·  PENDEKATAN TEKNIS &amp; DATA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Arsitektur: 3-Layer Data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6517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11480" y="17373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klaim dari SIM 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 / API upload)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237744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28803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Pasien pseudonim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ICD-10, INA-CBGs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layanan, Provinsi, Kelas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65176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16002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337560" y="17373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 Deterministik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(ADR-0002: No LLM)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2834640"/>
            <a:ext cx="237744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37560" y="28803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Cost Matrix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Duplikasi detector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Kode-biaya validator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26480" y="1234440"/>
            <a:ext cx="2651760" cy="36576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16002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C246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263640" y="17373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Signal Card per klaim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 prioritas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Form + alasan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immutable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2834640"/>
            <a:ext cx="237744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4320" y="43159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FastAPI  ·  React  ·  PostgreSQL  ·  Docker Compose (demo lokal, tanpa dependensi eksternal)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645152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E8EAF6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74320" y="4645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Privacy by Design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50592" y="4645152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E8EAF6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450592" y="4645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Deterministik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26864" y="4645152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E8EAF6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26864" y="4645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Human-in-the-loop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03136" y="4645152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E8EAF6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03136" y="4645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Audit Trail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 ·  PENDEKATAN TEKNIS &amp; DATA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 Data Dua Lapis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 1 — Data Publik DJSN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691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dataset dari data.bpjs-kesehatan.go.id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Agregat per Provinsi × Kelas × Usia (2014–2018)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04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6.2.1 — RJTL per Hak Kelas Perawatan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609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6.2.2 — RJTL per Usia &amp; Jenis Kelamin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6.2.3 — RJTL per Provinsi (34 Prov.)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37413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6.3.1 — RITL per Hak Kelas Perawatan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30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6.3.2 — RITL per Usia &amp; Jenis Kelamin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87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6.3.3 — RITL per Provinsi (34 Prov.)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62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Digunakan sebagai Expected Cost Matrix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42976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88720"/>
            <a:ext cx="429768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1188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 2 — Data Sintetik Terkalibrasi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1691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 dikalibrasi ke distribusi DJSN Indonesia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(bukan distribusi generik Amerika Serikat)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2331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Clean (baseline)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26883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Phantom billing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0449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Repeat billing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34015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Unbundling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375818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Cloning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4160520"/>
            <a:ext cx="402336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09160" y="42245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sintetik adalah KEUNGGULAN: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· Auditable · Privacy by Design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 ·  PENDEKATAN TEKNIS &amp; DATA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Sub-Kategori yang Dicakup — Metode Deteksi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2F2F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80160"/>
            <a:ext cx="411480" cy="160020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" y="17830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3898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&amp; Repeat Billing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7373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duplikasi: ID pasien + kode tindakan + tanggal dalam window waktu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257860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578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sintetik Lapis 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80160"/>
            <a:ext cx="411480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7830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138988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Inflated Bills &amp; Kelas Perawatan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17373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Cost Matrix: flag jika biaya &gt; mean + 2σ per Provinsi × Kelas × Usia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66360" y="257860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66360" y="25786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DJSN Lapis 1 (6 tabel)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63240"/>
            <a:ext cx="411480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4320" y="35661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31729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Upcoding &amp; Unbundling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5204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Inkonsistensi ICD-10 vs profil biaya INA-CBGs. Tindakan terpecah yang seharusnya 1 paket CBG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" y="436168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4361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sintetik Lapis 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0632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C246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063240"/>
            <a:ext cx="411480" cy="160020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63440" y="35661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31729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Cloning (Penjiplakan Klaim)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35204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scoring pada vektor fitur klaim antar pasien berbeda dalam periode dekat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66360" y="4361688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66360" y="4361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sintetik Lapis 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645152"/>
            <a:ext cx="8549640" cy="384048"/>
          </a:xfrm>
          <a:prstGeom prst="rect">
            <a:avLst/>
          </a:prstGeom>
          <a:solidFill>
            <a:srgbClr val="FFF9E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57200" y="4645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▶️  ADR-0002: Tidak ada LLM di jalur keputusan risiko — Rules engine deterministik menghasilkan output identik untuk input yang sama. Wajib untuk akuntabilitas audit.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 ·  PENDEKATAN TEKNIS &amp; DATA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Sistem · Asumsi Transparan · Kepatuhan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C246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43200" cy="384048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OUTPUT SISTEM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7190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Signal Card per klaim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52374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Queue (prioritas risiko)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332841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Disposition Form + alasan wajib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41330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Trail immutable per klaim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234440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1840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ASUMSI &amp; KETERBATASAN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17190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Baseline DJSN 2018 — perlu kalibrasi ulang dengan tarif INA-CBGs terkini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252374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Sinyal adalah indikator, bukan bukti fraud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332841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Akurasi bergantung pada kelengkapan kode klaim dari SIM 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23444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234440"/>
            <a:ext cx="274320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KEPATUHAN REGULASI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17190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UU PDP No. 27/2022: data tidak meninggalkan faskes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52374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Interoperabilitas HL7/FHIR: arsitektur API-first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332841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Human-in-the-loop: semua keputusan tetap pada manusia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41330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Siap integrasi Platform Satu Sehat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 ·  TINGKAT KEMATANGAN &amp; PROTOTYPE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943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Kami tidak mengklaim lebih dari yang ada. Justru itulah yang membuat kami kredibel.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77724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12618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234440" y="1261872"/>
            <a:ext cx="77724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12618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2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194560" y="1261872"/>
            <a:ext cx="77724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94560" y="12618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3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154680" y="1261872"/>
            <a:ext cx="777240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54680" y="12618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15468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114800" y="1261872"/>
            <a:ext cx="777240" cy="43891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0" y="12618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5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074920" y="1261872"/>
            <a:ext cx="777240" cy="43891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74920" y="12618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035040" y="1261872"/>
            <a:ext cx="777240" cy="43891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35040" y="12618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7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Proto-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995160" y="1261872"/>
            <a:ext cx="777240" cy="43891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95160" y="12618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8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955280" y="1261872"/>
            <a:ext cx="777240" cy="43891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55280" y="12618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9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2240280" y="21762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TilikKlaim saat ini (TRL 3–4)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2487168"/>
            <a:ext cx="854964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74320" y="25237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ARTEFAK TERVERIFIKASI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770632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2770632"/>
            <a:ext cx="164592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02920" y="28346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Repositori Publik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3118104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github.com/fahriialfiansyah/tilik-klaim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3328416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+ Frontend + docker-compose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3538728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 sprint terarsip · commit history aktif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90288" y="2770632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90288" y="2770632"/>
            <a:ext cx="164592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818888" y="28346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Expected Cost Matrix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818888" y="3118104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tabel DJSN 2018 (34 Prov × 3 Kelas × 16 Usia)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4818888" y="3328416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Threshold mean + 2σ per sel matriks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4818888" y="3538728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skenario sintetik seed tetap — reproducible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38862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3886200"/>
            <a:ext cx="16459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02920" y="39502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ADR-0002 — No LLM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502920" y="4233672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"Tidak ada LLM di jalur keputusan risiko"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502920" y="4443984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Setiap flag reprodusibel &amp; diaudit independen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502920" y="4654296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Filosofi: sinyal risiko, bukan vonis fraud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590288" y="38862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590288" y="3886200"/>
            <a:ext cx="164592" cy="100584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818888" y="39502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UI Design Tersedia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4818888" y="4233672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layar: Antrean · Kasus · Ingest · Audit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4818888" y="4443984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 CSS navy/teal/amber — tersinkron ke app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4818888" y="4654296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Lihat slide berikutnya untuk tampilan layar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7955280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 ·  TINGKAT KEMATANGAN &amp; PROTOTYPE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94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Desain Antarmuka — 4 Layar Tersedia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241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design/mockup/reference.html  ·  branch: development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035040" y="658368"/>
            <a:ext cx="2788920" cy="502920"/>
          </a:xfrm>
          <a:prstGeom prst="rect">
            <a:avLst/>
          </a:prstGeom>
          <a:solidFill>
            <a:srgbClr val="16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80760" y="658368"/>
            <a:ext cx="26974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Plex Sans  ·  Token CSS Navy/Teal/Amber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B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first  ·  Kontras WCAG AA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7744" y="1325880"/>
            <a:ext cx="2011680" cy="2834640"/>
          </a:xfrm>
          <a:prstGeom prst="rect">
            <a:avLst/>
          </a:prstGeom>
          <a:solidFill>
            <a:srgbClr val="1520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325880"/>
            <a:ext cx="2011680" cy="201168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" y="138988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" y="1362456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TilikKlaim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37744" y="1527048"/>
            <a:ext cx="347472" cy="2633472"/>
          </a:xfrm>
          <a:prstGeom prst="rect">
            <a:avLst/>
          </a:prstGeom>
          <a:solidFill>
            <a:srgbClr val="0C1A2B"/>
          </a:solidFill>
          <a:ln w="12700">
            <a:solidFill>
              <a:srgbClr val="0C1A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" y="1636776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" y="1984248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2331720"/>
            <a:ext cx="237744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" y="2313432"/>
            <a:ext cx="36576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2679192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" y="1572768"/>
            <a:ext cx="1618488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" y="1764792"/>
            <a:ext cx="1375715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" y="1901952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" y="1938528"/>
            <a:ext cx="1165311" cy="10972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" y="2075688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" y="2112264"/>
            <a:ext cx="1052017" cy="109728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" y="2249424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" y="2286000"/>
            <a:ext cx="1456639" cy="109728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" y="2423160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" y="2459736"/>
            <a:ext cx="890168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" y="2596896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" y="2633472"/>
            <a:ext cx="1262421" cy="109728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" y="4069080"/>
            <a:ext cx="201168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37744" y="4251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ANTREAN REVIEW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237744" y="4462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klaim masuk dengan badge status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B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(Perlu Ditinjau / Konflik / Bersih)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322576" y="1325880"/>
            <a:ext cx="2011680" cy="2834640"/>
          </a:xfrm>
          <a:prstGeom prst="rect">
            <a:avLst/>
          </a:prstGeom>
          <a:solidFill>
            <a:srgbClr val="15203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22576" y="1325880"/>
            <a:ext cx="2011680" cy="201168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95728" y="1389888"/>
            <a:ext cx="73152" cy="7315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505456" y="1362456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TilikKlaim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322576" y="1527048"/>
            <a:ext cx="347472" cy="2633472"/>
          </a:xfrm>
          <a:prstGeom prst="rect">
            <a:avLst/>
          </a:prstGeom>
          <a:solidFill>
            <a:srgbClr val="0C1A2B"/>
          </a:solidFill>
          <a:ln w="12700">
            <a:solidFill>
              <a:srgbClr val="0C1A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77440" y="1636776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0" y="1984248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2331720"/>
            <a:ext cx="237744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22576" y="2313432"/>
            <a:ext cx="36576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77440" y="2679192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715768" y="1572768"/>
            <a:ext cx="1618488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15768" y="1764792"/>
            <a:ext cx="1456639" cy="12801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15768" y="1920240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15768" y="1956816"/>
            <a:ext cx="809244" cy="82296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15768" y="2066544"/>
            <a:ext cx="1132942" cy="82296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15768" y="2176272"/>
            <a:ext cx="971093" cy="8229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15768" y="2286000"/>
            <a:ext cx="1375715" cy="82296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15768" y="2395728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15768" y="2432304"/>
            <a:ext cx="647395" cy="82296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15768" y="2542032"/>
            <a:ext cx="1213866" cy="8229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15768" y="2651760"/>
            <a:ext cx="890168" cy="82296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15768" y="2761488"/>
            <a:ext cx="1294790" cy="82296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322576" y="4069080"/>
            <a:ext cx="201168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322576" y="4251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KASUS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2322576" y="4462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Workspace: matriks bukti,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B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swim-lane, peta tautan antar-dokumen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407408" y="1325880"/>
            <a:ext cx="2011680" cy="2834640"/>
          </a:xfrm>
          <a:prstGeom prst="rect">
            <a:avLst/>
          </a:prstGeom>
          <a:solidFill>
            <a:srgbClr val="152030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07408" y="1325880"/>
            <a:ext cx="2011680" cy="201168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80560" y="1389888"/>
            <a:ext cx="73152" cy="73152"/>
          </a:xfrm>
          <a:prstGeom prst="ellipse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590288" y="1362456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TilikKlaim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407408" y="1527048"/>
            <a:ext cx="347472" cy="2633472"/>
          </a:xfrm>
          <a:prstGeom prst="rect">
            <a:avLst/>
          </a:prstGeom>
          <a:solidFill>
            <a:srgbClr val="0C1A2B"/>
          </a:solidFill>
          <a:ln w="12700">
            <a:solidFill>
              <a:srgbClr val="0C1A2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462272" y="1636776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462272" y="1984248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462272" y="2331720"/>
            <a:ext cx="237744" cy="73152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07408" y="2313432"/>
            <a:ext cx="36576" cy="10972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62272" y="2679192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800600" y="1572768"/>
            <a:ext cx="1618488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800600" y="1764792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800600" y="1801368"/>
            <a:ext cx="1132942" cy="164592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00600" y="1993392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00600" y="2029968"/>
            <a:ext cx="728320" cy="9144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800600" y="2148840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800600" y="2185416"/>
            <a:ext cx="1424269" cy="91440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00600" y="2304288"/>
            <a:ext cx="971093" cy="91440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00600" y="2423160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800600" y="2459736"/>
            <a:ext cx="566471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00600" y="2596896"/>
            <a:ext cx="1165311" cy="109728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00600" y="2734056"/>
            <a:ext cx="971093" cy="10972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407408" y="4069080"/>
            <a:ext cx="2011680" cy="9144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4407408" y="4251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/ DEMO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4407408" y="4462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dari SIM-RS, preview tabel,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B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pipeline deteksi real-time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6492240" y="1325880"/>
            <a:ext cx="2011680" cy="2834640"/>
          </a:xfrm>
          <a:prstGeom prst="rect">
            <a:avLst/>
          </a:prstGeom>
          <a:solidFill>
            <a:srgbClr val="15203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492240" y="1325880"/>
            <a:ext cx="2011680" cy="201168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565392" y="1389888"/>
            <a:ext cx="73152" cy="7315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6675120" y="1362456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TilikKlaim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6492240" y="1527048"/>
            <a:ext cx="347472" cy="2633472"/>
          </a:xfrm>
          <a:prstGeom prst="rect">
            <a:avLst/>
          </a:prstGeom>
          <a:solidFill>
            <a:srgbClr val="0C1A2B"/>
          </a:solidFill>
          <a:ln w="12700">
            <a:solidFill>
              <a:srgbClr val="0C1A2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547104" y="1636776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547104" y="1984248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547104" y="2331720"/>
            <a:ext cx="237744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492240" y="2313432"/>
            <a:ext cx="36576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547104" y="2679192"/>
            <a:ext cx="237744" cy="73152"/>
          </a:xfrm>
          <a:prstGeom prst="rect">
            <a:avLst/>
          </a:prstGeom>
          <a:solidFill>
            <a:srgbClr val="2D4A6E"/>
          </a:solidFill>
          <a:ln w="12700">
            <a:solidFill>
              <a:srgbClr val="2D4A6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885432" y="1572768"/>
            <a:ext cx="1618488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885432" y="1764792"/>
            <a:ext cx="89016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885432" y="2048256"/>
            <a:ext cx="1213866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885432" y="2276856"/>
            <a:ext cx="679765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885432" y="2468880"/>
            <a:ext cx="1424269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885432" y="2752344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85432" y="2788920"/>
            <a:ext cx="1424269" cy="91440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885432" y="2907792"/>
            <a:ext cx="971093" cy="91440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885432" y="3026664"/>
            <a:ext cx="1618488" cy="9144"/>
          </a:xfrm>
          <a:prstGeom prst="rect">
            <a:avLst/>
          </a:prstGeom>
          <a:solidFill>
            <a:srgbClr val="253548"/>
          </a:solidFill>
          <a:ln w="12700">
            <a:solidFill>
              <a:srgbClr val="25354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885432" y="3063240"/>
            <a:ext cx="647395" cy="100584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885432" y="3191256"/>
            <a:ext cx="1132942" cy="100584"/>
          </a:xfrm>
          <a:prstGeom prst="rect">
            <a:avLst/>
          </a:prstGeom>
          <a:solidFill>
            <a:srgbClr val="2C4B6A"/>
          </a:solidFill>
          <a:ln w="12700">
            <a:solidFill>
              <a:srgbClr val="2C4B6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492240" y="4069080"/>
            <a:ext cx="201168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6492240" y="4251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EVALUASI</a:t>
            </a:r>
            <a:endParaRPr lang="en-US" sz="900" dirty="0"/>
          </a:p>
        </p:txBody>
      </p:sp>
      <p:sp>
        <p:nvSpPr>
          <p:cNvPr id="106" name="Text 104"/>
          <p:cNvSpPr txBox="1"/>
          <p:nvPr/>
        </p:nvSpPr>
        <p:spPr>
          <a:xfrm>
            <a:off x="6492240" y="44622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B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 precision/recall, tren per periode,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B92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perubahan threshold &amp; reasoning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237744" y="4828032"/>
            <a:ext cx="1828800" cy="182880"/>
          </a:xfrm>
          <a:prstGeom prst="rect">
            <a:avLst/>
          </a:prstGeom>
          <a:solidFill>
            <a:srgbClr val="1A2E4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274320" y="4828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SINTETIK — TIDAK DAPAT DITUTUP</a:t>
            </a:r>
            <a:endParaRPr lang="en-US" sz="650" dirty="0"/>
          </a:p>
        </p:txBody>
      </p:sp>
      <p:sp>
        <p:nvSpPr>
          <p:cNvPr id="109" name="Text 107"/>
          <p:cNvSpPr txBox="1"/>
          <p:nvPr/>
        </p:nvSpPr>
        <p:spPr>
          <a:xfrm>
            <a:off x="7955280" y="4919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  ·  RENCANA &amp; KELAYAKAN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realistis: Mockup → Produk (18 bulan)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01168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860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28600" y="158191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Sekarang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Healthkathon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3–4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2267712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" y="2377440"/>
            <a:ext cx="54864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3774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Cost Matrix berjalan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DJSN)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" y="3182112"/>
            <a:ext cx="54864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8211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skenario end-to-end: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Inflated Bills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" y="3986784"/>
            <a:ext cx="54864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86784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demo lokal siap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240280" y="141732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23160" y="1234440"/>
            <a:ext cx="20116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2316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423160" y="158191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1–3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193852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74320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4–5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423160" y="2267712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32888" y="2377440"/>
            <a:ext cx="54864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51760" y="23774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 deteksi aktif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sintetik)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32888" y="3182112"/>
            <a:ext cx="54864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51760" y="318211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wawancara casemix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→ validasi UX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32888" y="3986784"/>
            <a:ext cx="54864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51760" y="3986784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faskes: Letter of Intent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434840" y="141732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617720" y="123444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1772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617720" y="158191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4–9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193852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3776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5–6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17720" y="2267712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27448" y="2377440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46320" y="23774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1 RS pilot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klaim riil)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27448" y="3182112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318211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dari SIM 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Risk Signal Card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27448" y="3986784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46320" y="3986784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 precision 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rejection before/after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6629400" y="1417320"/>
            <a:ext cx="182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6812280" y="1234440"/>
            <a:ext cx="2011680" cy="68580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1228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812280" y="1581912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10–18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to Market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132320" y="1938528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13232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7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12280" y="2267712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922008" y="2377440"/>
            <a:ext cx="54864" cy="59436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040880" y="2377440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faskes pembayar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(SaaS subscription)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22008" y="3182112"/>
            <a:ext cx="54864" cy="59436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040880" y="3182112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SATUSEHAT 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HL7/FHIR R4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22008" y="3986784"/>
            <a:ext cx="54864" cy="59436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040880" y="3986784"/>
            <a:ext cx="1691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1–3 miliar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  ·  RENCANA &amp; KELAYAKAN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TilikKlaim dapat dieksekusi?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02336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34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TIM MINIMAL (Fase 1)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19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Backend Engineer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385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PostgreSQL, rules engine — Full-time 3 bln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313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Frontend / UX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532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user testing casemix officer — Part-time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077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Domain Expert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Casemix / rekam medis — Advisory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234440"/>
            <a:ext cx="43891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234440"/>
            <a:ext cx="438912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1234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INFRASTRUKTUR &amp; BIAYA (Fase 1)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17190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Cloud VPS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19385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500 rb–1 juta/bulan (Docker, bukan enterprise)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23134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Database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532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self-hosted — data tidak ke third-party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29077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Total burn rate 3 bln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3127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150–300 juta (termasuk tim)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703320"/>
            <a:ext cx="8549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4572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Mengapa layak dieksekusi: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069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Tidak butuh data BPJS untuk mulai — DJSN + sintetik cukup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4069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Tidak butuh integrasi SIM RS untuk pilot — upload CSV sudah cukup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434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Stack 100% open-source — zero licensing cost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4434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Tidak perlu izin Kemenkes untuk prototype — analitik statistik, bukan alat klinis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  ·  DAMPAK &amp; NILAI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Nilai TilikKlaim untuk Satu Rumah Sakit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49640" cy="502920"/>
          </a:xfrm>
          <a:prstGeom prst="rect">
            <a:avLst/>
          </a:prstGeom>
          <a:solidFill>
            <a:srgbClr val="FFF9E6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23444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Asumsi simulasi (perlu divalidasi di pilot): RS tipe C · 500 klaim RITL/bulan · Rejection rate saat ini 6% · Nilai rata-rata klaim RITL Rp 4.747.547 (DJSN 2018) · Penurunan rejection: 40% (konservatif)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41148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2F2F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74520"/>
            <a:ext cx="4114800" cy="38404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745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TANPA TilikKlaim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3591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Klaim ditolak/bulan: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359152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× 6% = 30 klaim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834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terhambat/bulan: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28346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142.426.410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3101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keberatan: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33101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hari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856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flow: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3785616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Terganggu setiap bulan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874520"/>
            <a:ext cx="42519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1874520"/>
            <a:ext cx="4251960" cy="384048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1874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DENGAN TilikKlaim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235915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berkurang 40%: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2359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klaim terselamatkan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terselamatkan/bulan: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2834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56.970.564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754880" y="33101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TilikKlaim: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33101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3.000.000/bulan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378561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benefit/bulan: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378561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53.970.564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407408"/>
            <a:ext cx="8549640" cy="530352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440740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 19×  per bulan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0" y="440740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56,9 juta diselamatkan vs Rp 3 juta biaya subscription   ·   Payback period &lt; 2 minggu pertama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878"/>
          </a:solidFill>
          <a:ln w="12700">
            <a:solidFill>
              <a:srgbClr val="00A87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  ·  DAMPAK &amp; NILAI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Dampak Nasional: 500 Faskes × TilikKlaim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78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1389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342 M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84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Efisiensi/tahun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seluruh ekosistem faskes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faskes × Rp 57 juta net benefit/bulan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18688" y="12344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01568" y="1389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65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1,04 T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1984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Potensi efisiensi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JKN/tahun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01568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dari 3% anomali klaim Rp 172,59 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(asumsi konservatif)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2344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45936" y="138988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20×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6345936" y="1984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rata-rata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faskes berlangganan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45936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terselamatkan vs biaya subscription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berdasarkan simulasi RS tipe 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8549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5720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Non-Finansial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Casemix Officer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84048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500 klaim manual/bulan → fokus pada ~30 klaim berisiko tinggi. Berkurang: overtime, stres, human error.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401568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Faskes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401568" y="384048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internal terdokumentasi → bukti due diligence jika ada sengketa BPJS. Cash flow lebih prediktabel.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345936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■️ BPJS / JKN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45936" y="384048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pertama ada di sumber klaim. Beban verifikasi BPJS berkurang. Data yang masuk lebih berkualitas.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8549640" cy="347472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1480" y="468172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PAYER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411480" y="482803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Faskes membayar lisensi SaaS — bukan BPJS, bukan pasien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3264408" y="468172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VALUE for BPJS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3264408" y="482803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Klaim masuk lebih bersih → beban verifikasi BPJS berkurang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6117336" y="468172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SUSTAINABILITY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6117336" y="482803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19× → faskes bayar dari penghematan sendiri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500176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C2461"/>
          </a:solidFill>
          <a:ln w="12700">
            <a:solidFill>
              <a:srgbClr val="0C246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  ·  RISIKO, PRIVASI &amp; ETIKA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640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yang Sadar Risikonya Sendiri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432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2344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False Positive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(Alert Fatigue)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709928"/>
            <a:ext cx="2468880" cy="91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Risiko: Terlalu banyak sinyal → casemix officer mengabaikan semua flag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Mitigasi: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2514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Threshold dikalibrasi per faskes (bukan global)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2916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Precision &gt; Recall di fase awal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3319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Feedback loop: disposisi → perbaiki model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3721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Target: &lt; 15% klaim diflag di awal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18688" y="1234440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18688" y="1234440"/>
            <a:ext cx="274320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10128" y="12344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Data Privasi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UU PDP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55848" y="1709928"/>
            <a:ext cx="2468880" cy="91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55848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Risiko: Data klaim pasien terekspos ke pihak ketiga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355848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Mitigasi: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355848" y="2514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Arsitektur on-premise / private cloud faskes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355848" y="2916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TIDAK meninggalkan infrastruktur faskes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355848" y="3319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Pseudonimisasi ID pasien dalam log audit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355848" y="3721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Compliance: UU PDP No. 27/2022 by design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63056" y="1234440"/>
            <a:ext cx="27432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2F2F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1234440"/>
            <a:ext cx="2743200" cy="47548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54496" y="12344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Liability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Akuntabilitas Hukum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0216" y="1709928"/>
            <a:ext cx="2468880" cy="9144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0216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Risiko: Jika sinyal "aman" tapi klaim ditolak — siapa bertanggung jawab?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300216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Mitigasi: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300216" y="2514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TilikKlaim = alat bantu, BUKAN penjamin klaim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300216" y="29169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ToS eksplisit: keputusan final ada pada casemix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300216" y="3319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trail immutable: setiap disposisi tercatat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300216" y="37216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Human-in-the-loop wajib — tidak ada auto-approve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206240"/>
            <a:ext cx="8549640" cy="621792"/>
          </a:xfrm>
          <a:prstGeom prst="rect">
            <a:avLst/>
          </a:prstGeom>
          <a:solidFill>
            <a:srgbClr val="E8EAF6"/>
          </a:solidFill>
          <a:ln w="12700">
            <a:solidFill>
              <a:srgbClr val="0C2461"/>
            </a:solidFill>
            <a:prstDash val="solid"/>
          </a:ln>
          <a:effectLst>
            <a:outerShdw sx="100000" sy="100000" kx="0" ky="0" algn="bl" rotWithShape="0" blurRad="50800" dist="25400" dir="2700000">
              <a:srgbClr val="94A3B8">
                <a:alpha val="1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457200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PRIVACY BY DESIGN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tetap di faskes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transfer tanpa consent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310128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HUMAN-IN-THE-LOOP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3310128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melaporkan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Manusia memutuskan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163056" y="4251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AUDIT TRAIL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163056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keputusan tercatat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dapat dihapus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40"/>
          </a:solidFill>
          <a:ln w="12700">
            <a:solidFill>
              <a:srgbClr val="0A1E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B9  ·  PROFIL &amp; PENGALAMAN TIM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6217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 TilikKlaim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560320" cy="3429000"/>
          </a:xfrm>
          <a:prstGeom prst="roundRect">
            <a:avLst>
              <a:gd name="adj" fmla="val 3571"/>
            </a:avLst>
          </a:prstGeom>
          <a:solidFill>
            <a:srgbClr val="152D5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481328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3957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Luthfi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743200"/>
            <a:ext cx="1645920" cy="21945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743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KETUA TIM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Lead &amp; Domain Research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566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Strategy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Domain JKN &amp; Casemix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Riset &amp; Validasi Klaim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Koordinasi Tim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1325880"/>
            <a:ext cx="2560320" cy="3429000"/>
          </a:xfrm>
          <a:prstGeom prst="roundRect">
            <a:avLst>
              <a:gd name="adj" fmla="val 3571"/>
            </a:avLst>
          </a:prstGeom>
          <a:solidFill>
            <a:srgbClr val="152D5A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0520" y="1481328"/>
            <a:ext cx="822960" cy="8229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60520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23957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49040" y="2743200"/>
            <a:ext cx="1645920" cy="219456"/>
          </a:xfrm>
          <a:prstGeom prst="roundRect">
            <a:avLst>
              <a:gd name="adj" fmla="val 16667"/>
            </a:avLst>
          </a:prstGeom>
          <a:solidFill>
            <a:srgbClr val="1A3A6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49040" y="2743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 TIM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API · AI Architecture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3566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Engineering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API &amp; FastAPI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/ Rules Architecture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&amp; DevOps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1325880"/>
            <a:ext cx="2560320" cy="3429000"/>
          </a:xfrm>
          <a:prstGeom prst="roundRect">
            <a:avLst>
              <a:gd name="adj" fmla="val 3571"/>
            </a:avLst>
          </a:prstGeom>
          <a:solidFill>
            <a:srgbClr val="152D5A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95160" y="1481328"/>
            <a:ext cx="822960" cy="82296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95160" y="148132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23957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583680" y="2743200"/>
            <a:ext cx="1645920" cy="219456"/>
          </a:xfrm>
          <a:prstGeom prst="roundRect">
            <a:avLst>
              <a:gd name="adj" fmla="val 16667"/>
            </a:avLst>
          </a:prstGeom>
          <a:solidFill>
            <a:srgbClr val="1A3A6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0" y="2743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 TIM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Karyawan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UI/UX Design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6309360" y="3566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Development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 / UX Design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&amp; Component Library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Research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github.com/fahriialfiansyah/tilik-klaim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955280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2026-09-11T09:19:37Z</dcterms:created>
  <dcterms:modified xsi:type="dcterms:W3CDTF">2026-09-11T09:19:37Z</dcterms:modified>
</cp:coreProperties>
</file>