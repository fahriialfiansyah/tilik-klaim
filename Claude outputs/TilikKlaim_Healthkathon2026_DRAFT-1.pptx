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Biaya RITL per Admisi (Rp juta)</c:v>
                </c:pt>
              </c:strCache>
            </c:strRef>
          </c:tx>
          <c:spPr>
            <a:solidFill>
              <a:srgbClr val="00897B"/>
            </a:solidFill>
            <a:effectLst/>
          </c:spPr>
          <c:invertIfNegative val="0"/>
          <c:dLbls>
            <c:numFmt formatCode="#,##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00897B"/>
              </a:solidFill>
              <a:effectLst/>
            </c:spPr>
          </c:dPt>
          <c:dPt>
            <c:idx val="1"/>
            <c:invertIfNegative val="0"/>
            <c:bubble3D val="0"/>
            <c:spPr>
              <a:solidFill>
                <a:srgbClr val="1565C0"/>
              </a:solidFill>
              <a:effectLst/>
            </c:spPr>
          </c:dPt>
          <c:dPt>
            <c:idx val="2"/>
            <c:invertIfNegative val="0"/>
            <c:bubble3D val="0"/>
            <c:spPr>
              <a:solidFill>
                <a:srgbClr val="D32F2F"/>
              </a:solidFill>
              <a:effectLst/>
            </c:spPr>
          </c:dPt>
          <c:cat>
            <c:multiLvlStrRef>
              <c:f>Sheet1!$A$2:$A$4</c:f>
              <c:multiLvlStrCache>
                <c:ptCount val="3"/>
                <c:lvl>
                  <c:pt idx="0">
                    <c:v>Papua Barat</c:v>
                  </c:pt>
                  <c:pt idx="1">
                    <c:v>Rata-rata Nas.</c:v>
                  </c:pt>
                  <c:pt idx="2">
                    <c:v>DKI Jakarta</c:v>
                  </c:pt>
                </c:lvl>
              </c:multiLvlStrCache>
            </c:multiLvlStrRef>
          </c:cat>
          <c:val>
            <c:numRef>
              <c:f>Sheet1!$B$2:$B$4</c:f>
              <c:numCache>
                <c:formatCode>General</c:formatCode>
                <c:ptCount val="3"/>
                <c:pt idx="0">
                  <c:v>3.32</c:v>
                </c:pt>
                <c:pt idx="1">
                  <c:v>4.75</c:v>
                </c:pt>
                <c:pt idx="2">
                  <c:v>7.82</c:v>
                </c:pt>
              </c:numCache>
            </c:numRef>
          </c:val>
        </c:ser>
        <c:dLbls>
          <c:numFmt formatCode="#,##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12700" cap="flat">
              <a:solidFill>
                <a:srgbClr val="CBD5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 Skala Masalah]
Poin kunci untuk juri: 108,04% claim ratio bukan sekadar angka statistik — artinya setiap Rp 100 iuran yang masuk hanya cukup untuk membayar Rp 92,6 biaya klaim. Sistem JKN secara struktural berada dalam tekanan yang terus meningkat.
664 juta kunjungan FKRTL per tahun — ini setara setiap warga negara Indonesia rata-rata 2,3× ke rumah sakit. Dengan volume sebesar ini, bahkan anomali kecil 1-2% menghasilkan inefisiensi senilai Rp 1-3 triliun.
TilikKlaim tidak mengklaim menyelesaikan seluruh masalah — kami mengisi gap yang spesifik dan terukur: verifikasi sebelum submit, bukan setelah klaim ditolak.
Sumber: DJSN 2023 | data.bpjs-kesehatan.go.id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 Gap Sebelum Submit]
Ini adalah slide terpenting di seluruh deck dari sisi problem framing.
Gap yang kami tunjukkan adalah: antara "Klaim dibuat di SIM RS" dan "Submit ke BPJS" — tidak ada filter terstruktur. Casemix officer saat ini bekerja manual, mengandalkan memori dan intuisi, bukan sistem.
Untuk juri: angka 30–90 hari proses keberatan adalah biaya nyata — bukan hanya waktu, tapi juga SDM, arus kas faskes, dan beban administratif BPJS. TilikKlaim memindahkan titik deteksi ke upstream: sebelum klaim keluar dari faskes, bukan setelah ditolak.
Pengguna langsung: Casemix Officer RS. Payer: BPJS Kesehatan. Keduanya diuntungkan oleh filter sebelum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 Solusi: Quality Gate]
Tiga filosofi inti yang harus tersampaikan ke juri:
1. SINYAL, BUKAN TUDUHAN — sistem tidak pernah mengatakan "ini fraud". Sistem mengatakan "ada sinyal risiko, tolong ditinjau". Perbedaan ini kritis dari sisi hukum dan etika.
2. DATA TETAP DI FASKES — tidak ada data yang dikirim ke server TilikKlaim. Arsitektur on-premise / private cloud faskes. Ini menjawab kekhawatiran UU PDP No. 27/2022 secara langsung.
3. SETIAP LANGKAH TERCATAT — audit trail immutable. Jika ada sengketa dengan BPJS, faskes punya bukti disposisi yang lengkap dan tidak bisa dimanipulasi.
Bandingkan dengan kondisi saat ini: klaim ditolak → proses keberatan 30–90 hari. TilikKlaim memotong loop ini sepenuhnya untuk klaim yang sudah bersih sebelum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 Arsitektur Teknis]
ADR-0002 (Architecture Decision Record nomor 2) adalah keputusan yang paling penting secara teknis: TIDAK ada LLM di jalur keputusan risiko.
Mengapa ini penting untuk juri teknis: LLM bersifat probabilistik dan non-deterministik — output-nya bisa berbeda untuk input yang sama. Untuk sistem yang digunakan sebagai dasar audit dan akuntabilitas hukum, ini tidak dapat diterima. Rules engine deterministik menghasilkan output identik untuk input yang sama — wajib untuk repeatability dan audit independen.
Stack: FastAPI (backend) + React (frontend) + PostgreSQL (database) + Docker Compose. Tidak ada dependensi cloud — bisa berjalan di infrastruktur internal faskes. Demo lokal sudah tersedia.
Alur data: CSV dari SIM RS → deteksi → Risk Signal Card. Tidak ada data yang keluar dari lingkungan faskes.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 4 Mode Deteksi]
Untuk juri teknis: setiap mode deteksi menggunakan metodologi yang berbeda dan data yang berbeda — bukan satu algoritma tunggal.
Phantom &amp; Repeat Billing: simple hash-based deduplication pada ID pasien + kode tindakan + tanggal dalam window waktu. Akurasi tinggi, false positive rendah.
Inflated Bills: Expected Cost Matrix dari data DJSN publik (6 tabel, 34 provinsi × 3 kelas × 16 kelompok usia). Flag jika biaya &gt; mean + 2σ per sel matriks. Statistikal, transparan, dapat diaudit.
Upcoding &amp; Unbundling: inkonsistensi ICD-10 vs profil biaya INA-CBGs. Rules-based dengan data sintetik terkalibrasi sebagai test set.
Cloning: similarity scoring pada vektor fitur klaim antar pasien berbeda. Deteksi pola penjiplakan klaim sistemik.
Data sintetik Lapis 2 (Synthea dikalibrasi ke DJSN Indonesia) digunakan sebagai test set yang reproducible — bukan data produksi. Ini adalah keunggulan: bisa diaudit oleh siapapun dengan seed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[B7 — ROI per Faskes]
Simulasi ini dibangun dari angka nyata — bukan asumsi generik. Nilai klaim RITL Rp 4.747.547 berasal langsung dari Tabel 6.3.3 DJSN 2018 (rata-rata nasional per admisi).
Untuk juri: kami sengaja menggunakan angka konservatif. Penurunan rejection 40% adalah estimasi bawah — literatur deteksi anomali klaim kesehatan menunjukkan 50–70% penurunan pada implementasi awal. Kami memilih 40% agar presentasi ROI tetap defensible saat dipertanyakan.
ROI 19× per bulan. Payback period &lt; 2 minggu. Biaya subscription Rp 3 juta/bulan vs manfaat Rp 57 juta/bulan. Ini adalah unit economics yang sangat kuat untuk SaaS B2B di sektor kesehatan.
Disclaimer di slide ini adalah fitur, bukan bug — menunjukkan bahwa kami memahami keterbatasan simulasi dan tidak overclaiming. Validasi aktual akan dilakukan pada pilot faskes fase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[B7 — Dampak Nasional]
Cara membaca angka-angka ini:
Rp 342 Miliar/tahun: 500 faskes × Rp 57 juta net benefit/bulan × 12 bulan. Ini adalah nilai langsung yang diselamatkan oleh faskes yang berlangganan TilikKlaim.
Rp 1,04 Triliun/tahun: potensi efisiensi ke sistem JKN secara keseluruhan. Asumsi: 3% klaim mengandung anomali yang bisa dideteksi (konservatif), 20% berhasil dicegah sebelum submit. 3% × 20% × Rp 172,59T = sekitar Rp 1,04T.
Model bisnis: faskes membayar lisensi SaaS — bukan BPJS, bukan pasien. Ini penting: TilikKlaim adalah produk B2B yang sold ke faskes, bukan payer. Faskes memiliki insentif langsung: kurangi rejection, lindungi cash flow.
SATUSEHAT &amp; HL7/FHIR R4 ready: skalabilitas lintas 34 provinsi sudah didesain dari arsitektur awal — bukan tambahan belakangan.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[B8 — Risiko, Privasi &amp; Etika]
Slide ini menjawab 3 kekhawatiran terbesar juri secara langsung.
1. FALSE POSITIVE / ALERT FATIGUE: Kami memulai dengan threshold konservatif (&lt; 15% klaim diflag). Precision lebih diutamakan dari Recall di fase awal — lebih baik melewatkan beberapa kasus daripada membanjiri casemix officer dengan false alarm. Threshold dikalibrasi per faskes, bukan global.
2. PRIVASI &amp; UU PDP: Arsitektur on-premise berarti data klaim tidak pernah meninggalkan infrastruktur faskes. Pseudonimisasi ID pasien dalam log audit. Patuh UU PDP No. 27/2022 dan Permenkes No. 24/2022. SATUSEHAT / HL7/FHIR R4 ready.
3. LIABILITY: TilikKlaim adalah alat bantu, BUKAN penjamin klaim. ToS eksplisit: keputusan final ada pada casemix officer. Audit trail immutable justru melindungi faskes — bukan membebani. Jika ada sengketa dengan BPJS, faskes punya bukti disposisi yang lengkap.
Human-in-the-loop wajib — tidak ada auto-approve. Ini bukan pilihan arsitektur semata, ini komitmen etis.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4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897B"/>
          </a:solidFill>
          <a:ln w="12700">
            <a:solidFill>
              <a:srgbClr val="00897B"/>
            </a:solidFill>
            <a:prstDash val="solid"/>
          </a:ln>
        </p:spPr>
      </p:sp>
      <p:sp>
        <p:nvSpPr>
          <p:cNvPr id="3" name="Shape 1"/>
          <p:cNvSpPr/>
          <p:nvPr/>
        </p:nvSpPr>
        <p:spPr>
          <a:xfrm>
            <a:off x="164592" y="0"/>
            <a:ext cx="8979408" cy="109728"/>
          </a:xfrm>
          <a:prstGeom prst="rect">
            <a:avLst/>
          </a:prstGeom>
          <a:solidFill>
            <a:srgbClr val="00897B"/>
          </a:solidFill>
          <a:ln w="12700">
            <a:solidFill>
              <a:srgbClr val="00897B"/>
            </a:solidFill>
            <a:prstDash val="solid"/>
          </a:ln>
        </p:spPr>
      </p:sp>
      <p:sp>
        <p:nvSpPr>
          <p:cNvPr id="4" name="Text 2"/>
          <p:cNvSpPr txBox="1"/>
          <p:nvPr/>
        </p:nvSpPr>
        <p:spPr>
          <a:xfrm>
            <a:off x="457200" y="73152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TilikKlaim</a:t>
            </a:r>
            <a:endParaRPr lang="en-US" sz="5400" dirty="0"/>
          </a:p>
        </p:txBody>
      </p:sp>
      <p:sp>
        <p:nvSpPr>
          <p:cNvPr id="5" name="Shape 3"/>
          <p:cNvSpPr/>
          <p:nvPr/>
        </p:nvSpPr>
        <p:spPr>
          <a:xfrm>
            <a:off x="457200" y="1691640"/>
            <a:ext cx="4114800" cy="54864"/>
          </a:xfrm>
          <a:prstGeom prst="rect">
            <a:avLst/>
          </a:prstGeom>
          <a:solidFill>
            <a:srgbClr val="00897B"/>
          </a:solidFill>
          <a:ln w="12700">
            <a:solidFill>
              <a:srgbClr val="00897B"/>
            </a:solidFill>
            <a:prstDash val="solid"/>
          </a:ln>
        </p:spPr>
      </p:sp>
      <p:sp>
        <p:nvSpPr>
          <p:cNvPr id="6" name="Text 4"/>
          <p:cNvSpPr txBox="1"/>
          <p:nvPr/>
        </p:nvSpPr>
        <p:spPr>
          <a:xfrm>
            <a:off x="457200" y="1783080"/>
            <a:ext cx="8046720" cy="822960"/>
          </a:xfrm>
          <a:prstGeom prst="rect">
            <a:avLst/>
          </a:prstGeom>
          <a:noFill/>
          <a:ln/>
        </p:spPr>
        <p:txBody>
          <a:bodyPr wrap="square" lIns="0" tIns="0" rIns="0" bIns="0" rtlCol="0" anchor="ctr"/>
          <a:lstStyle/>
          <a:p>
            <a:pPr indent="0" marL="0">
              <a:buNone/>
            </a:pPr>
            <a:r>
              <a:rPr lang="en-US" sz="2200" dirty="0">
                <a:solidFill>
                  <a:srgbClr val="B0C4DE"/>
                </a:solidFill>
                <a:latin typeface="Calibri" pitchFamily="34" charset="0"/>
                <a:ea typeface="Calibri" pitchFamily="34" charset="-122"/>
                <a:cs typeface="Calibri" pitchFamily="34" charset="-120"/>
              </a:rPr>
              <a:t>Kendali Risiko Klaim JKN di Tangan Faskes</a:t>
            </a:r>
            <a:endParaRPr lang="en-US" sz="2200" dirty="0"/>
          </a:p>
        </p:txBody>
      </p:sp>
      <p:sp>
        <p:nvSpPr>
          <p:cNvPr id="7" name="Shape 5"/>
          <p:cNvSpPr/>
          <p:nvPr/>
        </p:nvSpPr>
        <p:spPr>
          <a:xfrm>
            <a:off x="457200" y="2697480"/>
            <a:ext cx="8229600" cy="18288"/>
          </a:xfrm>
          <a:prstGeom prst="rect">
            <a:avLst/>
          </a:prstGeom>
          <a:solidFill>
            <a:srgbClr val="2D5F8A"/>
          </a:solidFill>
          <a:ln w="12700">
            <a:solidFill>
              <a:srgbClr val="2D5F8A"/>
            </a:solidFill>
            <a:prstDash val="solid"/>
          </a:ln>
        </p:spPr>
      </p:sp>
      <p:sp>
        <p:nvSpPr>
          <p:cNvPr id="8" name="Text 6"/>
          <p:cNvSpPr txBox="1"/>
          <p:nvPr/>
        </p:nvSpPr>
        <p:spPr>
          <a:xfrm>
            <a:off x="457200" y="2834640"/>
            <a:ext cx="8229600" cy="320040"/>
          </a:xfrm>
          <a:prstGeom prst="rect">
            <a:avLst/>
          </a:prstGeom>
          <a:noFill/>
          <a:ln/>
        </p:spPr>
        <p:txBody>
          <a:bodyPr wrap="square" lIns="0" tIns="0" rIns="0" bIns="0" rtlCol="0" anchor="ctr"/>
          <a:lstStyle/>
          <a:p>
            <a:pPr indent="0" marL="0">
              <a:buNone/>
            </a:pPr>
            <a:r>
              <a:rPr lang="en-US" sz="1300" dirty="0">
                <a:solidFill>
                  <a:srgbClr val="B0C4DE"/>
                </a:solidFill>
                <a:latin typeface="Calibri" pitchFamily="34" charset="0"/>
                <a:ea typeface="Calibri" pitchFamily="34" charset="-122"/>
                <a:cs typeface="Calibri" pitchFamily="34" charset="-120"/>
              </a:rPr>
              <a:t>Healthkathon 2026  ·  BPJS Kesehatan × Asosiasi Health Tech Indonesia</a:t>
            </a:r>
            <a:endParaRPr lang="en-US" sz="1300" dirty="0"/>
          </a:p>
        </p:txBody>
      </p:sp>
      <p:sp>
        <p:nvSpPr>
          <p:cNvPr id="9" name="Shape 7"/>
          <p:cNvSpPr/>
          <p:nvPr/>
        </p:nvSpPr>
        <p:spPr>
          <a:xfrm>
            <a:off x="457200" y="3246120"/>
            <a:ext cx="4389120" cy="384048"/>
          </a:xfrm>
          <a:prstGeom prst="roundRect">
            <a:avLst>
              <a:gd name="adj" fmla="val 14286"/>
            </a:avLst>
          </a:prstGeom>
          <a:solidFill>
            <a:srgbClr val="00897B"/>
          </a:solidFill>
          <a:ln w="12700">
            <a:solidFill>
              <a:srgbClr val="00897B"/>
            </a:solidFill>
            <a:prstDash val="solid"/>
          </a:ln>
        </p:spPr>
      </p:sp>
      <p:sp>
        <p:nvSpPr>
          <p:cNvPr id="10" name="Text 8"/>
          <p:cNvSpPr txBox="1"/>
          <p:nvPr/>
        </p:nvSpPr>
        <p:spPr>
          <a:xfrm>
            <a:off x="457200" y="3246120"/>
            <a:ext cx="43891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Kategori 2 — Efisiensi Risiko pada Fasilitas Kesehatan</a:t>
            </a:r>
            <a:endParaRPr lang="en-US" sz="1100" dirty="0"/>
          </a:p>
        </p:txBody>
      </p:sp>
      <p:sp>
        <p:nvSpPr>
          <p:cNvPr id="11" name="Text 9"/>
          <p:cNvSpPr txBox="1"/>
          <p:nvPr/>
        </p:nvSpPr>
        <p:spPr>
          <a:xfrm>
            <a:off x="457200" y="4480560"/>
            <a:ext cx="4572000" cy="274320"/>
          </a:xfrm>
          <a:prstGeom prst="rect">
            <a:avLst/>
          </a:prstGeom>
          <a:noFill/>
          <a:ln/>
        </p:spPr>
        <p:txBody>
          <a:bodyPr wrap="square" lIns="0" tIns="0" rIns="0" bIns="0" rtlCol="0" anchor="ctr"/>
          <a:lstStyle/>
          <a:p>
            <a:pPr indent="0" marL="0">
              <a:buNone/>
            </a:pPr>
            <a:r>
              <a:rPr lang="en-US" sz="1000" dirty="0">
                <a:solidFill>
                  <a:srgbClr val="6B93B8"/>
                </a:solidFill>
                <a:latin typeface="Calibri" pitchFamily="34" charset="0"/>
                <a:ea typeface="Calibri" pitchFamily="34" charset="-122"/>
                <a:cs typeface="Calibri" pitchFamily="34" charset="-120"/>
              </a:rPr>
              <a:t>github.com/fahriialfiansyah/tilik-klaim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B1  ·  IDENTITAS &amp; POSITIONING</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Apa itu TilikKlaim — dan apa yang kami cakup?</a:t>
            </a:r>
            <a:endParaRPr lang="en-US" sz="2800" dirty="0"/>
          </a:p>
        </p:txBody>
      </p:sp>
      <p:sp>
        <p:nvSpPr>
          <p:cNvPr id="5" name="Shape 3"/>
          <p:cNvSpPr/>
          <p:nvPr/>
        </p:nvSpPr>
        <p:spPr>
          <a:xfrm>
            <a:off x="274320" y="1234440"/>
            <a:ext cx="4023360" cy="2743200"/>
          </a:xfrm>
          <a:prstGeom prst="rect">
            <a:avLst/>
          </a:prstGeom>
          <a:solidFill>
            <a:srgbClr val="E8EAF6"/>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6" name="Text 4"/>
          <p:cNvSpPr txBox="1"/>
          <p:nvPr/>
        </p:nvSpPr>
        <p:spPr>
          <a:xfrm>
            <a:off x="502920" y="1389888"/>
            <a:ext cx="3566160" cy="228600"/>
          </a:xfrm>
          <a:prstGeom prst="rect">
            <a:avLst/>
          </a:prstGeom>
          <a:noFill/>
          <a:ln/>
        </p:spPr>
        <p:txBody>
          <a:bodyPr wrap="square" lIns="0" tIns="0" rIns="0" bIns="0" rtlCol="0" anchor="ctr"/>
          <a:lstStyle/>
          <a:p>
            <a:pPr indent="0" marL="0">
              <a:buNone/>
            </a:pPr>
            <a:r>
              <a:rPr lang="en-US" sz="1000" b="1" dirty="0">
                <a:solidFill>
                  <a:srgbClr val="0C2461"/>
                </a:solidFill>
                <a:latin typeface="Calibri" pitchFamily="34" charset="0"/>
                <a:ea typeface="Calibri" pitchFamily="34" charset="-122"/>
                <a:cs typeface="Calibri" pitchFamily="34" charset="-120"/>
              </a:rPr>
              <a:t>TENTANG TILIK KLAIM</a:t>
            </a:r>
            <a:endParaRPr lang="en-US" sz="1000" dirty="0"/>
          </a:p>
        </p:txBody>
      </p:sp>
      <p:sp>
        <p:nvSpPr>
          <p:cNvPr id="7" name="Text 5"/>
          <p:cNvSpPr txBox="1"/>
          <p:nvPr/>
        </p:nvSpPr>
        <p:spPr>
          <a:xfrm>
            <a:off x="502920" y="1664208"/>
            <a:ext cx="3566160" cy="685800"/>
          </a:xfrm>
          <a:prstGeom prst="rect">
            <a:avLst/>
          </a:prstGeom>
          <a:noFill/>
          <a:ln/>
        </p:spPr>
        <p:txBody>
          <a:bodyPr wrap="square" lIns="0" tIns="0" rIns="0" bIns="0" rtlCol="0" anchor="ctr"/>
          <a:lstStyle/>
          <a:p>
            <a:pPr indent="0" marL="0">
              <a:buNone/>
            </a:pPr>
            <a:r>
              <a:rPr lang="en-US" sz="1250" b="1" dirty="0">
                <a:solidFill>
                  <a:srgbClr val="0C2461"/>
                </a:solidFill>
                <a:latin typeface="Calibri" pitchFamily="34" charset="0"/>
                <a:ea typeface="Calibri" pitchFamily="34" charset="-122"/>
                <a:cs typeface="Calibri" pitchFamily="34" charset="-120"/>
              </a:rPr>
              <a:t>Evidence integrity layer</a:t>
            </a:r>
            <a:pPr indent="0" marL="0">
              <a:buNone/>
            </a:pPr>
            <a:r>
              <a:rPr lang="en-US" sz="1250" dirty="0">
                <a:solidFill>
                  <a:srgbClr val="334155"/>
                </a:solidFill>
                <a:latin typeface="Calibri" pitchFamily="34" charset="0"/>
                <a:ea typeface="Calibri" pitchFamily="34" charset="-122"/>
                <a:cs typeface="Calibri" pitchFamily="34" charset="-120"/>
              </a:rPr>
              <a:t> yang bekerja di sisi faskes — sebelum klaim dikirim ke BPJS, bukan setelah ditolak.</a:t>
            </a:r>
            <a:endParaRPr lang="en-US" sz="1250" dirty="0"/>
          </a:p>
        </p:txBody>
      </p:sp>
      <p:sp>
        <p:nvSpPr>
          <p:cNvPr id="8" name="Shape 6"/>
          <p:cNvSpPr/>
          <p:nvPr/>
        </p:nvSpPr>
        <p:spPr>
          <a:xfrm>
            <a:off x="502920" y="2423160"/>
            <a:ext cx="3566160" cy="18288"/>
          </a:xfrm>
          <a:prstGeom prst="rect">
            <a:avLst/>
          </a:prstGeom>
          <a:solidFill>
            <a:srgbClr val="CBD5E1"/>
          </a:solidFill>
          <a:ln w="12700">
            <a:solidFill>
              <a:srgbClr val="CBD5E1"/>
            </a:solidFill>
            <a:prstDash val="solid"/>
          </a:ln>
        </p:spPr>
      </p:sp>
      <p:sp>
        <p:nvSpPr>
          <p:cNvPr id="9" name="Text 7"/>
          <p:cNvSpPr txBox="1"/>
          <p:nvPr/>
        </p:nvSpPr>
        <p:spPr>
          <a:xfrm>
            <a:off x="502920" y="2514600"/>
            <a:ext cx="356616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Sistem melaporkan SINYAL RISIKO</a:t>
            </a:r>
            <a:endParaRPr lang="en-US" sz="1100" dirty="0"/>
          </a:p>
        </p:txBody>
      </p:sp>
      <p:sp>
        <p:nvSpPr>
          <p:cNvPr id="10" name="Text 8"/>
          <p:cNvSpPr txBox="1"/>
          <p:nvPr/>
        </p:nvSpPr>
        <p:spPr>
          <a:xfrm>
            <a:off x="502920" y="2834640"/>
            <a:ext cx="356616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Manusia yang memutuskan. Selalu.</a:t>
            </a:r>
            <a:endParaRPr lang="en-US" sz="1100" dirty="0"/>
          </a:p>
        </p:txBody>
      </p:sp>
      <p:sp>
        <p:nvSpPr>
          <p:cNvPr id="11" name="Text 9"/>
          <p:cNvSpPr txBox="1"/>
          <p:nvPr/>
        </p:nvSpPr>
        <p:spPr>
          <a:xfrm>
            <a:off x="502920" y="3154680"/>
            <a:ext cx="356616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Data tetap di infrastruktur faskes</a:t>
            </a:r>
            <a:endParaRPr lang="en-US" sz="1100" dirty="0"/>
          </a:p>
        </p:txBody>
      </p:sp>
      <p:sp>
        <p:nvSpPr>
          <p:cNvPr id="12" name="Text 10"/>
          <p:cNvSpPr txBox="1"/>
          <p:nvPr/>
        </p:nvSpPr>
        <p:spPr>
          <a:xfrm>
            <a:off x="502920" y="3474720"/>
            <a:ext cx="356616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Setiap keputusan tercatat &amp; auditable</a:t>
            </a:r>
            <a:endParaRPr lang="en-US" sz="1100" dirty="0"/>
          </a:p>
        </p:txBody>
      </p:sp>
      <p:sp>
        <p:nvSpPr>
          <p:cNvPr id="13" name="Shape 11"/>
          <p:cNvSpPr/>
          <p:nvPr/>
        </p:nvSpPr>
        <p:spPr>
          <a:xfrm>
            <a:off x="4480560" y="1234440"/>
            <a:ext cx="4389120" cy="2743200"/>
          </a:xfrm>
          <a:prstGeom prst="rect">
            <a:avLst/>
          </a:prstGeom>
          <a:solidFill>
            <a:srgbClr val="FFFF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14" name="Text 12"/>
          <p:cNvSpPr txBox="1"/>
          <p:nvPr/>
        </p:nvSpPr>
        <p:spPr>
          <a:xfrm>
            <a:off x="4663440" y="1389888"/>
            <a:ext cx="4023360" cy="228600"/>
          </a:xfrm>
          <a:prstGeom prst="rect">
            <a:avLst/>
          </a:prstGeom>
          <a:noFill/>
          <a:ln/>
        </p:spPr>
        <p:txBody>
          <a:bodyPr wrap="square" lIns="0" tIns="0" rIns="0" bIns="0" rtlCol="0" anchor="ctr"/>
          <a:lstStyle/>
          <a:p>
            <a:pPr indent="0" marL="0">
              <a:buNone/>
            </a:pPr>
            <a:r>
              <a:rPr lang="en-US" sz="1000" b="1" dirty="0">
                <a:solidFill>
                  <a:srgbClr val="0C2461"/>
                </a:solidFill>
                <a:latin typeface="Calibri" pitchFamily="34" charset="0"/>
                <a:ea typeface="Calibri" pitchFamily="34" charset="-122"/>
                <a:cs typeface="Calibri" pitchFamily="34" charset="-120"/>
              </a:rPr>
              <a:t>CAKUPAN (8 dari 20 sub-kategori resmi BPJS)</a:t>
            </a:r>
            <a:endParaRPr lang="en-US" sz="1000" dirty="0"/>
          </a:p>
        </p:txBody>
      </p:sp>
      <p:sp>
        <p:nvSpPr>
          <p:cNvPr id="15" name="Text 13"/>
          <p:cNvSpPr txBox="1"/>
          <p:nvPr/>
        </p:nvSpPr>
        <p:spPr>
          <a:xfrm>
            <a:off x="4663440" y="1691640"/>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Phantom billing</a:t>
            </a:r>
            <a:endParaRPr lang="en-US" sz="1050" dirty="0"/>
          </a:p>
        </p:txBody>
      </p:sp>
      <p:sp>
        <p:nvSpPr>
          <p:cNvPr id="16" name="Text 14"/>
          <p:cNvSpPr txBox="1"/>
          <p:nvPr/>
        </p:nvSpPr>
        <p:spPr>
          <a:xfrm>
            <a:off x="4663440" y="1947672"/>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Repeat billing</a:t>
            </a:r>
            <a:endParaRPr lang="en-US" sz="1050" dirty="0"/>
          </a:p>
        </p:txBody>
      </p:sp>
      <p:sp>
        <p:nvSpPr>
          <p:cNvPr id="17" name="Text 15"/>
          <p:cNvSpPr txBox="1"/>
          <p:nvPr/>
        </p:nvSpPr>
        <p:spPr>
          <a:xfrm>
            <a:off x="4663440" y="2203704"/>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Inflated bills</a:t>
            </a:r>
            <a:endParaRPr lang="en-US" sz="1050" dirty="0"/>
          </a:p>
        </p:txBody>
      </p:sp>
      <p:sp>
        <p:nvSpPr>
          <p:cNvPr id="18" name="Text 16"/>
          <p:cNvSpPr txBox="1"/>
          <p:nvPr/>
        </p:nvSpPr>
        <p:spPr>
          <a:xfrm>
            <a:off x="4663440" y="2459736"/>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Manipulasi kelas perawatan</a:t>
            </a:r>
            <a:endParaRPr lang="en-US" sz="1050" dirty="0"/>
          </a:p>
        </p:txBody>
      </p:sp>
      <p:sp>
        <p:nvSpPr>
          <p:cNvPr id="19" name="Text 17"/>
          <p:cNvSpPr txBox="1"/>
          <p:nvPr/>
        </p:nvSpPr>
        <p:spPr>
          <a:xfrm>
            <a:off x="4663440" y="2715768"/>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Upcoding</a:t>
            </a:r>
            <a:endParaRPr lang="en-US" sz="1050" dirty="0"/>
          </a:p>
        </p:txBody>
      </p:sp>
      <p:sp>
        <p:nvSpPr>
          <p:cNvPr id="20" name="Text 18"/>
          <p:cNvSpPr txBox="1"/>
          <p:nvPr/>
        </p:nvSpPr>
        <p:spPr>
          <a:xfrm>
            <a:off x="4663440" y="2971800"/>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Services unbundling / fragmentation</a:t>
            </a:r>
            <a:endParaRPr lang="en-US" sz="1050" dirty="0"/>
          </a:p>
        </p:txBody>
      </p:sp>
      <p:sp>
        <p:nvSpPr>
          <p:cNvPr id="21" name="Text 19"/>
          <p:cNvSpPr txBox="1"/>
          <p:nvPr/>
        </p:nvSpPr>
        <p:spPr>
          <a:xfrm>
            <a:off x="4663440" y="3227832"/>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Cloning (penjiplakan klaim)</a:t>
            </a:r>
            <a:endParaRPr lang="en-US" sz="1050" dirty="0"/>
          </a:p>
        </p:txBody>
      </p:sp>
      <p:sp>
        <p:nvSpPr>
          <p:cNvPr id="22" name="Text 20"/>
          <p:cNvSpPr txBox="1"/>
          <p:nvPr/>
        </p:nvSpPr>
        <p:spPr>
          <a:xfrm>
            <a:off x="4663440" y="3483864"/>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Pemecahan episode (parsial)</a:t>
            </a:r>
            <a:endParaRPr lang="en-US" sz="1050" dirty="0"/>
          </a:p>
        </p:txBody>
      </p:sp>
      <p:sp>
        <p:nvSpPr>
          <p:cNvPr id="23" name="Shape 21"/>
          <p:cNvSpPr/>
          <p:nvPr/>
        </p:nvSpPr>
        <p:spPr>
          <a:xfrm>
            <a:off x="4663440" y="3749040"/>
            <a:ext cx="4023360" cy="18288"/>
          </a:xfrm>
          <a:prstGeom prst="rect">
            <a:avLst/>
          </a:prstGeom>
          <a:solidFill>
            <a:srgbClr val="CBD5E1"/>
          </a:solidFill>
          <a:ln w="12700">
            <a:solidFill>
              <a:srgbClr val="CBD5E1"/>
            </a:solidFill>
            <a:prstDash val="solid"/>
          </a:ln>
        </p:spPr>
      </p:sp>
      <p:sp>
        <p:nvSpPr>
          <p:cNvPr id="24" name="Text 22"/>
          <p:cNvSpPr txBox="1"/>
          <p:nvPr/>
        </p:nvSpPr>
        <p:spPr>
          <a:xfrm>
            <a:off x="4663440" y="3794760"/>
            <a:ext cx="4023360" cy="1828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  Rujukan, Prolonged Stay, Obat/Alkes  →  di luar scope dengan justifikasi teknis</a:t>
            </a:r>
            <a:endParaRPr lang="en-US" sz="950" dirty="0"/>
          </a:p>
        </p:txBody>
      </p:sp>
      <p:sp>
        <p:nvSpPr>
          <p:cNvPr id="25" name="Shape 23"/>
          <p:cNvSpPr/>
          <p:nvPr/>
        </p:nvSpPr>
        <p:spPr>
          <a:xfrm>
            <a:off x="274320" y="4059936"/>
            <a:ext cx="2743200" cy="713232"/>
          </a:xfrm>
          <a:prstGeom prst="rect">
            <a:avLst/>
          </a:prstGeom>
          <a:solidFill>
            <a:srgbClr val="F5F6FA"/>
          </a:solidFill>
          <a:ln w="12700">
            <a:solidFill>
              <a:srgbClr val="64748B"/>
            </a:solidFill>
            <a:prstDash val="solid"/>
          </a:ln>
        </p:spPr>
      </p:sp>
      <p:sp>
        <p:nvSpPr>
          <p:cNvPr id="26" name="Text 24"/>
          <p:cNvSpPr txBox="1"/>
          <p:nvPr/>
        </p:nvSpPr>
        <p:spPr>
          <a:xfrm>
            <a:off x="365760" y="4105656"/>
            <a:ext cx="2615184" cy="201168"/>
          </a:xfrm>
          <a:prstGeom prst="rect">
            <a:avLst/>
          </a:prstGeom>
          <a:noFill/>
          <a:ln/>
        </p:spPr>
        <p:txBody>
          <a:bodyPr wrap="square" lIns="0" tIns="0" rIns="0" bIns="0" rtlCol="0" anchor="ctr"/>
          <a:lstStyle/>
          <a:p>
            <a:pPr indent="0" marL="0">
              <a:buNone/>
            </a:pPr>
            <a:r>
              <a:rPr lang="en-US" sz="950" b="1" dirty="0">
                <a:solidFill>
                  <a:srgbClr val="64748B"/>
                </a:solidFill>
                <a:latin typeface="Calibri" pitchFamily="34" charset="0"/>
                <a:ea typeface="Calibri" pitchFamily="34" charset="-122"/>
                <a:cs typeface="Calibri" pitchFamily="34" charset="-120"/>
              </a:rPr>
              <a:t>Review Manual</a:t>
            </a:r>
            <a:endParaRPr lang="en-US" sz="950" dirty="0"/>
          </a:p>
        </p:txBody>
      </p:sp>
      <p:sp>
        <p:nvSpPr>
          <p:cNvPr id="27" name="Text 25"/>
          <p:cNvSpPr txBox="1"/>
          <p:nvPr/>
        </p:nvSpPr>
        <p:spPr>
          <a:xfrm>
            <a:off x="365760" y="4325112"/>
            <a:ext cx="2615184" cy="21031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Setelah klaim ditolak BPJS</a:t>
            </a:r>
            <a:endParaRPr lang="en-US" sz="900" dirty="0"/>
          </a:p>
        </p:txBody>
      </p:sp>
      <p:sp>
        <p:nvSpPr>
          <p:cNvPr id="28" name="Text 26"/>
          <p:cNvSpPr txBox="1"/>
          <p:nvPr/>
        </p:nvSpPr>
        <p:spPr>
          <a:xfrm>
            <a:off x="365760" y="4553712"/>
            <a:ext cx="2615184" cy="21031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30–90 hari proses keberatan</a:t>
            </a:r>
            <a:endParaRPr lang="en-US" sz="900" dirty="0"/>
          </a:p>
        </p:txBody>
      </p:sp>
      <p:sp>
        <p:nvSpPr>
          <p:cNvPr id="29" name="Shape 27"/>
          <p:cNvSpPr/>
          <p:nvPr/>
        </p:nvSpPr>
        <p:spPr>
          <a:xfrm>
            <a:off x="3200400" y="4059936"/>
            <a:ext cx="2926080" cy="713232"/>
          </a:xfrm>
          <a:prstGeom prst="rect">
            <a:avLst/>
          </a:prstGeom>
          <a:solidFill>
            <a:srgbClr val="E6F4F1"/>
          </a:solidFill>
          <a:ln w="12700">
            <a:solidFill>
              <a:srgbClr val="00897B"/>
            </a:solidFill>
            <a:prstDash val="solid"/>
          </a:ln>
        </p:spPr>
      </p:sp>
      <p:sp>
        <p:nvSpPr>
          <p:cNvPr id="30" name="Text 28"/>
          <p:cNvSpPr txBox="1"/>
          <p:nvPr/>
        </p:nvSpPr>
        <p:spPr>
          <a:xfrm>
            <a:off x="3291840" y="4105656"/>
            <a:ext cx="2798064" cy="201168"/>
          </a:xfrm>
          <a:prstGeom prst="rect">
            <a:avLst/>
          </a:prstGeom>
          <a:noFill/>
          <a:ln/>
        </p:spPr>
        <p:txBody>
          <a:bodyPr wrap="square" lIns="0" tIns="0" rIns="0" bIns="0"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TilikKlaim  ✓</a:t>
            </a:r>
            <a:endParaRPr lang="en-US" sz="950" dirty="0"/>
          </a:p>
        </p:txBody>
      </p:sp>
      <p:sp>
        <p:nvSpPr>
          <p:cNvPr id="31" name="Text 29"/>
          <p:cNvSpPr txBox="1"/>
          <p:nvPr/>
        </p:nvSpPr>
        <p:spPr>
          <a:xfrm>
            <a:off x="3291840" y="4325112"/>
            <a:ext cx="2798064" cy="21031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Sebelum klaim dikirim ke BPJS</a:t>
            </a:r>
            <a:endParaRPr lang="en-US" sz="900" dirty="0"/>
          </a:p>
        </p:txBody>
      </p:sp>
      <p:sp>
        <p:nvSpPr>
          <p:cNvPr id="32" name="Text 30"/>
          <p:cNvSpPr txBox="1"/>
          <p:nvPr/>
        </p:nvSpPr>
        <p:spPr>
          <a:xfrm>
            <a:off x="3291840" y="4553712"/>
            <a:ext cx="2798064" cy="21031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Deterministik + statistikal · audit trail</a:t>
            </a:r>
            <a:endParaRPr lang="en-US" sz="900" dirty="0"/>
          </a:p>
        </p:txBody>
      </p:sp>
      <p:sp>
        <p:nvSpPr>
          <p:cNvPr id="33" name="Shape 31"/>
          <p:cNvSpPr/>
          <p:nvPr/>
        </p:nvSpPr>
        <p:spPr>
          <a:xfrm>
            <a:off x="6309360" y="4059936"/>
            <a:ext cx="2560320" cy="713232"/>
          </a:xfrm>
          <a:prstGeom prst="rect">
            <a:avLst/>
          </a:prstGeom>
          <a:solidFill>
            <a:srgbClr val="EEF3FA"/>
          </a:solidFill>
          <a:ln w="12700">
            <a:solidFill>
              <a:srgbClr val="1565C0"/>
            </a:solidFill>
            <a:prstDash val="solid"/>
          </a:ln>
        </p:spPr>
      </p:sp>
      <p:sp>
        <p:nvSpPr>
          <p:cNvPr id="34" name="Text 32"/>
          <p:cNvSpPr txBox="1"/>
          <p:nvPr/>
        </p:nvSpPr>
        <p:spPr>
          <a:xfrm>
            <a:off x="6400800" y="4105656"/>
            <a:ext cx="2432304" cy="201168"/>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PRO-CLAIM 2025</a:t>
            </a:r>
            <a:endParaRPr lang="en-US" sz="950" dirty="0"/>
          </a:p>
        </p:txBody>
      </p:sp>
      <p:sp>
        <p:nvSpPr>
          <p:cNvPr id="35" name="Text 33"/>
          <p:cNvSpPr txBox="1"/>
          <p:nvPr/>
        </p:nvSpPr>
        <p:spPr>
          <a:xfrm>
            <a:off x="6400800" y="4325112"/>
            <a:ext cx="2432304" cy="21031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Post-submission monitoring</a:t>
            </a:r>
            <a:endParaRPr lang="en-US" sz="900" dirty="0"/>
          </a:p>
        </p:txBody>
      </p:sp>
      <p:sp>
        <p:nvSpPr>
          <p:cNvPr id="36" name="Text 34"/>
          <p:cNvSpPr txBox="1"/>
          <p:nvPr/>
        </p:nvSpPr>
        <p:spPr>
          <a:xfrm>
            <a:off x="6400800" y="4553712"/>
            <a:ext cx="2432304" cy="21031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Pendekatan berbeda (komplemen)</a:t>
            </a:r>
            <a:endParaRPr lang="en-US" sz="900" dirty="0"/>
          </a:p>
        </p:txBody>
      </p:sp>
      <p:sp>
        <p:nvSpPr>
          <p:cNvPr id="37" name="Shape 35"/>
          <p:cNvSpPr/>
          <p:nvPr/>
        </p:nvSpPr>
        <p:spPr>
          <a:xfrm>
            <a:off x="0" y="4828032"/>
            <a:ext cx="9144000" cy="315468"/>
          </a:xfrm>
          <a:prstGeom prst="rect">
            <a:avLst/>
          </a:prstGeom>
          <a:solidFill>
            <a:srgbClr val="0C2461"/>
          </a:solidFill>
          <a:ln w="12700">
            <a:solidFill>
              <a:srgbClr val="0C2461"/>
            </a:solidFill>
            <a:prstDash val="solid"/>
          </a:ln>
        </p:spPr>
      </p:sp>
      <p:sp>
        <p:nvSpPr>
          <p:cNvPr id="38" name="Text 36"/>
          <p:cNvSpPr txBox="1"/>
          <p:nvPr/>
        </p:nvSpPr>
        <p:spPr>
          <a:xfrm>
            <a:off x="365760" y="4882896"/>
            <a:ext cx="8412480" cy="219456"/>
          </a:xfrm>
          <a:prstGeom prst="rect">
            <a:avLst/>
          </a:prstGeom>
          <a:noFill/>
          <a:ln/>
        </p:spPr>
        <p:txBody>
          <a:bodyPr wrap="square" lIns="0" tIns="0" rIns="0" bIns="0" rtlCol="0" anchor="ctr"/>
          <a:lstStyle/>
          <a:p>
            <a:pPr indent="0" marL="0">
              <a:buNone/>
            </a:pPr>
            <a:r>
              <a:rPr lang="en-US" sz="950" dirty="0">
                <a:solidFill>
                  <a:srgbClr val="B0C8E8"/>
                </a:solidFill>
                <a:latin typeface="Calibri" pitchFamily="34" charset="0"/>
                <a:ea typeface="Calibri" pitchFamily="34" charset="-122"/>
                <a:cs typeface="Calibri" pitchFamily="34" charset="-120"/>
              </a:rPr>
              <a:t>Tim:  Luthfi Ardiansyah (Product Lead)  ·  Fahri Alfiansyah (Backend &amp; AI)  ·  Dany Irfansyah (Frontend &amp; UI/UX)</a:t>
            </a:r>
            <a:endParaRPr lang="en-US" sz="950" dirty="0"/>
          </a:p>
        </p:txBody>
      </p:sp>
      <p:sp>
        <p:nvSpPr>
          <p:cNvPr id="39" name="Text 37"/>
          <p:cNvSpPr txBox="1"/>
          <p:nvPr/>
        </p:nvSpPr>
        <p:spPr>
          <a:xfrm>
            <a:off x="8001000" y="4892040"/>
            <a:ext cx="1051560" cy="182880"/>
          </a:xfrm>
          <a:prstGeom prst="rect">
            <a:avLst/>
          </a:prstGeom>
          <a:noFill/>
          <a:ln/>
        </p:spPr>
        <p:txBody>
          <a:bodyPr wrap="square" lIns="0" tIns="0" rIns="0" bIns="0" rtlCol="0" anchor="ctr"/>
          <a:lstStyle/>
          <a:p>
            <a:pPr indent="0" marL="0">
              <a:buNone/>
            </a:pPr>
            <a:r>
              <a:rPr lang="en-US" sz="900" dirty="0">
                <a:solidFill>
                  <a:srgbClr val="4A6A9A"/>
                </a:solidFill>
                <a:latin typeface="Calibri" pitchFamily="34" charset="0"/>
                <a:ea typeface="Calibri" pitchFamily="34" charset="-122"/>
                <a:cs typeface="Calibri" pitchFamily="34" charset="-120"/>
              </a:rPr>
              <a:t>Slide 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B2  ·  MASALAH &amp; URGENSI</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JKN: Program terbesar di dunia, beban yang tidak terlihat</a:t>
            </a:r>
            <a:endParaRPr lang="en-US" sz="2800" dirty="0"/>
          </a:p>
        </p:txBody>
      </p:sp>
      <p:sp>
        <p:nvSpPr>
          <p:cNvPr id="5" name="Shape 3"/>
          <p:cNvSpPr/>
          <p:nvPr/>
        </p:nvSpPr>
        <p:spPr>
          <a:xfrm>
            <a:off x="320040" y="1417320"/>
            <a:ext cx="1920240" cy="1280160"/>
          </a:xfrm>
          <a:prstGeom prst="rect">
            <a:avLst/>
          </a:prstGeom>
          <a:solidFill>
            <a:srgbClr val="FFFFFF"/>
          </a:solidFill>
          <a:ln w="12700">
            <a:solidFill>
              <a:srgbClr val="1565C0"/>
            </a:solidFill>
            <a:prstDash val="solid"/>
          </a:ln>
        </p:spPr>
      </p:sp>
      <p:sp>
        <p:nvSpPr>
          <p:cNvPr id="6" name="Text 4"/>
          <p:cNvSpPr txBox="1"/>
          <p:nvPr/>
        </p:nvSpPr>
        <p:spPr>
          <a:xfrm>
            <a:off x="365760" y="1554480"/>
            <a:ext cx="1828800" cy="640080"/>
          </a:xfrm>
          <a:prstGeom prst="rect">
            <a:avLst/>
          </a:prstGeom>
          <a:noFill/>
          <a:ln/>
        </p:spPr>
        <p:txBody>
          <a:bodyPr wrap="square" lIns="0" tIns="0" rIns="0" bIns="0" rtlCol="0" anchor="ctr"/>
          <a:lstStyle/>
          <a:p>
            <a:pPr algn="ctr" indent="0" marL="0">
              <a:buNone/>
            </a:pPr>
            <a:r>
              <a:rPr lang="en-US" sz="2600" b="1" dirty="0">
                <a:solidFill>
                  <a:srgbClr val="1565C0"/>
                </a:solidFill>
                <a:latin typeface="Cambria" pitchFamily="34" charset="0"/>
                <a:ea typeface="Cambria" pitchFamily="34" charset="-122"/>
                <a:cs typeface="Cambria" pitchFamily="34" charset="-120"/>
              </a:rPr>
              <a:t>283 Juta+</a:t>
            </a:r>
            <a:endParaRPr lang="en-US" sz="2600" dirty="0"/>
          </a:p>
        </p:txBody>
      </p:sp>
      <p:sp>
        <p:nvSpPr>
          <p:cNvPr id="7" name="Text 5"/>
          <p:cNvSpPr txBox="1"/>
          <p:nvPr/>
        </p:nvSpPr>
        <p:spPr>
          <a:xfrm>
            <a:off x="365760" y="2194560"/>
            <a:ext cx="1828800" cy="4572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Peserta JKN</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(terbesar di dunia)</a:t>
            </a:r>
            <a:endParaRPr lang="en-US" sz="1000" dirty="0"/>
          </a:p>
        </p:txBody>
      </p:sp>
      <p:sp>
        <p:nvSpPr>
          <p:cNvPr id="8" name="Shape 6"/>
          <p:cNvSpPr/>
          <p:nvPr/>
        </p:nvSpPr>
        <p:spPr>
          <a:xfrm>
            <a:off x="2423160" y="1417320"/>
            <a:ext cx="1920240" cy="1280160"/>
          </a:xfrm>
          <a:prstGeom prst="rect">
            <a:avLst/>
          </a:prstGeom>
          <a:solidFill>
            <a:srgbClr val="FFFFFF"/>
          </a:solidFill>
          <a:ln w="12700">
            <a:solidFill>
              <a:srgbClr val="0C2461"/>
            </a:solidFill>
            <a:prstDash val="solid"/>
          </a:ln>
        </p:spPr>
      </p:sp>
      <p:sp>
        <p:nvSpPr>
          <p:cNvPr id="9" name="Text 7"/>
          <p:cNvSpPr txBox="1"/>
          <p:nvPr/>
        </p:nvSpPr>
        <p:spPr>
          <a:xfrm>
            <a:off x="2468880" y="1554480"/>
            <a:ext cx="1828800" cy="640080"/>
          </a:xfrm>
          <a:prstGeom prst="rect">
            <a:avLst/>
          </a:prstGeom>
          <a:noFill/>
          <a:ln/>
        </p:spPr>
        <p:txBody>
          <a:bodyPr wrap="square" lIns="0" tIns="0" rIns="0" bIns="0" rtlCol="0" anchor="ctr"/>
          <a:lstStyle/>
          <a:p>
            <a:pPr algn="ctr" indent="0" marL="0">
              <a:buNone/>
            </a:pPr>
            <a:r>
              <a:rPr lang="en-US" sz="2600" b="1" dirty="0">
                <a:solidFill>
                  <a:srgbClr val="0C2461"/>
                </a:solidFill>
                <a:latin typeface="Cambria" pitchFamily="34" charset="0"/>
                <a:ea typeface="Cambria" pitchFamily="34" charset="-122"/>
                <a:cs typeface="Cambria" pitchFamily="34" charset="-120"/>
              </a:rPr>
              <a:t>Rp 172,59 T</a:t>
            </a:r>
            <a:endParaRPr lang="en-US" sz="2600" dirty="0"/>
          </a:p>
        </p:txBody>
      </p:sp>
      <p:sp>
        <p:nvSpPr>
          <p:cNvPr id="10" name="Text 8"/>
          <p:cNvSpPr txBox="1"/>
          <p:nvPr/>
        </p:nvSpPr>
        <p:spPr>
          <a:xfrm>
            <a:off x="2468880" y="2194560"/>
            <a:ext cx="1828800" cy="4572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Total biaya klaim</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per tahun (2023)</a:t>
            </a:r>
            <a:endParaRPr lang="en-US" sz="1000" dirty="0"/>
          </a:p>
        </p:txBody>
      </p:sp>
      <p:sp>
        <p:nvSpPr>
          <p:cNvPr id="11" name="Shape 9"/>
          <p:cNvSpPr/>
          <p:nvPr/>
        </p:nvSpPr>
        <p:spPr>
          <a:xfrm>
            <a:off x="4526280" y="1417320"/>
            <a:ext cx="1920240" cy="1280160"/>
          </a:xfrm>
          <a:prstGeom prst="rect">
            <a:avLst/>
          </a:prstGeom>
          <a:solidFill>
            <a:srgbClr val="FFFFFF"/>
          </a:solidFill>
          <a:ln w="12700">
            <a:solidFill>
              <a:srgbClr val="D32F2F"/>
            </a:solidFill>
            <a:prstDash val="solid"/>
          </a:ln>
        </p:spPr>
      </p:sp>
      <p:sp>
        <p:nvSpPr>
          <p:cNvPr id="12" name="Text 10"/>
          <p:cNvSpPr txBox="1"/>
          <p:nvPr/>
        </p:nvSpPr>
        <p:spPr>
          <a:xfrm>
            <a:off x="4572000" y="1554480"/>
            <a:ext cx="1828800" cy="640080"/>
          </a:xfrm>
          <a:prstGeom prst="rect">
            <a:avLst/>
          </a:prstGeom>
          <a:noFill/>
          <a:ln/>
        </p:spPr>
        <p:txBody>
          <a:bodyPr wrap="square" lIns="0" tIns="0" rIns="0" bIns="0" rtlCol="0" anchor="ctr"/>
          <a:lstStyle/>
          <a:p>
            <a:pPr algn="ctr" indent="0" marL="0">
              <a:buNone/>
            </a:pPr>
            <a:r>
              <a:rPr lang="en-US" sz="2600" b="1" dirty="0">
                <a:solidFill>
                  <a:srgbClr val="D32F2F"/>
                </a:solidFill>
                <a:latin typeface="Cambria" pitchFamily="34" charset="0"/>
                <a:ea typeface="Cambria" pitchFamily="34" charset="-122"/>
                <a:cs typeface="Cambria" pitchFamily="34" charset="-120"/>
              </a:rPr>
              <a:t>108,04%</a:t>
            </a:r>
            <a:endParaRPr lang="en-US" sz="2600" dirty="0"/>
          </a:p>
        </p:txBody>
      </p:sp>
      <p:sp>
        <p:nvSpPr>
          <p:cNvPr id="13" name="Text 11"/>
          <p:cNvSpPr txBox="1"/>
          <p:nvPr/>
        </p:nvSpPr>
        <p:spPr>
          <a:xfrm>
            <a:off x="4572000" y="2194560"/>
            <a:ext cx="1828800" cy="4572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Claim ratio — Rp 108</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keluar per Rp 100 masuk</a:t>
            </a:r>
            <a:endParaRPr lang="en-US" sz="1000" dirty="0"/>
          </a:p>
        </p:txBody>
      </p:sp>
      <p:sp>
        <p:nvSpPr>
          <p:cNvPr id="14" name="Shape 12"/>
          <p:cNvSpPr/>
          <p:nvPr/>
        </p:nvSpPr>
        <p:spPr>
          <a:xfrm>
            <a:off x="6629400" y="1417320"/>
            <a:ext cx="1920240" cy="1280160"/>
          </a:xfrm>
          <a:prstGeom prst="rect">
            <a:avLst/>
          </a:prstGeom>
          <a:solidFill>
            <a:srgbClr val="FFFFFF"/>
          </a:solidFill>
          <a:ln w="12700">
            <a:solidFill>
              <a:srgbClr val="00897B"/>
            </a:solidFill>
            <a:prstDash val="solid"/>
          </a:ln>
        </p:spPr>
      </p:sp>
      <p:sp>
        <p:nvSpPr>
          <p:cNvPr id="15" name="Text 13"/>
          <p:cNvSpPr txBox="1"/>
          <p:nvPr/>
        </p:nvSpPr>
        <p:spPr>
          <a:xfrm>
            <a:off x="6675120" y="1554480"/>
            <a:ext cx="1828800" cy="640080"/>
          </a:xfrm>
          <a:prstGeom prst="rect">
            <a:avLst/>
          </a:prstGeom>
          <a:noFill/>
          <a:ln/>
        </p:spPr>
        <p:txBody>
          <a:bodyPr wrap="square" lIns="0" tIns="0" rIns="0" bIns="0" rtlCol="0" anchor="ctr"/>
          <a:lstStyle/>
          <a:p>
            <a:pPr algn="ctr" indent="0" marL="0">
              <a:buNone/>
            </a:pPr>
            <a:r>
              <a:rPr lang="en-US" sz="2600" b="1" dirty="0">
                <a:solidFill>
                  <a:srgbClr val="00897B"/>
                </a:solidFill>
                <a:latin typeface="Cambria" pitchFamily="34" charset="0"/>
                <a:ea typeface="Cambria" pitchFamily="34" charset="-122"/>
                <a:cs typeface="Cambria" pitchFamily="34" charset="-120"/>
              </a:rPr>
              <a:t>664 Juta+</a:t>
            </a:r>
            <a:endParaRPr lang="en-US" sz="2600" dirty="0"/>
          </a:p>
        </p:txBody>
      </p:sp>
      <p:sp>
        <p:nvSpPr>
          <p:cNvPr id="16" name="Text 14"/>
          <p:cNvSpPr txBox="1"/>
          <p:nvPr/>
        </p:nvSpPr>
        <p:spPr>
          <a:xfrm>
            <a:off x="6675120" y="2194560"/>
            <a:ext cx="1828800" cy="4572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Kunjungan FKRTL</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per tahun (2023)</a:t>
            </a:r>
            <a:endParaRPr lang="en-US" sz="1000" dirty="0"/>
          </a:p>
        </p:txBody>
      </p:sp>
      <p:sp>
        <p:nvSpPr>
          <p:cNvPr id="17" name="Shape 15"/>
          <p:cNvSpPr/>
          <p:nvPr/>
        </p:nvSpPr>
        <p:spPr>
          <a:xfrm>
            <a:off x="4526280" y="2788920"/>
            <a:ext cx="1920240" cy="36576"/>
          </a:xfrm>
          <a:prstGeom prst="rect">
            <a:avLst/>
          </a:prstGeom>
          <a:solidFill>
            <a:srgbClr val="D32F2F"/>
          </a:solidFill>
          <a:ln w="12700">
            <a:solidFill>
              <a:srgbClr val="D32F2F"/>
            </a:solidFill>
            <a:prstDash val="solid"/>
          </a:ln>
        </p:spPr>
      </p:sp>
      <p:sp>
        <p:nvSpPr>
          <p:cNvPr id="18" name="Shape 16"/>
          <p:cNvSpPr/>
          <p:nvPr/>
        </p:nvSpPr>
        <p:spPr>
          <a:xfrm>
            <a:off x="320040" y="2926080"/>
            <a:ext cx="8503920" cy="1005840"/>
          </a:xfrm>
          <a:prstGeom prst="rect">
            <a:avLst/>
          </a:prstGeom>
          <a:solidFill>
            <a:srgbClr val="FFFFFF"/>
          </a:solidFill>
          <a:ln w="12700">
            <a:solidFill>
              <a:srgbClr val="D32F2F"/>
            </a:solidFill>
            <a:prstDash val="solid"/>
          </a:ln>
          <a:effectLst>
            <a:outerShdw sx="100000" sy="100000" kx="0" ky="0" algn="bl" rotWithShape="0" blurRad="50800" dist="25400" dir="2700000">
              <a:srgbClr val="94A3B8">
                <a:alpha val="15000"/>
              </a:srgbClr>
            </a:outerShdw>
          </a:effectLst>
        </p:spPr>
      </p:sp>
      <p:sp>
        <p:nvSpPr>
          <p:cNvPr id="19" name="Text 17"/>
          <p:cNvSpPr txBox="1"/>
          <p:nvPr/>
        </p:nvSpPr>
        <p:spPr>
          <a:xfrm>
            <a:off x="502920" y="3063240"/>
            <a:ext cx="457200" cy="54864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0" name="Text 18"/>
          <p:cNvSpPr txBox="1"/>
          <p:nvPr/>
        </p:nvSpPr>
        <p:spPr>
          <a:xfrm>
            <a:off x="1005840" y="3017520"/>
            <a:ext cx="7589520" cy="8229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Claim ratio 108% berarti setiap rupiah iuran yang masuk tidak cukup menutup klaim yang dibayarkan — anomali yang tidak terdeteksi sebelum pengiriman memperburuk ketidakseimbangan ini secara sistemik.</a:t>
            </a:r>
            <a:endParaRPr lang="en-US" sz="1200" dirty="0"/>
          </a:p>
        </p:txBody>
      </p:sp>
      <p:sp>
        <p:nvSpPr>
          <p:cNvPr id="21" name="Text 19"/>
          <p:cNvSpPr txBox="1"/>
          <p:nvPr/>
        </p:nvSpPr>
        <p:spPr>
          <a:xfrm>
            <a:off x="320040" y="4892040"/>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Sumber: DJSN 2023 | data.bpjs-kesehatan.go.id</a:t>
            </a:r>
            <a:endParaRPr lang="en-US" sz="900" dirty="0"/>
          </a:p>
        </p:txBody>
      </p:sp>
      <p:sp>
        <p:nvSpPr>
          <p:cNvPr id="22" name="Text 20"/>
          <p:cNvSpPr txBox="1"/>
          <p:nvPr/>
        </p:nvSpPr>
        <p:spPr>
          <a:xfrm>
            <a:off x="8046720" y="4892040"/>
            <a:ext cx="1005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B2  ·  MASALAH &amp; URGENSI</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Variasi biaya klaim yang tidak dapat dijelaskan klinis semata</a:t>
            </a:r>
            <a:endParaRPr lang="en-US" sz="2800" dirty="0"/>
          </a:p>
        </p:txBody>
      </p:sp>
      <p:graphicFrame>
        <p:nvGraphicFramePr>
          <p:cNvPr id="5" name="Chart 0" descr=""/>
          <p:cNvGraphicFramePr/>
          <p:nvPr/>
        </p:nvGraphicFramePr>
        <p:xfrm>
          <a:off x="274320" y="123444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212080" y="1234440"/>
            <a:ext cx="3657600" cy="3200400"/>
          </a:xfrm>
          <a:prstGeom prst="rect">
            <a:avLst/>
          </a:prstGeom>
          <a:solidFill>
            <a:srgbClr val="EEF4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7" name="Text 4"/>
          <p:cNvSpPr txBox="1"/>
          <p:nvPr/>
        </p:nvSpPr>
        <p:spPr>
          <a:xfrm>
            <a:off x="5394960" y="1417320"/>
            <a:ext cx="3291840" cy="457200"/>
          </a:xfrm>
          <a:prstGeom prst="rect">
            <a:avLst/>
          </a:prstGeom>
          <a:noFill/>
          <a:ln/>
        </p:spPr>
        <p:txBody>
          <a:bodyPr wrap="square" lIns="0" tIns="0" rIns="0" bIns="0" rtlCol="0" anchor="ctr"/>
          <a:lstStyle/>
          <a:p>
            <a:pPr indent="0" marL="0">
              <a:buNone/>
            </a:pPr>
            <a:r>
              <a:rPr lang="en-US" sz="2600" b="1" dirty="0">
                <a:solidFill>
                  <a:srgbClr val="D32F2F"/>
                </a:solidFill>
                <a:latin typeface="Cambria" pitchFamily="34" charset="0"/>
                <a:ea typeface="Cambria" pitchFamily="34" charset="-122"/>
                <a:cs typeface="Cambria" pitchFamily="34" charset="-120"/>
              </a:rPr>
              <a:t>2,35×</a:t>
            </a:r>
            <a:endParaRPr lang="en-US" sz="2600" dirty="0"/>
          </a:p>
        </p:txBody>
      </p:sp>
      <p:sp>
        <p:nvSpPr>
          <p:cNvPr id="8" name="Text 5"/>
          <p:cNvSpPr txBox="1"/>
          <p:nvPr/>
        </p:nvSpPr>
        <p:spPr>
          <a:xfrm>
            <a:off x="5394960" y="1856232"/>
            <a:ext cx="3291840" cy="256032"/>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Rasio tertinggi vs terendah</a:t>
            </a:r>
            <a:endParaRPr lang="en-US" sz="1100" dirty="0"/>
          </a:p>
        </p:txBody>
      </p:sp>
      <p:sp>
        <p:nvSpPr>
          <p:cNvPr id="9" name="Text 6"/>
          <p:cNvSpPr txBox="1"/>
          <p:nvPr/>
        </p:nvSpPr>
        <p:spPr>
          <a:xfrm>
            <a:off x="5394960" y="2093976"/>
            <a:ext cx="329184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DKI Jakarta vs Papua Barat (RITL 2018)</a:t>
            </a:r>
            <a:endParaRPr lang="en-US" sz="1000" dirty="0"/>
          </a:p>
        </p:txBody>
      </p:sp>
      <p:sp>
        <p:nvSpPr>
          <p:cNvPr id="10" name="Shape 7"/>
          <p:cNvSpPr/>
          <p:nvPr/>
        </p:nvSpPr>
        <p:spPr>
          <a:xfrm>
            <a:off x="5394960" y="2350008"/>
            <a:ext cx="3291840" cy="9144"/>
          </a:xfrm>
          <a:prstGeom prst="rect">
            <a:avLst/>
          </a:prstGeom>
          <a:solidFill>
            <a:srgbClr val="CBD5E1"/>
          </a:solidFill>
          <a:ln w="12700">
            <a:solidFill>
              <a:srgbClr val="CBD5E1"/>
            </a:solidFill>
            <a:prstDash val="solid"/>
          </a:ln>
        </p:spPr>
      </p:sp>
      <p:sp>
        <p:nvSpPr>
          <p:cNvPr id="11" name="Text 8"/>
          <p:cNvSpPr txBox="1"/>
          <p:nvPr/>
        </p:nvSpPr>
        <p:spPr>
          <a:xfrm>
            <a:off x="5394960" y="2423160"/>
            <a:ext cx="3291840" cy="457200"/>
          </a:xfrm>
          <a:prstGeom prst="rect">
            <a:avLst/>
          </a:prstGeom>
          <a:noFill/>
          <a:ln/>
        </p:spPr>
        <p:txBody>
          <a:bodyPr wrap="square" lIns="0" tIns="0" rIns="0" bIns="0" rtlCol="0" anchor="ctr"/>
          <a:lstStyle/>
          <a:p>
            <a:pPr indent="0" marL="0">
              <a:buNone/>
            </a:pPr>
            <a:r>
              <a:rPr lang="en-US" sz="2600" b="1" dirty="0">
                <a:solidFill>
                  <a:srgbClr val="F59E0B"/>
                </a:solidFill>
                <a:latin typeface="Cambria" pitchFamily="34" charset="0"/>
                <a:ea typeface="Cambria" pitchFamily="34" charset="-122"/>
                <a:cs typeface="Cambria" pitchFamily="34" charset="-120"/>
              </a:rPr>
              <a:t>+51,6%</a:t>
            </a:r>
            <a:endParaRPr lang="en-US" sz="2600" dirty="0"/>
          </a:p>
        </p:txBody>
      </p:sp>
      <p:sp>
        <p:nvSpPr>
          <p:cNvPr id="12" name="Text 9"/>
          <p:cNvSpPr txBox="1"/>
          <p:nvPr/>
        </p:nvSpPr>
        <p:spPr>
          <a:xfrm>
            <a:off x="5394960" y="2862072"/>
            <a:ext cx="3291840" cy="256032"/>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Gap Kelas 1 vs Kelas 3</a:t>
            </a:r>
            <a:endParaRPr lang="en-US" sz="1100" dirty="0"/>
          </a:p>
        </p:txBody>
      </p:sp>
      <p:sp>
        <p:nvSpPr>
          <p:cNvPr id="13" name="Text 10"/>
          <p:cNvSpPr txBox="1"/>
          <p:nvPr/>
        </p:nvSpPr>
        <p:spPr>
          <a:xfrm>
            <a:off x="5394960" y="3099816"/>
            <a:ext cx="329184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Sinyal upcoding kelas perawatan</a:t>
            </a:r>
            <a:endParaRPr lang="en-US" sz="1000" dirty="0"/>
          </a:p>
        </p:txBody>
      </p:sp>
      <p:sp>
        <p:nvSpPr>
          <p:cNvPr id="14" name="Shape 11"/>
          <p:cNvSpPr/>
          <p:nvPr/>
        </p:nvSpPr>
        <p:spPr>
          <a:xfrm>
            <a:off x="5394960" y="3355848"/>
            <a:ext cx="3291840" cy="9144"/>
          </a:xfrm>
          <a:prstGeom prst="rect">
            <a:avLst/>
          </a:prstGeom>
          <a:solidFill>
            <a:srgbClr val="CBD5E1"/>
          </a:solidFill>
          <a:ln w="12700">
            <a:solidFill>
              <a:srgbClr val="CBD5E1"/>
            </a:solidFill>
            <a:prstDash val="solid"/>
          </a:ln>
        </p:spPr>
      </p:sp>
      <p:sp>
        <p:nvSpPr>
          <p:cNvPr id="15" name="Text 12"/>
          <p:cNvSpPr txBox="1"/>
          <p:nvPr/>
        </p:nvSpPr>
        <p:spPr>
          <a:xfrm>
            <a:off x="5394960" y="3429000"/>
            <a:ext cx="3291840" cy="457200"/>
          </a:xfrm>
          <a:prstGeom prst="rect">
            <a:avLst/>
          </a:prstGeom>
          <a:noFill/>
          <a:ln/>
        </p:spPr>
        <p:txBody>
          <a:bodyPr wrap="square" lIns="0" tIns="0" rIns="0" bIns="0" rtlCol="0" anchor="ctr"/>
          <a:lstStyle/>
          <a:p>
            <a:pPr indent="0" marL="0">
              <a:buNone/>
            </a:pPr>
            <a:r>
              <a:rPr lang="en-US" sz="2600" b="1" dirty="0">
                <a:solidFill>
                  <a:srgbClr val="1565C0"/>
                </a:solidFill>
                <a:latin typeface="Cambria" pitchFamily="34" charset="0"/>
                <a:ea typeface="Cambria" pitchFamily="34" charset="-122"/>
                <a:cs typeface="Cambria" pitchFamily="34" charset="-120"/>
              </a:rPr>
              <a:t>+18,7%</a:t>
            </a:r>
            <a:endParaRPr lang="en-US" sz="2600" dirty="0"/>
          </a:p>
        </p:txBody>
      </p:sp>
      <p:sp>
        <p:nvSpPr>
          <p:cNvPr id="16" name="Text 13"/>
          <p:cNvSpPr txBox="1"/>
          <p:nvPr/>
        </p:nvSpPr>
        <p:spPr>
          <a:xfrm>
            <a:off x="5394960" y="3867912"/>
            <a:ext cx="3291840" cy="256032"/>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Sulawesi Utara (RJTL)</a:t>
            </a:r>
            <a:endParaRPr lang="en-US" sz="1100" dirty="0"/>
          </a:p>
        </p:txBody>
      </p:sp>
      <p:sp>
        <p:nvSpPr>
          <p:cNvPr id="17" name="Text 14"/>
          <p:cNvSpPr txBox="1"/>
          <p:nvPr/>
        </p:nvSpPr>
        <p:spPr>
          <a:xfrm>
            <a:off x="5394960" y="4105656"/>
            <a:ext cx="329184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Lonjakan dalam 2 tahun (2015–2017)</a:t>
            </a:r>
            <a:endParaRPr lang="en-US" sz="1000" dirty="0"/>
          </a:p>
        </p:txBody>
      </p:sp>
      <p:sp>
        <p:nvSpPr>
          <p:cNvPr id="18" name="Text 15"/>
          <p:cNvSpPr txBox="1"/>
          <p:nvPr/>
        </p:nvSpPr>
        <p:spPr>
          <a:xfrm>
            <a:off x="274320" y="4892040"/>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Sumber: Tabel 6.3.3 DJSN 2018</a:t>
            </a:r>
            <a:endParaRPr lang="en-US" sz="900" dirty="0"/>
          </a:p>
        </p:txBody>
      </p:sp>
      <p:sp>
        <p:nvSpPr>
          <p:cNvPr id="19" name="Text 16"/>
          <p:cNvSpPr txBox="1"/>
          <p:nvPr/>
        </p:nvSpPr>
        <p:spPr>
          <a:xfrm>
            <a:off x="8046720" y="4892040"/>
            <a:ext cx="1005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B2  ·  MASALAH &amp; URGENSI</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Tidak ada filter internal sebelum klaim dikirim ke BPJS</a:t>
            </a:r>
            <a:endParaRPr lang="en-US" sz="2800" dirty="0"/>
          </a:p>
        </p:txBody>
      </p:sp>
      <p:sp>
        <p:nvSpPr>
          <p:cNvPr id="5" name="Shape 3"/>
          <p:cNvSpPr/>
          <p:nvPr/>
        </p:nvSpPr>
        <p:spPr>
          <a:xfrm>
            <a:off x="274320" y="1371600"/>
            <a:ext cx="1417320" cy="777240"/>
          </a:xfrm>
          <a:prstGeom prst="roundRect">
            <a:avLst>
              <a:gd name="adj" fmla="val 9412"/>
            </a:avLst>
          </a:prstGeom>
          <a:solidFill>
            <a:srgbClr val="00897B"/>
          </a:solidFill>
          <a:ln w="12700">
            <a:solidFill>
              <a:srgbClr val="00897B"/>
            </a:solidFill>
            <a:prstDash val="solid"/>
          </a:ln>
        </p:spPr>
      </p:sp>
      <p:sp>
        <p:nvSpPr>
          <p:cNvPr id="6" name="Text 4"/>
          <p:cNvSpPr txBox="1"/>
          <p:nvPr/>
        </p:nvSpPr>
        <p:spPr>
          <a:xfrm>
            <a:off x="274320" y="1371600"/>
            <a:ext cx="141732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Layanan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diberikan</a:t>
            </a:r>
            <a:endParaRPr lang="en-US" sz="1000" dirty="0"/>
          </a:p>
        </p:txBody>
      </p:sp>
      <p:sp>
        <p:nvSpPr>
          <p:cNvPr id="7" name="Shape 5"/>
          <p:cNvSpPr/>
          <p:nvPr/>
        </p:nvSpPr>
        <p:spPr>
          <a:xfrm>
            <a:off x="1737360" y="1719072"/>
            <a:ext cx="228600" cy="73152"/>
          </a:xfrm>
          <a:prstGeom prst="rect">
            <a:avLst/>
          </a:prstGeom>
          <a:solidFill>
            <a:srgbClr val="64748B"/>
          </a:solidFill>
          <a:ln w="12700">
            <a:solidFill>
              <a:srgbClr val="64748B"/>
            </a:solidFill>
            <a:prstDash val="solid"/>
          </a:ln>
        </p:spPr>
      </p:sp>
      <p:sp>
        <p:nvSpPr>
          <p:cNvPr id="8" name="Shape 6"/>
          <p:cNvSpPr/>
          <p:nvPr/>
        </p:nvSpPr>
        <p:spPr>
          <a:xfrm>
            <a:off x="2011680" y="1371600"/>
            <a:ext cx="1417320" cy="777240"/>
          </a:xfrm>
          <a:prstGeom prst="roundRect">
            <a:avLst>
              <a:gd name="adj" fmla="val 9412"/>
            </a:avLst>
          </a:prstGeom>
          <a:solidFill>
            <a:srgbClr val="1565C0"/>
          </a:solidFill>
          <a:ln w="12700">
            <a:solidFill>
              <a:srgbClr val="1565C0"/>
            </a:solidFill>
            <a:prstDash val="solid"/>
          </a:ln>
        </p:spPr>
      </p:sp>
      <p:sp>
        <p:nvSpPr>
          <p:cNvPr id="9" name="Text 7"/>
          <p:cNvSpPr txBox="1"/>
          <p:nvPr/>
        </p:nvSpPr>
        <p:spPr>
          <a:xfrm>
            <a:off x="2011680" y="1371600"/>
            <a:ext cx="141732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Klaim dibuat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di SIM RS</a:t>
            </a:r>
            <a:endParaRPr lang="en-US" sz="1000" dirty="0"/>
          </a:p>
        </p:txBody>
      </p:sp>
      <p:sp>
        <p:nvSpPr>
          <p:cNvPr id="10" name="Shape 8"/>
          <p:cNvSpPr/>
          <p:nvPr/>
        </p:nvSpPr>
        <p:spPr>
          <a:xfrm>
            <a:off x="3474720" y="1719072"/>
            <a:ext cx="228600" cy="73152"/>
          </a:xfrm>
          <a:prstGeom prst="rect">
            <a:avLst/>
          </a:prstGeom>
          <a:solidFill>
            <a:srgbClr val="64748B"/>
          </a:solidFill>
          <a:ln w="12700">
            <a:solidFill>
              <a:srgbClr val="64748B"/>
            </a:solidFill>
            <a:prstDash val="solid"/>
          </a:ln>
        </p:spPr>
      </p:sp>
      <p:sp>
        <p:nvSpPr>
          <p:cNvPr id="11" name="Shape 9"/>
          <p:cNvSpPr/>
          <p:nvPr/>
        </p:nvSpPr>
        <p:spPr>
          <a:xfrm>
            <a:off x="3749040" y="1371600"/>
            <a:ext cx="1417320" cy="777240"/>
          </a:xfrm>
          <a:prstGeom prst="roundRect">
            <a:avLst>
              <a:gd name="adj" fmla="val 9412"/>
            </a:avLst>
          </a:prstGeom>
          <a:solidFill>
            <a:srgbClr val="0C2461"/>
          </a:solidFill>
          <a:ln w="12700">
            <a:solidFill>
              <a:srgbClr val="0C2461"/>
            </a:solidFill>
            <a:prstDash val="solid"/>
          </a:ln>
        </p:spPr>
      </p:sp>
      <p:sp>
        <p:nvSpPr>
          <p:cNvPr id="12" name="Text 10"/>
          <p:cNvSpPr txBox="1"/>
          <p:nvPr/>
        </p:nvSpPr>
        <p:spPr>
          <a:xfrm>
            <a:off x="3749040" y="1371600"/>
            <a:ext cx="141732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Submit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ke BPJS</a:t>
            </a:r>
            <a:endParaRPr lang="en-US" sz="1000" dirty="0"/>
          </a:p>
        </p:txBody>
      </p:sp>
      <p:sp>
        <p:nvSpPr>
          <p:cNvPr id="13" name="Shape 11"/>
          <p:cNvSpPr/>
          <p:nvPr/>
        </p:nvSpPr>
        <p:spPr>
          <a:xfrm>
            <a:off x="5212080" y="1719072"/>
            <a:ext cx="228600" cy="73152"/>
          </a:xfrm>
          <a:prstGeom prst="rect">
            <a:avLst/>
          </a:prstGeom>
          <a:solidFill>
            <a:srgbClr val="64748B"/>
          </a:solidFill>
          <a:ln w="12700">
            <a:solidFill>
              <a:srgbClr val="64748B"/>
            </a:solidFill>
            <a:prstDash val="solid"/>
          </a:ln>
        </p:spPr>
      </p:sp>
      <p:sp>
        <p:nvSpPr>
          <p:cNvPr id="14" name="Shape 12"/>
          <p:cNvSpPr/>
          <p:nvPr/>
        </p:nvSpPr>
        <p:spPr>
          <a:xfrm>
            <a:off x="5486400" y="1371600"/>
            <a:ext cx="1417320" cy="777240"/>
          </a:xfrm>
          <a:prstGeom prst="roundRect">
            <a:avLst>
              <a:gd name="adj" fmla="val 9412"/>
            </a:avLst>
          </a:prstGeom>
          <a:solidFill>
            <a:srgbClr val="1565C0"/>
          </a:solidFill>
          <a:ln w="12700">
            <a:solidFill>
              <a:srgbClr val="1565C0"/>
            </a:solidFill>
            <a:prstDash val="solid"/>
          </a:ln>
        </p:spPr>
      </p:sp>
      <p:sp>
        <p:nvSpPr>
          <p:cNvPr id="15" name="Text 13"/>
          <p:cNvSpPr txBox="1"/>
          <p:nvPr/>
        </p:nvSpPr>
        <p:spPr>
          <a:xfrm>
            <a:off x="5486400" y="1371600"/>
            <a:ext cx="141732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Verifikasi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BPJS</a:t>
            </a:r>
            <a:endParaRPr lang="en-US" sz="1000" dirty="0"/>
          </a:p>
        </p:txBody>
      </p:sp>
      <p:sp>
        <p:nvSpPr>
          <p:cNvPr id="16" name="Shape 14"/>
          <p:cNvSpPr/>
          <p:nvPr/>
        </p:nvSpPr>
        <p:spPr>
          <a:xfrm>
            <a:off x="6949440" y="1719072"/>
            <a:ext cx="228600" cy="73152"/>
          </a:xfrm>
          <a:prstGeom prst="rect">
            <a:avLst/>
          </a:prstGeom>
          <a:solidFill>
            <a:srgbClr val="64748B"/>
          </a:solidFill>
          <a:ln w="12700">
            <a:solidFill>
              <a:srgbClr val="64748B"/>
            </a:solidFill>
            <a:prstDash val="solid"/>
          </a:ln>
        </p:spPr>
      </p:sp>
      <p:sp>
        <p:nvSpPr>
          <p:cNvPr id="17" name="Shape 15"/>
          <p:cNvSpPr/>
          <p:nvPr/>
        </p:nvSpPr>
        <p:spPr>
          <a:xfrm>
            <a:off x="7223760" y="1371600"/>
            <a:ext cx="1417320" cy="777240"/>
          </a:xfrm>
          <a:prstGeom prst="roundRect">
            <a:avLst>
              <a:gd name="adj" fmla="val 9412"/>
            </a:avLst>
          </a:prstGeom>
          <a:solidFill>
            <a:srgbClr val="D32F2F"/>
          </a:solidFill>
          <a:ln w="12700">
            <a:solidFill>
              <a:srgbClr val="D32F2F"/>
            </a:solidFill>
            <a:prstDash val="solid"/>
          </a:ln>
        </p:spPr>
      </p:sp>
      <p:sp>
        <p:nvSpPr>
          <p:cNvPr id="18" name="Text 16"/>
          <p:cNvSpPr txBox="1"/>
          <p:nvPr/>
        </p:nvSpPr>
        <p:spPr>
          <a:xfrm>
            <a:off x="7223760" y="1371600"/>
            <a:ext cx="141732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Bayar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Tolak</a:t>
            </a:r>
            <a:endParaRPr lang="en-US" sz="1000" dirty="0"/>
          </a:p>
        </p:txBody>
      </p:sp>
      <p:sp>
        <p:nvSpPr>
          <p:cNvPr id="19" name="Shape 17"/>
          <p:cNvSpPr/>
          <p:nvPr/>
        </p:nvSpPr>
        <p:spPr>
          <a:xfrm>
            <a:off x="5029200" y="1353312"/>
            <a:ext cx="502920" cy="813816"/>
          </a:xfrm>
          <a:prstGeom prst="rect">
            <a:avLst/>
          </a:prstGeom>
          <a:solidFill>
            <a:srgbClr val="FFF3CD"/>
          </a:solidFill>
          <a:ln w="12700">
            <a:solidFill>
              <a:srgbClr val="F59E0B"/>
            </a:solidFill>
            <a:prstDash val="solid"/>
          </a:ln>
        </p:spPr>
      </p:sp>
      <p:sp>
        <p:nvSpPr>
          <p:cNvPr id="20" name="Text 18"/>
          <p:cNvSpPr txBox="1"/>
          <p:nvPr/>
        </p:nvSpPr>
        <p:spPr>
          <a:xfrm>
            <a:off x="5029200" y="1353312"/>
            <a:ext cx="502920" cy="813816"/>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GAP</a:t>
            </a:r>
            <a:endParaRPr lang="en-US" sz="900" dirty="0"/>
          </a:p>
        </p:txBody>
      </p:sp>
      <p:sp>
        <p:nvSpPr>
          <p:cNvPr id="21" name="Shape 19"/>
          <p:cNvSpPr/>
          <p:nvPr/>
        </p:nvSpPr>
        <p:spPr>
          <a:xfrm>
            <a:off x="5166360" y="2148840"/>
            <a:ext cx="54864" cy="274320"/>
          </a:xfrm>
          <a:prstGeom prst="rect">
            <a:avLst/>
          </a:prstGeom>
          <a:solidFill>
            <a:srgbClr val="F59E0B"/>
          </a:solidFill>
          <a:ln w="12700">
            <a:solidFill>
              <a:srgbClr val="F59E0B"/>
            </a:solidFill>
            <a:prstDash val="solid"/>
          </a:ln>
        </p:spPr>
      </p:sp>
      <p:sp>
        <p:nvSpPr>
          <p:cNvPr id="22" name="Text 20"/>
          <p:cNvSpPr txBox="1"/>
          <p:nvPr/>
        </p:nvSpPr>
        <p:spPr>
          <a:xfrm>
            <a:off x="5074920" y="2395728"/>
            <a:ext cx="237744" cy="228600"/>
          </a:xfrm>
          <a:prstGeom prst="rect">
            <a:avLst/>
          </a:prstGeom>
          <a:noFill/>
          <a:ln/>
        </p:spPr>
        <p:txBody>
          <a:bodyPr wrap="square" lIns="0" tIns="0" rIns="0" bIns="0" rtlCol="0" anchor="ctr"/>
          <a:lstStyle/>
          <a:p>
            <a:pPr algn="ctr" indent="0" marL="0">
              <a:buNone/>
            </a:pPr>
            <a:r>
              <a:rPr lang="en-US" sz="1200" dirty="0">
                <a:solidFill>
                  <a:srgbClr val="F59E0B"/>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274320" y="2423160"/>
            <a:ext cx="8549640" cy="2331720"/>
          </a:xfrm>
          <a:prstGeom prst="rect">
            <a:avLst/>
          </a:prstGeom>
          <a:solidFill>
            <a:srgbClr val="FFFF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24" name="Text 22"/>
          <p:cNvSpPr txBox="1"/>
          <p:nvPr/>
        </p:nvSpPr>
        <p:spPr>
          <a:xfrm>
            <a:off x="457200" y="2578608"/>
            <a:ext cx="4572000" cy="274320"/>
          </a:xfrm>
          <a:prstGeom prst="rect">
            <a:avLst/>
          </a:prstGeom>
          <a:noFill/>
          <a:ln/>
        </p:spPr>
        <p:txBody>
          <a:bodyPr wrap="square" lIns="0" tIns="0" rIns="0" bIns="0" rtlCol="0" anchor="ctr"/>
          <a:lstStyle/>
          <a:p>
            <a:pPr indent="0" marL="0">
              <a:buNone/>
            </a:pPr>
            <a:r>
              <a:rPr lang="en-US" sz="1300" b="1" dirty="0">
                <a:solidFill>
                  <a:srgbClr val="0C2461"/>
                </a:solidFill>
                <a:latin typeface="Calibri" pitchFamily="34" charset="0"/>
                <a:ea typeface="Calibri" pitchFamily="34" charset="-122"/>
                <a:cs typeface="Calibri" pitchFamily="34" charset="-120"/>
              </a:rPr>
              <a:t>Mengapa ini masalah?</a:t>
            </a:r>
            <a:endParaRPr lang="en-US" sz="1300" dirty="0"/>
          </a:p>
        </p:txBody>
      </p:sp>
      <p:sp>
        <p:nvSpPr>
          <p:cNvPr id="25" name="Text 23"/>
          <p:cNvSpPr txBox="1"/>
          <p:nvPr/>
        </p:nvSpPr>
        <p:spPr>
          <a:xfrm>
            <a:off x="457200" y="2907792"/>
            <a:ext cx="8321040" cy="36576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  Casemix officer (pengguna langsung) bekerja manual — tidak ada sistem deteksi anomali terstruktur</a:t>
            </a:r>
            <a:endParaRPr lang="en-US" sz="1150" dirty="0"/>
          </a:p>
        </p:txBody>
      </p:sp>
      <p:sp>
        <p:nvSpPr>
          <p:cNvPr id="26" name="Text 24"/>
          <p:cNvSpPr txBox="1"/>
          <p:nvPr/>
        </p:nvSpPr>
        <p:spPr>
          <a:xfrm>
            <a:off x="457200" y="3328416"/>
            <a:ext cx="8321040" cy="36576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  Duplikasi klaim antar periode tidak terpantau — tools SIM-RS tidak dirancang untuk cross-check pola</a:t>
            </a:r>
            <a:endParaRPr lang="en-US" sz="1150" dirty="0"/>
          </a:p>
        </p:txBody>
      </p:sp>
      <p:sp>
        <p:nvSpPr>
          <p:cNvPr id="27" name="Text 25"/>
          <p:cNvSpPr txBox="1"/>
          <p:nvPr/>
        </p:nvSpPr>
        <p:spPr>
          <a:xfrm>
            <a:off x="457200" y="3749040"/>
            <a:ext cx="8321040" cy="36576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  Biaya yang menyimpang dari norma wilayah/kelas lolos tanpa peringatan ke payer (BPJS Kesehatan)</a:t>
            </a:r>
            <a:endParaRPr lang="en-US" sz="1150" dirty="0"/>
          </a:p>
        </p:txBody>
      </p:sp>
      <p:sp>
        <p:nvSpPr>
          <p:cNvPr id="28" name="Text 26"/>
          <p:cNvSpPr txBox="1"/>
          <p:nvPr/>
        </p:nvSpPr>
        <p:spPr>
          <a:xfrm>
            <a:off x="457200" y="4169664"/>
            <a:ext cx="8321040" cy="36576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  Penolakan klaim baru diketahui SETELAH submit — proses keberatan 30–90 hari, biaya SDM tinggi</a:t>
            </a:r>
            <a:endParaRPr lang="en-US" sz="1150" dirty="0"/>
          </a:p>
        </p:txBody>
      </p:sp>
      <p:sp>
        <p:nvSpPr>
          <p:cNvPr id="29" name="Text 27"/>
          <p:cNvSpPr txBox="1"/>
          <p:nvPr/>
        </p:nvSpPr>
        <p:spPr>
          <a:xfrm>
            <a:off x="457200" y="4590288"/>
            <a:ext cx="32004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Pengguna langsung: </a:t>
            </a:r>
            <a:endParaRPr lang="en-US" sz="900" dirty="0"/>
          </a:p>
        </p:txBody>
      </p:sp>
      <p:sp>
        <p:nvSpPr>
          <p:cNvPr id="30" name="Text 28"/>
          <p:cNvSpPr txBox="1"/>
          <p:nvPr/>
        </p:nvSpPr>
        <p:spPr>
          <a:xfrm>
            <a:off x="457200" y="4745736"/>
            <a:ext cx="3200400" cy="173736"/>
          </a:xfrm>
          <a:prstGeom prst="rect">
            <a:avLst/>
          </a:prstGeom>
          <a:noFill/>
          <a:ln/>
        </p:spPr>
        <p:txBody>
          <a:bodyPr wrap="square" lIns="0" tIns="0" rIns="0" bIns="0"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Casemix Officer RS</a:t>
            </a:r>
            <a:endParaRPr lang="en-US" sz="950" dirty="0"/>
          </a:p>
        </p:txBody>
      </p:sp>
      <p:sp>
        <p:nvSpPr>
          <p:cNvPr id="31" name="Text 29"/>
          <p:cNvSpPr txBox="1"/>
          <p:nvPr/>
        </p:nvSpPr>
        <p:spPr>
          <a:xfrm>
            <a:off x="3840480" y="4590288"/>
            <a:ext cx="27432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Payer: </a:t>
            </a:r>
            <a:endParaRPr lang="en-US" sz="900" dirty="0"/>
          </a:p>
        </p:txBody>
      </p:sp>
      <p:sp>
        <p:nvSpPr>
          <p:cNvPr id="32" name="Text 30"/>
          <p:cNvSpPr txBox="1"/>
          <p:nvPr/>
        </p:nvSpPr>
        <p:spPr>
          <a:xfrm>
            <a:off x="3840480" y="4745736"/>
            <a:ext cx="2743200" cy="173736"/>
          </a:xfrm>
          <a:prstGeom prst="rect">
            <a:avLst/>
          </a:prstGeom>
          <a:noFill/>
          <a:ln/>
        </p:spPr>
        <p:txBody>
          <a:bodyPr wrap="square" lIns="0" tIns="0" rIns="0" bIns="0" rtlCol="0" anchor="ctr"/>
          <a:lstStyle/>
          <a:p>
            <a:pPr indent="0" marL="0">
              <a:buNone/>
            </a:pPr>
            <a:r>
              <a:rPr lang="en-US" sz="950" b="1" dirty="0">
                <a:solidFill>
                  <a:srgbClr val="0C2461"/>
                </a:solidFill>
                <a:latin typeface="Calibri" pitchFamily="34" charset="0"/>
                <a:ea typeface="Calibri" pitchFamily="34" charset="-122"/>
                <a:cs typeface="Calibri" pitchFamily="34" charset="-120"/>
              </a:rPr>
              <a:t>BPJS Kesehatan</a:t>
            </a:r>
            <a:endParaRPr lang="en-US" sz="950" dirty="0"/>
          </a:p>
        </p:txBody>
      </p:sp>
      <p:sp>
        <p:nvSpPr>
          <p:cNvPr id="33" name="Text 31"/>
          <p:cNvSpPr txBox="1"/>
          <p:nvPr/>
        </p:nvSpPr>
        <p:spPr>
          <a:xfrm>
            <a:off x="6766560" y="4590288"/>
            <a:ext cx="19202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 Gap: </a:t>
            </a:r>
            <a:endParaRPr lang="en-US" sz="900" dirty="0"/>
          </a:p>
        </p:txBody>
      </p:sp>
      <p:sp>
        <p:nvSpPr>
          <p:cNvPr id="34" name="Text 32"/>
          <p:cNvSpPr txBox="1"/>
          <p:nvPr/>
        </p:nvSpPr>
        <p:spPr>
          <a:xfrm>
            <a:off x="6766560" y="4745736"/>
            <a:ext cx="1920240" cy="173736"/>
          </a:xfrm>
          <a:prstGeom prst="rect">
            <a:avLst/>
          </a:prstGeom>
          <a:noFill/>
          <a:ln/>
        </p:spPr>
        <p:txBody>
          <a:bodyPr wrap="square" lIns="0" tIns="0" rIns="0" bIns="0"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Pre-submit</a:t>
            </a:r>
            <a:endParaRPr lang="en-US" sz="950" dirty="0"/>
          </a:p>
        </p:txBody>
      </p:sp>
      <p:sp>
        <p:nvSpPr>
          <p:cNvPr id="35" name="Text 33"/>
          <p:cNvSpPr txBox="1"/>
          <p:nvPr/>
        </p:nvSpPr>
        <p:spPr>
          <a:xfrm>
            <a:off x="8046720" y="4892040"/>
            <a:ext cx="1005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B3  ·  SOLUSI &amp; KEUNGGULAN</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TilikKlaim: Quality Gate internal sebelum submit</a:t>
            </a:r>
            <a:endParaRPr lang="en-US" sz="2800" dirty="0"/>
          </a:p>
        </p:txBody>
      </p:sp>
      <p:sp>
        <p:nvSpPr>
          <p:cNvPr id="5" name="Text 3"/>
          <p:cNvSpPr txBox="1"/>
          <p:nvPr/>
        </p:nvSpPr>
        <p:spPr>
          <a:xfrm>
            <a:off x="274320" y="1234440"/>
            <a:ext cx="2743200" cy="256032"/>
          </a:xfrm>
          <a:prstGeom prst="rect">
            <a:avLst/>
          </a:prstGeom>
          <a:noFill/>
          <a:ln/>
        </p:spPr>
        <p:txBody>
          <a:bodyPr wrap="square" lIns="0" tIns="0" rIns="0" bIns="0" rtlCol="0" anchor="ctr"/>
          <a:lstStyle/>
          <a:p>
            <a:pPr indent="0" marL="0">
              <a:buNone/>
            </a:pPr>
            <a:r>
              <a:rPr lang="en-US" sz="1000" b="1" dirty="0">
                <a:solidFill>
                  <a:srgbClr val="D32F2F"/>
                </a:solidFill>
                <a:latin typeface="Calibri" pitchFamily="34" charset="0"/>
                <a:ea typeface="Calibri" pitchFamily="34" charset="-122"/>
                <a:cs typeface="Calibri" pitchFamily="34" charset="-120"/>
              </a:rPr>
              <a:t>KONDISI SAAT INI</a:t>
            </a:r>
            <a:endParaRPr lang="en-US" sz="1000" dirty="0"/>
          </a:p>
        </p:txBody>
      </p:sp>
      <p:sp>
        <p:nvSpPr>
          <p:cNvPr id="6" name="Shape 4"/>
          <p:cNvSpPr/>
          <p:nvPr/>
        </p:nvSpPr>
        <p:spPr>
          <a:xfrm>
            <a:off x="274320" y="1508760"/>
            <a:ext cx="1783080" cy="457200"/>
          </a:xfrm>
          <a:prstGeom prst="roundRect">
            <a:avLst>
              <a:gd name="adj" fmla="val 12000"/>
            </a:avLst>
          </a:prstGeom>
          <a:solidFill>
            <a:srgbClr val="1565C0"/>
          </a:solidFill>
          <a:ln w="12700">
            <a:solidFill>
              <a:srgbClr val="1565C0"/>
            </a:solidFill>
            <a:prstDash val="solid"/>
          </a:ln>
        </p:spPr>
      </p:sp>
      <p:sp>
        <p:nvSpPr>
          <p:cNvPr id="7" name="Text 5"/>
          <p:cNvSpPr txBox="1"/>
          <p:nvPr/>
        </p:nvSpPr>
        <p:spPr>
          <a:xfrm>
            <a:off x="274320" y="1508760"/>
            <a:ext cx="178308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Klaim dibuat</a:t>
            </a:r>
            <a:endParaRPr lang="en-US" sz="1000" dirty="0"/>
          </a:p>
        </p:txBody>
      </p:sp>
      <p:sp>
        <p:nvSpPr>
          <p:cNvPr id="8" name="Text 6"/>
          <p:cNvSpPr txBox="1"/>
          <p:nvPr/>
        </p:nvSpPr>
        <p:spPr>
          <a:xfrm>
            <a:off x="1993392" y="1581912"/>
            <a:ext cx="274320" cy="3200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423160" y="1508760"/>
            <a:ext cx="1783080" cy="457200"/>
          </a:xfrm>
          <a:prstGeom prst="roundRect">
            <a:avLst>
              <a:gd name="adj" fmla="val 12000"/>
            </a:avLst>
          </a:prstGeom>
          <a:solidFill>
            <a:srgbClr val="0C2461"/>
          </a:solidFill>
          <a:ln w="12700">
            <a:solidFill>
              <a:srgbClr val="0C2461"/>
            </a:solidFill>
            <a:prstDash val="solid"/>
          </a:ln>
        </p:spPr>
      </p:sp>
      <p:sp>
        <p:nvSpPr>
          <p:cNvPr id="10" name="Text 8"/>
          <p:cNvSpPr txBox="1"/>
          <p:nvPr/>
        </p:nvSpPr>
        <p:spPr>
          <a:xfrm>
            <a:off x="2423160" y="1508760"/>
            <a:ext cx="178308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Submit ke BPJS</a:t>
            </a:r>
            <a:endParaRPr lang="en-US" sz="1000" dirty="0"/>
          </a:p>
        </p:txBody>
      </p:sp>
      <p:sp>
        <p:nvSpPr>
          <p:cNvPr id="11" name="Text 9"/>
          <p:cNvSpPr txBox="1"/>
          <p:nvPr/>
        </p:nvSpPr>
        <p:spPr>
          <a:xfrm>
            <a:off x="4142232" y="1581912"/>
            <a:ext cx="274320" cy="3200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4572000" y="1508760"/>
            <a:ext cx="1783080" cy="457200"/>
          </a:xfrm>
          <a:prstGeom prst="roundRect">
            <a:avLst>
              <a:gd name="adj" fmla="val 12000"/>
            </a:avLst>
          </a:prstGeom>
          <a:solidFill>
            <a:srgbClr val="D32F2F"/>
          </a:solidFill>
          <a:ln w="12700">
            <a:solidFill>
              <a:srgbClr val="D32F2F"/>
            </a:solidFill>
            <a:prstDash val="solid"/>
          </a:ln>
        </p:spPr>
      </p:sp>
      <p:sp>
        <p:nvSpPr>
          <p:cNvPr id="13" name="Text 11"/>
          <p:cNvSpPr txBox="1"/>
          <p:nvPr/>
        </p:nvSpPr>
        <p:spPr>
          <a:xfrm>
            <a:off x="4572000" y="1508760"/>
            <a:ext cx="178308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Ditolak</a:t>
            </a:r>
            <a:endParaRPr lang="en-US" sz="1000" dirty="0"/>
          </a:p>
        </p:txBody>
      </p:sp>
      <p:sp>
        <p:nvSpPr>
          <p:cNvPr id="14" name="Text 12"/>
          <p:cNvSpPr txBox="1"/>
          <p:nvPr/>
        </p:nvSpPr>
        <p:spPr>
          <a:xfrm>
            <a:off x="6291072" y="1581912"/>
            <a:ext cx="274320" cy="3200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6720840" y="1508760"/>
            <a:ext cx="1783080" cy="457200"/>
          </a:xfrm>
          <a:prstGeom prst="roundRect">
            <a:avLst>
              <a:gd name="adj" fmla="val 12000"/>
            </a:avLst>
          </a:prstGeom>
          <a:solidFill>
            <a:srgbClr val="D32F2F"/>
          </a:solidFill>
          <a:ln w="12700">
            <a:solidFill>
              <a:srgbClr val="D32F2F"/>
            </a:solidFill>
            <a:prstDash val="solid"/>
          </a:ln>
        </p:spPr>
      </p:sp>
      <p:sp>
        <p:nvSpPr>
          <p:cNvPr id="16" name="Text 14"/>
          <p:cNvSpPr txBox="1"/>
          <p:nvPr/>
        </p:nvSpPr>
        <p:spPr>
          <a:xfrm>
            <a:off x="6720840" y="1508760"/>
            <a:ext cx="178308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Keberatan</a:t>
            </a:r>
            <a:endParaRPr lang="en-US" sz="1000" dirty="0"/>
          </a:p>
        </p:txBody>
      </p:sp>
      <p:sp>
        <p:nvSpPr>
          <p:cNvPr id="17" name="Text 15"/>
          <p:cNvSpPr txBox="1"/>
          <p:nvPr/>
        </p:nvSpPr>
        <p:spPr>
          <a:xfrm>
            <a:off x="274320" y="2212848"/>
            <a:ext cx="3200400" cy="256032"/>
          </a:xfrm>
          <a:prstGeom prst="rect">
            <a:avLst/>
          </a:prstGeom>
          <a:noFill/>
          <a:ln/>
        </p:spPr>
        <p:txBody>
          <a:bodyPr wrap="square" lIns="0" tIns="0" rIns="0" bIns="0"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DENGAN TILIK KLAIM</a:t>
            </a:r>
            <a:endParaRPr lang="en-US" sz="1000" dirty="0"/>
          </a:p>
        </p:txBody>
      </p:sp>
      <p:sp>
        <p:nvSpPr>
          <p:cNvPr id="18" name="Shape 16"/>
          <p:cNvSpPr/>
          <p:nvPr/>
        </p:nvSpPr>
        <p:spPr>
          <a:xfrm>
            <a:off x="274320" y="2487168"/>
            <a:ext cx="1463040" cy="594360"/>
          </a:xfrm>
          <a:prstGeom prst="roundRect">
            <a:avLst>
              <a:gd name="adj" fmla="val 9231"/>
            </a:avLst>
          </a:prstGeom>
          <a:solidFill>
            <a:srgbClr val="1565C0"/>
          </a:solidFill>
          <a:ln w="12700">
            <a:solidFill>
              <a:srgbClr val="1565C0"/>
            </a:solidFill>
            <a:prstDash val="solid"/>
          </a:ln>
        </p:spPr>
      </p:sp>
      <p:sp>
        <p:nvSpPr>
          <p:cNvPr id="19" name="Text 17"/>
          <p:cNvSpPr txBox="1"/>
          <p:nvPr/>
        </p:nvSpPr>
        <p:spPr>
          <a:xfrm>
            <a:off x="274320" y="2487168"/>
            <a:ext cx="1463040" cy="5943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Klaim</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dibuat</a:t>
            </a:r>
            <a:endParaRPr lang="en-US" sz="900" dirty="0"/>
          </a:p>
        </p:txBody>
      </p:sp>
      <p:sp>
        <p:nvSpPr>
          <p:cNvPr id="20" name="Text 18"/>
          <p:cNvSpPr txBox="1"/>
          <p:nvPr/>
        </p:nvSpPr>
        <p:spPr>
          <a:xfrm>
            <a:off x="1673352" y="2615184"/>
            <a:ext cx="182880" cy="347472"/>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2011680" y="2487168"/>
            <a:ext cx="1463040" cy="594360"/>
          </a:xfrm>
          <a:prstGeom prst="roundRect">
            <a:avLst>
              <a:gd name="adj" fmla="val 9231"/>
            </a:avLst>
          </a:prstGeom>
          <a:solidFill>
            <a:srgbClr val="00897B"/>
          </a:solidFill>
          <a:ln w="12700">
            <a:solidFill>
              <a:srgbClr val="00897B"/>
            </a:solidFill>
            <a:prstDash val="solid"/>
          </a:ln>
        </p:spPr>
      </p:sp>
      <p:sp>
        <p:nvSpPr>
          <p:cNvPr id="22" name="Text 20"/>
          <p:cNvSpPr txBox="1"/>
          <p:nvPr/>
        </p:nvSpPr>
        <p:spPr>
          <a:xfrm>
            <a:off x="2011680" y="2487168"/>
            <a:ext cx="1463040" cy="5943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TilikKlaim</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API</a:t>
            </a:r>
            <a:endParaRPr lang="en-US" sz="900" dirty="0"/>
          </a:p>
        </p:txBody>
      </p:sp>
      <p:sp>
        <p:nvSpPr>
          <p:cNvPr id="23" name="Text 21"/>
          <p:cNvSpPr txBox="1"/>
          <p:nvPr/>
        </p:nvSpPr>
        <p:spPr>
          <a:xfrm>
            <a:off x="3410712" y="2615184"/>
            <a:ext cx="182880" cy="347472"/>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3749040" y="2487168"/>
            <a:ext cx="1463040" cy="594360"/>
          </a:xfrm>
          <a:prstGeom prst="roundRect">
            <a:avLst>
              <a:gd name="adj" fmla="val 9231"/>
            </a:avLst>
          </a:prstGeom>
          <a:solidFill>
            <a:srgbClr val="F59E0B"/>
          </a:solidFill>
          <a:ln w="12700">
            <a:solidFill>
              <a:srgbClr val="F59E0B"/>
            </a:solidFill>
            <a:prstDash val="solid"/>
          </a:ln>
        </p:spPr>
      </p:sp>
      <p:sp>
        <p:nvSpPr>
          <p:cNvPr id="25" name="Text 23"/>
          <p:cNvSpPr txBox="1"/>
          <p:nvPr/>
        </p:nvSpPr>
        <p:spPr>
          <a:xfrm>
            <a:off x="3749040" y="2487168"/>
            <a:ext cx="1463040" cy="5943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Risk Signal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Card</a:t>
            </a:r>
            <a:endParaRPr lang="en-US" sz="900" dirty="0"/>
          </a:p>
        </p:txBody>
      </p:sp>
      <p:sp>
        <p:nvSpPr>
          <p:cNvPr id="26" name="Text 24"/>
          <p:cNvSpPr txBox="1"/>
          <p:nvPr/>
        </p:nvSpPr>
        <p:spPr>
          <a:xfrm>
            <a:off x="5148072" y="2615184"/>
            <a:ext cx="182880" cy="347472"/>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27" name="Shape 25"/>
          <p:cNvSpPr/>
          <p:nvPr/>
        </p:nvSpPr>
        <p:spPr>
          <a:xfrm>
            <a:off x="5486400" y="2487168"/>
            <a:ext cx="1463040" cy="594360"/>
          </a:xfrm>
          <a:prstGeom prst="roundRect">
            <a:avLst>
              <a:gd name="adj" fmla="val 9231"/>
            </a:avLst>
          </a:prstGeom>
          <a:solidFill>
            <a:srgbClr val="0C2461"/>
          </a:solidFill>
          <a:ln w="12700">
            <a:solidFill>
              <a:srgbClr val="0C2461"/>
            </a:solidFill>
            <a:prstDash val="solid"/>
          </a:ln>
        </p:spPr>
      </p:sp>
      <p:sp>
        <p:nvSpPr>
          <p:cNvPr id="28" name="Text 26"/>
          <p:cNvSpPr txBox="1"/>
          <p:nvPr/>
        </p:nvSpPr>
        <p:spPr>
          <a:xfrm>
            <a:off x="5486400" y="2487168"/>
            <a:ext cx="1463040" cy="5943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Review</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Casemix</a:t>
            </a:r>
            <a:endParaRPr lang="en-US" sz="900" dirty="0"/>
          </a:p>
        </p:txBody>
      </p:sp>
      <p:sp>
        <p:nvSpPr>
          <p:cNvPr id="29" name="Text 27"/>
          <p:cNvSpPr txBox="1"/>
          <p:nvPr/>
        </p:nvSpPr>
        <p:spPr>
          <a:xfrm>
            <a:off x="6885432" y="2615184"/>
            <a:ext cx="182880" cy="347472"/>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30" name="Shape 28"/>
          <p:cNvSpPr/>
          <p:nvPr/>
        </p:nvSpPr>
        <p:spPr>
          <a:xfrm>
            <a:off x="7223760" y="2487168"/>
            <a:ext cx="1463040" cy="594360"/>
          </a:xfrm>
          <a:prstGeom prst="roundRect">
            <a:avLst>
              <a:gd name="adj" fmla="val 9231"/>
            </a:avLst>
          </a:prstGeom>
          <a:solidFill>
            <a:srgbClr val="00A878"/>
          </a:solidFill>
          <a:ln w="12700">
            <a:solidFill>
              <a:srgbClr val="00A878"/>
            </a:solidFill>
            <a:prstDash val="solid"/>
          </a:ln>
        </p:spPr>
      </p:sp>
      <p:sp>
        <p:nvSpPr>
          <p:cNvPr id="31" name="Text 29"/>
          <p:cNvSpPr txBox="1"/>
          <p:nvPr/>
        </p:nvSpPr>
        <p:spPr>
          <a:xfrm>
            <a:off x="7223760" y="2487168"/>
            <a:ext cx="1463040" cy="5943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Submit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bersih</a:t>
            </a:r>
            <a:endParaRPr lang="en-US" sz="900" dirty="0"/>
          </a:p>
        </p:txBody>
      </p:sp>
      <p:sp>
        <p:nvSpPr>
          <p:cNvPr id="32" name="Shape 30"/>
          <p:cNvSpPr/>
          <p:nvPr/>
        </p:nvSpPr>
        <p:spPr>
          <a:xfrm>
            <a:off x="2011680" y="3081528"/>
            <a:ext cx="18288" cy="320040"/>
          </a:xfrm>
          <a:prstGeom prst="rect">
            <a:avLst/>
          </a:prstGeom>
          <a:solidFill>
            <a:srgbClr val="00897B"/>
          </a:solidFill>
          <a:ln w="12700">
            <a:solidFill>
              <a:srgbClr val="00897B"/>
            </a:solidFill>
            <a:prstDash val="solid"/>
          </a:ln>
        </p:spPr>
      </p:sp>
      <p:sp>
        <p:nvSpPr>
          <p:cNvPr id="33" name="Text 31"/>
          <p:cNvSpPr txBox="1"/>
          <p:nvPr/>
        </p:nvSpPr>
        <p:spPr>
          <a:xfrm>
            <a:off x="2103120" y="3081528"/>
            <a:ext cx="6675120" cy="320040"/>
          </a:xfrm>
          <a:prstGeom prst="rect">
            <a:avLst/>
          </a:prstGeom>
          <a:noFill/>
          <a:ln/>
        </p:spPr>
        <p:txBody>
          <a:bodyPr wrap="square" lIns="0" tIns="0" rIns="0" bIns="0" rtlCol="0" anchor="ctr"/>
          <a:lstStyle/>
          <a:p>
            <a:pPr indent="0" marL="0">
              <a:buNone/>
            </a:pPr>
            <a:r>
              <a:rPr lang="en-US" sz="900" dirty="0">
                <a:solidFill>
                  <a:srgbClr val="00897B"/>
                </a:solidFill>
                <a:latin typeface="Calibri" pitchFamily="34" charset="0"/>
                <a:ea typeface="Calibri" pitchFamily="34" charset="-122"/>
                <a:cs typeface="Calibri" pitchFamily="34" charset="-120"/>
              </a:rPr>
              <a:t>4 Mode: Phantom · Repeat · Inflated Bills · Upcoding · Unbundling · Cloning · Kelas Perawatan</a:t>
            </a:r>
            <a:endParaRPr lang="en-US" sz="900" dirty="0"/>
          </a:p>
        </p:txBody>
      </p:sp>
      <p:sp>
        <p:nvSpPr>
          <p:cNvPr id="34" name="Shape 32"/>
          <p:cNvSpPr/>
          <p:nvPr/>
        </p:nvSpPr>
        <p:spPr>
          <a:xfrm>
            <a:off x="274320" y="3520440"/>
            <a:ext cx="2743200" cy="1234440"/>
          </a:xfrm>
          <a:prstGeom prst="rect">
            <a:avLst/>
          </a:prstGeom>
          <a:solidFill>
            <a:srgbClr val="EEF4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35" name="Text 33"/>
          <p:cNvSpPr txBox="1"/>
          <p:nvPr/>
        </p:nvSpPr>
        <p:spPr>
          <a:xfrm>
            <a:off x="457200" y="3639312"/>
            <a:ext cx="457200" cy="45720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36" name="Text 34"/>
          <p:cNvSpPr txBox="1"/>
          <p:nvPr/>
        </p:nvSpPr>
        <p:spPr>
          <a:xfrm>
            <a:off x="914400" y="3639312"/>
            <a:ext cx="2103120" cy="274320"/>
          </a:xfrm>
          <a:prstGeom prst="rect">
            <a:avLst/>
          </a:prstGeom>
          <a:noFill/>
          <a:ln/>
        </p:spPr>
        <p:txBody>
          <a:bodyPr wrap="square" lIns="0" tIns="0" rIns="0" bIns="0" rtlCol="0" anchor="ctr"/>
          <a:lstStyle/>
          <a:p>
            <a:pPr indent="0" marL="0">
              <a:buNone/>
            </a:pPr>
            <a:r>
              <a:rPr lang="en-US" sz="1000" b="1" dirty="0">
                <a:solidFill>
                  <a:srgbClr val="0C2461"/>
                </a:solidFill>
                <a:latin typeface="Calibri" pitchFamily="34" charset="0"/>
                <a:ea typeface="Calibri" pitchFamily="34" charset="-122"/>
                <a:cs typeface="Calibri" pitchFamily="34" charset="-120"/>
              </a:rPr>
              <a:t>SINYAL, BUKAN TUDUHAN</a:t>
            </a:r>
            <a:endParaRPr lang="en-US" sz="1000" dirty="0"/>
          </a:p>
        </p:txBody>
      </p:sp>
      <p:sp>
        <p:nvSpPr>
          <p:cNvPr id="37" name="Text 35"/>
          <p:cNvSpPr txBox="1"/>
          <p:nvPr/>
        </p:nvSpPr>
        <p:spPr>
          <a:xfrm>
            <a:off x="457200" y="4005072"/>
            <a:ext cx="2560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Sistem melaporkan — manusia memutuskan</a:t>
            </a:r>
            <a:endParaRPr lang="en-US" sz="1100" dirty="0"/>
          </a:p>
        </p:txBody>
      </p:sp>
      <p:sp>
        <p:nvSpPr>
          <p:cNvPr id="38" name="Shape 36"/>
          <p:cNvSpPr/>
          <p:nvPr/>
        </p:nvSpPr>
        <p:spPr>
          <a:xfrm>
            <a:off x="3200400" y="3520440"/>
            <a:ext cx="2743200" cy="1234440"/>
          </a:xfrm>
          <a:prstGeom prst="rect">
            <a:avLst/>
          </a:prstGeom>
          <a:solidFill>
            <a:srgbClr val="EEF4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39" name="Text 37"/>
          <p:cNvSpPr txBox="1"/>
          <p:nvPr/>
        </p:nvSpPr>
        <p:spPr>
          <a:xfrm>
            <a:off x="3383280" y="3639312"/>
            <a:ext cx="457200" cy="45720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40" name="Text 38"/>
          <p:cNvSpPr txBox="1"/>
          <p:nvPr/>
        </p:nvSpPr>
        <p:spPr>
          <a:xfrm>
            <a:off x="3840480" y="3639312"/>
            <a:ext cx="2103120" cy="274320"/>
          </a:xfrm>
          <a:prstGeom prst="rect">
            <a:avLst/>
          </a:prstGeom>
          <a:noFill/>
          <a:ln/>
        </p:spPr>
        <p:txBody>
          <a:bodyPr wrap="square" lIns="0" tIns="0" rIns="0" bIns="0" rtlCol="0" anchor="ctr"/>
          <a:lstStyle/>
          <a:p>
            <a:pPr indent="0" marL="0">
              <a:buNone/>
            </a:pPr>
            <a:r>
              <a:rPr lang="en-US" sz="1000" b="1" dirty="0">
                <a:solidFill>
                  <a:srgbClr val="0C2461"/>
                </a:solidFill>
                <a:latin typeface="Calibri" pitchFamily="34" charset="0"/>
                <a:ea typeface="Calibri" pitchFamily="34" charset="-122"/>
                <a:cs typeface="Calibri" pitchFamily="34" charset="-120"/>
              </a:rPr>
              <a:t>DATA TETAP DI FASKES</a:t>
            </a:r>
            <a:endParaRPr lang="en-US" sz="1000" dirty="0"/>
          </a:p>
        </p:txBody>
      </p:sp>
      <p:sp>
        <p:nvSpPr>
          <p:cNvPr id="41" name="Text 39"/>
          <p:cNvSpPr txBox="1"/>
          <p:nvPr/>
        </p:nvSpPr>
        <p:spPr>
          <a:xfrm>
            <a:off x="3383280" y="4005072"/>
            <a:ext cx="2560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Tidak ada data keluar ke server eksternal</a:t>
            </a:r>
            <a:endParaRPr lang="en-US" sz="1100" dirty="0"/>
          </a:p>
        </p:txBody>
      </p:sp>
      <p:sp>
        <p:nvSpPr>
          <p:cNvPr id="42" name="Shape 40"/>
          <p:cNvSpPr/>
          <p:nvPr/>
        </p:nvSpPr>
        <p:spPr>
          <a:xfrm>
            <a:off x="6126480" y="3520440"/>
            <a:ext cx="2743200" cy="1234440"/>
          </a:xfrm>
          <a:prstGeom prst="rect">
            <a:avLst/>
          </a:prstGeom>
          <a:solidFill>
            <a:srgbClr val="EEF4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43" name="Text 41"/>
          <p:cNvSpPr txBox="1"/>
          <p:nvPr/>
        </p:nvSpPr>
        <p:spPr>
          <a:xfrm>
            <a:off x="6309360" y="3639312"/>
            <a:ext cx="457200" cy="45720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44" name="Text 42"/>
          <p:cNvSpPr txBox="1"/>
          <p:nvPr/>
        </p:nvSpPr>
        <p:spPr>
          <a:xfrm>
            <a:off x="6766560" y="3639312"/>
            <a:ext cx="2103120" cy="274320"/>
          </a:xfrm>
          <a:prstGeom prst="rect">
            <a:avLst/>
          </a:prstGeom>
          <a:noFill/>
          <a:ln/>
        </p:spPr>
        <p:txBody>
          <a:bodyPr wrap="square" lIns="0" tIns="0" rIns="0" bIns="0" rtlCol="0" anchor="ctr"/>
          <a:lstStyle/>
          <a:p>
            <a:pPr indent="0" marL="0">
              <a:buNone/>
            </a:pPr>
            <a:r>
              <a:rPr lang="en-US" sz="1000" b="1" dirty="0">
                <a:solidFill>
                  <a:srgbClr val="0C2461"/>
                </a:solidFill>
                <a:latin typeface="Calibri" pitchFamily="34" charset="0"/>
                <a:ea typeface="Calibri" pitchFamily="34" charset="-122"/>
                <a:cs typeface="Calibri" pitchFamily="34" charset="-120"/>
              </a:rPr>
              <a:t>SETIAP LANGKAH TERCATAT</a:t>
            </a:r>
            <a:endParaRPr lang="en-US" sz="1000" dirty="0"/>
          </a:p>
        </p:txBody>
      </p:sp>
      <p:sp>
        <p:nvSpPr>
          <p:cNvPr id="45" name="Text 43"/>
          <p:cNvSpPr txBox="1"/>
          <p:nvPr/>
        </p:nvSpPr>
        <p:spPr>
          <a:xfrm>
            <a:off x="6309360" y="4005072"/>
            <a:ext cx="2560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Audit trail immutable untuk setiap disposisi</a:t>
            </a:r>
            <a:endParaRPr lang="en-US" sz="1100" dirty="0"/>
          </a:p>
        </p:txBody>
      </p:sp>
      <p:sp>
        <p:nvSpPr>
          <p:cNvPr id="46" name="Text 44"/>
          <p:cNvSpPr txBox="1"/>
          <p:nvPr/>
        </p:nvSpPr>
        <p:spPr>
          <a:xfrm>
            <a:off x="8046720" y="4892040"/>
            <a:ext cx="1005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B3  ·  SOLUSI &amp; KEUNGGULAN</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Output: Apa yang dilihat Casemix Officer?</a:t>
            </a:r>
            <a:endParaRPr lang="en-US" sz="2800" dirty="0"/>
          </a:p>
        </p:txBody>
      </p:sp>
      <p:sp>
        <p:nvSpPr>
          <p:cNvPr id="5" name="Shape 3"/>
          <p:cNvSpPr/>
          <p:nvPr/>
        </p:nvSpPr>
        <p:spPr>
          <a:xfrm>
            <a:off x="274320" y="1234440"/>
            <a:ext cx="5029200" cy="3611880"/>
          </a:xfrm>
          <a:prstGeom prst="rect">
            <a:avLst/>
          </a:prstGeom>
          <a:solidFill>
            <a:srgbClr val="FFFF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6" name="Shape 4"/>
          <p:cNvSpPr/>
          <p:nvPr/>
        </p:nvSpPr>
        <p:spPr>
          <a:xfrm>
            <a:off x="274320" y="1234440"/>
            <a:ext cx="5029200" cy="475488"/>
          </a:xfrm>
          <a:prstGeom prst="rect">
            <a:avLst/>
          </a:prstGeom>
          <a:solidFill>
            <a:srgbClr val="0C2461"/>
          </a:solidFill>
          <a:ln w="12700">
            <a:solidFill>
              <a:srgbClr val="0C2461"/>
            </a:solidFill>
            <a:prstDash val="solid"/>
          </a:ln>
        </p:spPr>
      </p:sp>
      <p:sp>
        <p:nvSpPr>
          <p:cNvPr id="7" name="Text 5"/>
          <p:cNvSpPr txBox="1"/>
          <p:nvPr/>
        </p:nvSpPr>
        <p:spPr>
          <a:xfrm>
            <a:off x="457200" y="1234440"/>
            <a:ext cx="274320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RISK SIGNAL CARD</a:t>
            </a:r>
            <a:endParaRPr lang="en-US" sz="1100" dirty="0"/>
          </a:p>
        </p:txBody>
      </p:sp>
      <p:sp>
        <p:nvSpPr>
          <p:cNvPr id="8" name="Text 6"/>
          <p:cNvSpPr txBox="1"/>
          <p:nvPr/>
        </p:nvSpPr>
        <p:spPr>
          <a:xfrm>
            <a:off x="3017520" y="1234440"/>
            <a:ext cx="2103120" cy="475488"/>
          </a:xfrm>
          <a:prstGeom prst="rect">
            <a:avLst/>
          </a:prstGeom>
          <a:noFill/>
          <a:ln/>
        </p:spPr>
        <p:txBody>
          <a:bodyPr wrap="square" lIns="0" tIns="0" rIns="0" bIns="0" rtlCol="0" anchor="ctr"/>
          <a:lstStyle/>
          <a:p>
            <a:pPr algn="r" indent="0" marL="0">
              <a:buNone/>
            </a:pPr>
            <a:r>
              <a:rPr lang="en-US" sz="1000" dirty="0">
                <a:solidFill>
                  <a:srgbClr val="B0C4DE"/>
                </a:solidFill>
                <a:latin typeface="Calibri" pitchFamily="34" charset="0"/>
                <a:ea typeface="Calibri" pitchFamily="34" charset="-122"/>
                <a:cs typeface="Calibri" pitchFamily="34" charset="-120"/>
              </a:rPr>
              <a:t>Klaim #INV-2024-087341</a:t>
            </a:r>
            <a:endParaRPr lang="en-US" sz="1000" dirty="0"/>
          </a:p>
        </p:txBody>
      </p:sp>
      <p:sp>
        <p:nvSpPr>
          <p:cNvPr id="9" name="Shape 7"/>
          <p:cNvSpPr/>
          <p:nvPr/>
        </p:nvSpPr>
        <p:spPr>
          <a:xfrm>
            <a:off x="274320" y="1709928"/>
            <a:ext cx="5029200" cy="347472"/>
          </a:xfrm>
          <a:prstGeom prst="rect">
            <a:avLst/>
          </a:prstGeom>
          <a:solidFill>
            <a:srgbClr val="F8FAFC"/>
          </a:solidFill>
          <a:ln w="12700">
            <a:solidFill>
              <a:srgbClr val="CBD5E1"/>
            </a:solidFill>
            <a:prstDash val="solid"/>
          </a:ln>
        </p:spPr>
      </p:sp>
      <p:sp>
        <p:nvSpPr>
          <p:cNvPr id="10" name="Text 8"/>
          <p:cNvSpPr txBox="1"/>
          <p:nvPr/>
        </p:nvSpPr>
        <p:spPr>
          <a:xfrm>
            <a:off x="411480" y="1709928"/>
            <a:ext cx="475488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Pasien: [ID Anonim]   ·   Faskes: RS X   ·   Tgl: 12 Mar 2024   ·   Kelas: 2</a:t>
            </a:r>
            <a:endParaRPr lang="en-US" sz="1000" dirty="0"/>
          </a:p>
        </p:txBody>
      </p:sp>
      <p:sp>
        <p:nvSpPr>
          <p:cNvPr id="11" name="Shape 9"/>
          <p:cNvSpPr/>
          <p:nvPr/>
        </p:nvSpPr>
        <p:spPr>
          <a:xfrm>
            <a:off x="274320" y="2057400"/>
            <a:ext cx="5029200" cy="274320"/>
          </a:xfrm>
          <a:prstGeom prst="rect">
            <a:avLst/>
          </a:prstGeom>
          <a:solidFill>
            <a:srgbClr val="FFF3CD"/>
          </a:solidFill>
          <a:ln w="12700">
            <a:solidFill>
              <a:srgbClr val="F59E0B"/>
            </a:solidFill>
            <a:prstDash val="solid"/>
          </a:ln>
        </p:spPr>
      </p:sp>
      <p:sp>
        <p:nvSpPr>
          <p:cNvPr id="12" name="Text 10"/>
          <p:cNvSpPr txBox="1"/>
          <p:nvPr/>
        </p:nvSpPr>
        <p:spPr>
          <a:xfrm>
            <a:off x="411480" y="2057400"/>
            <a:ext cx="4754880" cy="274320"/>
          </a:xfrm>
          <a:prstGeom prst="rect">
            <a:avLst/>
          </a:prstGeom>
          <a:noFill/>
          <a:ln/>
        </p:spPr>
        <p:txBody>
          <a:bodyPr wrap="square" lIns="0" tIns="0" rIns="0" bIns="0" rtlCol="0" anchor="ctr"/>
          <a:lstStyle/>
          <a:p>
            <a:pPr indent="0" marL="0">
              <a:buNone/>
            </a:pPr>
            <a:r>
              <a:rPr lang="en-US" sz="1000" b="1" dirty="0">
                <a:solidFill>
                  <a:srgbClr val="B45309"/>
                </a:solidFill>
                <a:latin typeface="Calibri" pitchFamily="34" charset="0"/>
                <a:ea typeface="Calibri" pitchFamily="34" charset="-122"/>
                <a:cs typeface="Calibri" pitchFamily="34" charset="-120"/>
              </a:rPr>
              <a:t>⚠️   SINYAL TERDETEKSI — INFLATED BILLS     Risiko: TINGGI</a:t>
            </a:r>
            <a:endParaRPr lang="en-US" sz="1000" dirty="0"/>
          </a:p>
        </p:txBody>
      </p:sp>
      <p:sp>
        <p:nvSpPr>
          <p:cNvPr id="13" name="Text 11"/>
          <p:cNvSpPr txBox="1"/>
          <p:nvPr/>
        </p:nvSpPr>
        <p:spPr>
          <a:xfrm>
            <a:off x="411480" y="2423160"/>
            <a:ext cx="3017520"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Biaya klaim diajukan:</a:t>
            </a:r>
            <a:endParaRPr lang="en-US" sz="1000" dirty="0"/>
          </a:p>
        </p:txBody>
      </p:sp>
      <p:sp>
        <p:nvSpPr>
          <p:cNvPr id="14" name="Text 12"/>
          <p:cNvSpPr txBox="1"/>
          <p:nvPr/>
        </p:nvSpPr>
        <p:spPr>
          <a:xfrm>
            <a:off x="3429000" y="2423160"/>
            <a:ext cx="1737360" cy="274320"/>
          </a:xfrm>
          <a:prstGeom prst="rect">
            <a:avLst/>
          </a:prstGeom>
          <a:noFill/>
          <a:ln/>
        </p:spPr>
        <p:txBody>
          <a:bodyPr wrap="square" lIns="0" tIns="0" rIns="0" bIns="0" rtlCol="0" anchor="ctr"/>
          <a:lstStyle/>
          <a:p>
            <a:pPr algn="r" indent="0" marL="0">
              <a:buNone/>
            </a:pPr>
            <a:r>
              <a:rPr lang="en-US" sz="1000" b="1" dirty="0">
                <a:solidFill>
                  <a:srgbClr val="D32F2F"/>
                </a:solidFill>
                <a:latin typeface="Calibri" pitchFamily="34" charset="0"/>
                <a:ea typeface="Calibri" pitchFamily="34" charset="-122"/>
                <a:cs typeface="Calibri" pitchFamily="34" charset="-120"/>
              </a:rPr>
              <a:t>Rp 9.200.000</a:t>
            </a:r>
            <a:endParaRPr lang="en-US" sz="1000" dirty="0"/>
          </a:p>
        </p:txBody>
      </p:sp>
      <p:sp>
        <p:nvSpPr>
          <p:cNvPr id="15" name="Text 13"/>
          <p:cNvSpPr txBox="1"/>
          <p:nvPr/>
        </p:nvSpPr>
        <p:spPr>
          <a:xfrm>
            <a:off x="411480" y="2724912"/>
            <a:ext cx="3017520"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Ekspektasi (Prov×Kelas×Usia):</a:t>
            </a:r>
            <a:endParaRPr lang="en-US" sz="1000" dirty="0"/>
          </a:p>
        </p:txBody>
      </p:sp>
      <p:sp>
        <p:nvSpPr>
          <p:cNvPr id="16" name="Text 14"/>
          <p:cNvSpPr txBox="1"/>
          <p:nvPr/>
        </p:nvSpPr>
        <p:spPr>
          <a:xfrm>
            <a:off x="3429000" y="2724912"/>
            <a:ext cx="1737360" cy="274320"/>
          </a:xfrm>
          <a:prstGeom prst="rect">
            <a:avLst/>
          </a:prstGeom>
          <a:noFill/>
          <a:ln/>
        </p:spPr>
        <p:txBody>
          <a:bodyPr wrap="square" lIns="0" tIns="0" rIns="0" bIns="0" rtlCol="0" anchor="ctr"/>
          <a:lstStyle/>
          <a:p>
            <a:pPr algn="r" indent="0" marL="0">
              <a:buNone/>
            </a:pPr>
            <a:r>
              <a:rPr lang="en-US" sz="1000" b="1" dirty="0">
                <a:solidFill>
                  <a:srgbClr val="00897B"/>
                </a:solidFill>
                <a:latin typeface="Calibri" pitchFamily="34" charset="0"/>
                <a:ea typeface="Calibri" pitchFamily="34" charset="-122"/>
                <a:cs typeface="Calibri" pitchFamily="34" charset="-120"/>
              </a:rPr>
              <a:t>Rp 4.750.000 ± Rp 1.200.000</a:t>
            </a:r>
            <a:endParaRPr lang="en-US" sz="1000" dirty="0"/>
          </a:p>
        </p:txBody>
      </p:sp>
      <p:sp>
        <p:nvSpPr>
          <p:cNvPr id="17" name="Text 15"/>
          <p:cNvSpPr txBox="1"/>
          <p:nvPr/>
        </p:nvSpPr>
        <p:spPr>
          <a:xfrm>
            <a:off x="411480" y="3026664"/>
            <a:ext cx="3017520"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Deviasi dari mean + 2σ:</a:t>
            </a:r>
            <a:endParaRPr lang="en-US" sz="1000" dirty="0"/>
          </a:p>
        </p:txBody>
      </p:sp>
      <p:sp>
        <p:nvSpPr>
          <p:cNvPr id="18" name="Text 16"/>
          <p:cNvSpPr txBox="1"/>
          <p:nvPr/>
        </p:nvSpPr>
        <p:spPr>
          <a:xfrm>
            <a:off x="3429000" y="3026664"/>
            <a:ext cx="1737360" cy="274320"/>
          </a:xfrm>
          <a:prstGeom prst="rect">
            <a:avLst/>
          </a:prstGeom>
          <a:noFill/>
          <a:ln/>
        </p:spPr>
        <p:txBody>
          <a:bodyPr wrap="square" lIns="0" tIns="0" rIns="0" bIns="0" rtlCol="0" anchor="ctr"/>
          <a:lstStyle/>
          <a:p>
            <a:pPr algn="r" indent="0" marL="0">
              <a:buNone/>
            </a:pPr>
            <a:r>
              <a:rPr lang="en-US" sz="1000" b="1" dirty="0">
                <a:solidFill>
                  <a:srgbClr val="F59E0B"/>
                </a:solidFill>
                <a:latin typeface="Calibri" pitchFamily="34" charset="0"/>
                <a:ea typeface="Calibri" pitchFamily="34" charset="-122"/>
                <a:cs typeface="Calibri" pitchFamily="34" charset="-120"/>
              </a:rPr>
              <a:t>+53%</a:t>
            </a:r>
            <a:endParaRPr lang="en-US" sz="1000" dirty="0"/>
          </a:p>
        </p:txBody>
      </p:sp>
      <p:sp>
        <p:nvSpPr>
          <p:cNvPr id="19" name="Text 17"/>
          <p:cNvSpPr txBox="1"/>
          <p:nvPr/>
        </p:nvSpPr>
        <p:spPr>
          <a:xfrm>
            <a:off x="411480" y="3328416"/>
            <a:ext cx="3017520"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Sumber referensi:</a:t>
            </a:r>
            <a:endParaRPr lang="en-US" sz="1000" dirty="0"/>
          </a:p>
        </p:txBody>
      </p:sp>
      <p:sp>
        <p:nvSpPr>
          <p:cNvPr id="20" name="Text 18"/>
          <p:cNvSpPr txBox="1"/>
          <p:nvPr/>
        </p:nvSpPr>
        <p:spPr>
          <a:xfrm>
            <a:off x="3429000" y="3328416"/>
            <a:ext cx="1737360" cy="274320"/>
          </a:xfrm>
          <a:prstGeom prst="rect">
            <a:avLst/>
          </a:prstGeom>
          <a:noFill/>
          <a:ln/>
        </p:spPr>
        <p:txBody>
          <a:bodyPr wrap="square" lIns="0" tIns="0" rIns="0" bIns="0" rtlCol="0" anchor="ctr"/>
          <a:lstStyle/>
          <a:p>
            <a:pPr algn="r" indent="0" marL="0">
              <a:buNone/>
            </a:pPr>
            <a:r>
              <a:rPr lang="en-US" sz="1000" b="1" dirty="0">
                <a:solidFill>
                  <a:srgbClr val="64748B"/>
                </a:solidFill>
                <a:latin typeface="Calibri" pitchFamily="34" charset="0"/>
                <a:ea typeface="Calibri" pitchFamily="34" charset="-122"/>
                <a:cs typeface="Calibri" pitchFamily="34" charset="-120"/>
              </a:rPr>
              <a:t>DJSN 2018 — Tabel 6.3.3</a:t>
            </a:r>
            <a:endParaRPr lang="en-US" sz="1000" dirty="0"/>
          </a:p>
        </p:txBody>
      </p:sp>
      <p:sp>
        <p:nvSpPr>
          <p:cNvPr id="21" name="Shape 19"/>
          <p:cNvSpPr/>
          <p:nvPr/>
        </p:nvSpPr>
        <p:spPr>
          <a:xfrm>
            <a:off x="274320" y="3639312"/>
            <a:ext cx="5029200" cy="18288"/>
          </a:xfrm>
          <a:prstGeom prst="rect">
            <a:avLst/>
          </a:prstGeom>
          <a:solidFill>
            <a:srgbClr val="CBD5E1"/>
          </a:solidFill>
          <a:ln w="12700">
            <a:solidFill>
              <a:srgbClr val="CBD5E1"/>
            </a:solidFill>
            <a:prstDash val="solid"/>
          </a:ln>
        </p:spPr>
      </p:sp>
      <p:sp>
        <p:nvSpPr>
          <p:cNvPr id="22" name="Text 20"/>
          <p:cNvSpPr txBox="1"/>
          <p:nvPr/>
        </p:nvSpPr>
        <p:spPr>
          <a:xfrm>
            <a:off x="411480" y="3685032"/>
            <a:ext cx="4572000" cy="228600"/>
          </a:xfrm>
          <a:prstGeom prst="rect">
            <a:avLst/>
          </a:prstGeom>
          <a:noFill/>
          <a:ln/>
        </p:spPr>
        <p:txBody>
          <a:bodyPr wrap="square" lIns="0" tIns="0" rIns="0" bIns="0" rtlCol="0" anchor="ctr"/>
          <a:lstStyle/>
          <a:p>
            <a:pPr indent="0" marL="0">
              <a:buNone/>
            </a:pPr>
            <a:r>
              <a:rPr lang="en-US" sz="900" b="1" dirty="0">
                <a:solidFill>
                  <a:srgbClr val="0C2461"/>
                </a:solidFill>
                <a:latin typeface="Calibri" pitchFamily="34" charset="0"/>
                <a:ea typeface="Calibri" pitchFamily="34" charset="-122"/>
                <a:cs typeface="Calibri" pitchFamily="34" charset="-120"/>
              </a:rPr>
              <a:t>DISPOSISI (wajib pilih + isi alasan):</a:t>
            </a:r>
            <a:endParaRPr lang="en-US" sz="900" dirty="0"/>
          </a:p>
        </p:txBody>
      </p:sp>
      <p:sp>
        <p:nvSpPr>
          <p:cNvPr id="23" name="Shape 21"/>
          <p:cNvSpPr/>
          <p:nvPr/>
        </p:nvSpPr>
        <p:spPr>
          <a:xfrm>
            <a:off x="411480" y="3931920"/>
            <a:ext cx="1417320" cy="320040"/>
          </a:xfrm>
          <a:prstGeom prst="roundRect">
            <a:avLst>
              <a:gd name="adj" fmla="val 14286"/>
            </a:avLst>
          </a:prstGeom>
          <a:solidFill>
            <a:srgbClr val="00A878"/>
          </a:solidFill>
          <a:ln w="12700">
            <a:solidFill>
              <a:srgbClr val="00A878"/>
            </a:solidFill>
            <a:prstDash val="solid"/>
          </a:ln>
        </p:spPr>
      </p:sp>
      <p:sp>
        <p:nvSpPr>
          <p:cNvPr id="24" name="Text 22"/>
          <p:cNvSpPr txBox="1"/>
          <p:nvPr/>
        </p:nvSpPr>
        <p:spPr>
          <a:xfrm>
            <a:off x="411480" y="393192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Setuju</a:t>
            </a:r>
            <a:endParaRPr lang="en-US" sz="900" dirty="0"/>
          </a:p>
        </p:txBody>
      </p:sp>
      <p:sp>
        <p:nvSpPr>
          <p:cNvPr id="25" name="Shape 23"/>
          <p:cNvSpPr/>
          <p:nvPr/>
        </p:nvSpPr>
        <p:spPr>
          <a:xfrm>
            <a:off x="2011680" y="3931920"/>
            <a:ext cx="1417320" cy="320040"/>
          </a:xfrm>
          <a:prstGeom prst="roundRect">
            <a:avLst>
              <a:gd name="adj" fmla="val 14286"/>
            </a:avLst>
          </a:prstGeom>
          <a:solidFill>
            <a:srgbClr val="F59E0B"/>
          </a:solidFill>
          <a:ln w="12700">
            <a:solidFill>
              <a:srgbClr val="F59E0B"/>
            </a:solidFill>
            <a:prstDash val="solid"/>
          </a:ln>
        </p:spPr>
      </p:sp>
      <p:sp>
        <p:nvSpPr>
          <p:cNvPr id="26" name="Text 24"/>
          <p:cNvSpPr txBox="1"/>
          <p:nvPr/>
        </p:nvSpPr>
        <p:spPr>
          <a:xfrm>
            <a:off x="2011680" y="393192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Investigasi</a:t>
            </a:r>
            <a:endParaRPr lang="en-US" sz="900" dirty="0"/>
          </a:p>
        </p:txBody>
      </p:sp>
      <p:sp>
        <p:nvSpPr>
          <p:cNvPr id="27" name="Shape 25"/>
          <p:cNvSpPr/>
          <p:nvPr/>
        </p:nvSpPr>
        <p:spPr>
          <a:xfrm>
            <a:off x="3611880" y="3931920"/>
            <a:ext cx="1417320" cy="320040"/>
          </a:xfrm>
          <a:prstGeom prst="roundRect">
            <a:avLst>
              <a:gd name="adj" fmla="val 14286"/>
            </a:avLst>
          </a:prstGeom>
          <a:solidFill>
            <a:srgbClr val="D32F2F"/>
          </a:solidFill>
          <a:ln w="12700">
            <a:solidFill>
              <a:srgbClr val="D32F2F"/>
            </a:solidFill>
            <a:prstDash val="solid"/>
          </a:ln>
        </p:spPr>
      </p:sp>
      <p:sp>
        <p:nvSpPr>
          <p:cNvPr id="28" name="Text 26"/>
          <p:cNvSpPr txBox="1"/>
          <p:nvPr/>
        </p:nvSpPr>
        <p:spPr>
          <a:xfrm>
            <a:off x="3611880" y="393192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Eskalasi</a:t>
            </a:r>
            <a:endParaRPr lang="en-US" sz="900" dirty="0"/>
          </a:p>
        </p:txBody>
      </p:sp>
      <p:sp>
        <p:nvSpPr>
          <p:cNvPr id="29" name="Shape 27"/>
          <p:cNvSpPr/>
          <p:nvPr/>
        </p:nvSpPr>
        <p:spPr>
          <a:xfrm>
            <a:off x="5486400" y="1234440"/>
            <a:ext cx="3337560" cy="3611880"/>
          </a:xfrm>
          <a:prstGeom prst="rect">
            <a:avLst/>
          </a:prstGeom>
          <a:solidFill>
            <a:srgbClr val="E8EAF6"/>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30" name="Text 28"/>
          <p:cNvSpPr txBox="1"/>
          <p:nvPr/>
        </p:nvSpPr>
        <p:spPr>
          <a:xfrm>
            <a:off x="5669280" y="1417320"/>
            <a:ext cx="2926080" cy="27432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AUDIT TRAIL</a:t>
            </a:r>
            <a:endParaRPr lang="en-US" sz="1100" dirty="0"/>
          </a:p>
        </p:txBody>
      </p:sp>
      <p:sp>
        <p:nvSpPr>
          <p:cNvPr id="31" name="Shape 29"/>
          <p:cNvSpPr/>
          <p:nvPr/>
        </p:nvSpPr>
        <p:spPr>
          <a:xfrm>
            <a:off x="5669280" y="1783080"/>
            <a:ext cx="2926080" cy="868680"/>
          </a:xfrm>
          <a:prstGeom prst="roundRect">
            <a:avLst>
              <a:gd name="adj" fmla="val 5263"/>
            </a:avLst>
          </a:prstGeom>
          <a:solidFill>
            <a:srgbClr val="FFFFFF"/>
          </a:solidFill>
          <a:ln w="12700">
            <a:solidFill>
              <a:srgbClr val="CBD5E1"/>
            </a:solidFill>
            <a:prstDash val="solid"/>
          </a:ln>
        </p:spPr>
      </p:sp>
      <p:sp>
        <p:nvSpPr>
          <p:cNvPr id="32" name="Text 30"/>
          <p:cNvSpPr txBox="1"/>
          <p:nvPr/>
        </p:nvSpPr>
        <p:spPr>
          <a:xfrm>
            <a:off x="5760720" y="1828800"/>
            <a:ext cx="2743200" cy="7772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2024-03-12 14:32:01</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Sistem: INFLATED_BILLS_FLAG</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Score: 0.89 | Threshold: 0.70</a:t>
            </a:r>
            <a:endParaRPr lang="en-US" sz="900" dirty="0"/>
          </a:p>
        </p:txBody>
      </p:sp>
      <p:sp>
        <p:nvSpPr>
          <p:cNvPr id="33" name="Shape 31"/>
          <p:cNvSpPr/>
          <p:nvPr/>
        </p:nvSpPr>
        <p:spPr>
          <a:xfrm>
            <a:off x="5669280" y="2788920"/>
            <a:ext cx="2926080" cy="868680"/>
          </a:xfrm>
          <a:prstGeom prst="roundRect">
            <a:avLst>
              <a:gd name="adj" fmla="val 5263"/>
            </a:avLst>
          </a:prstGeom>
          <a:solidFill>
            <a:srgbClr val="FFFFFF"/>
          </a:solidFill>
          <a:ln w="12700">
            <a:solidFill>
              <a:srgbClr val="CBD5E1"/>
            </a:solidFill>
            <a:prstDash val="solid"/>
          </a:ln>
        </p:spPr>
      </p:sp>
      <p:sp>
        <p:nvSpPr>
          <p:cNvPr id="34" name="Text 32"/>
          <p:cNvSpPr txBox="1"/>
          <p:nvPr/>
        </p:nvSpPr>
        <p:spPr>
          <a:xfrm>
            <a:off x="5760720" y="2834640"/>
            <a:ext cx="2743200" cy="7772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2024-03-12 14:45:22</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Casemix: dr. Sari W.</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Disposisi: INVESTIGASI</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Alasan: "Klaim pasca-operasi major</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perlu verifikasi berkas"</a:t>
            </a:r>
            <a:endParaRPr lang="en-US" sz="900" dirty="0"/>
          </a:p>
        </p:txBody>
      </p:sp>
      <p:sp>
        <p:nvSpPr>
          <p:cNvPr id="35" name="Shape 33"/>
          <p:cNvSpPr/>
          <p:nvPr/>
        </p:nvSpPr>
        <p:spPr>
          <a:xfrm>
            <a:off x="5669280" y="3794760"/>
            <a:ext cx="2926080" cy="868680"/>
          </a:xfrm>
          <a:prstGeom prst="roundRect">
            <a:avLst>
              <a:gd name="adj" fmla="val 5263"/>
            </a:avLst>
          </a:prstGeom>
          <a:solidFill>
            <a:srgbClr val="FFFFFF"/>
          </a:solidFill>
          <a:ln w="12700">
            <a:solidFill>
              <a:srgbClr val="CBD5E1"/>
            </a:solidFill>
            <a:prstDash val="solid"/>
          </a:ln>
        </p:spPr>
      </p:sp>
      <p:sp>
        <p:nvSpPr>
          <p:cNvPr id="36" name="Text 34"/>
          <p:cNvSpPr txBox="1"/>
          <p:nvPr/>
        </p:nvSpPr>
        <p:spPr>
          <a:xfrm>
            <a:off x="5760720" y="3840480"/>
            <a:ext cx="2743200" cy="7772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2024-03-12 15:20:09</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Komite: Disetujui dengan</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nota koreksi Rp 7.100.000</a:t>
            </a:r>
            <a:endParaRPr lang="en-US" sz="900" dirty="0"/>
          </a:p>
        </p:txBody>
      </p:sp>
      <p:sp>
        <p:nvSpPr>
          <p:cNvPr id="37" name="Text 35"/>
          <p:cNvSpPr txBox="1"/>
          <p:nvPr/>
        </p:nvSpPr>
        <p:spPr>
          <a:xfrm>
            <a:off x="365760" y="4828032"/>
            <a:ext cx="6858000" cy="228600"/>
          </a:xfrm>
          <a:prstGeom prst="rect">
            <a:avLst/>
          </a:prstGeom>
          <a:noFill/>
          <a:ln/>
        </p:spPr>
        <p:txBody>
          <a:bodyPr wrap="square" lIns="0" tIns="0" rIns="0" bIns="0" rtlCol="0" anchor="ctr"/>
          <a:lstStyle/>
          <a:p>
            <a:pPr indent="0" marL="0">
              <a:buNone/>
            </a:pPr>
            <a:r>
              <a:rPr lang="en-US" sz="900" b="1" dirty="0">
                <a:solidFill>
                  <a:srgbClr val="00897B"/>
                </a:solidFill>
                <a:latin typeface="Calibri" pitchFamily="34" charset="0"/>
                <a:ea typeface="Calibri" pitchFamily="34" charset="-122"/>
                <a:cs typeface="Calibri" pitchFamily="34" charset="-120"/>
              </a:rPr>
              <a:t>Setiap entri immutable — tidak dapat diedit atau dihapus</a:t>
            </a:r>
            <a:endParaRPr lang="en-US" sz="900" dirty="0"/>
          </a:p>
        </p:txBody>
      </p:sp>
      <p:sp>
        <p:nvSpPr>
          <p:cNvPr id="38" name="Text 36"/>
          <p:cNvSpPr txBox="1"/>
          <p:nvPr/>
        </p:nvSpPr>
        <p:spPr>
          <a:xfrm>
            <a:off x="8046720" y="4892040"/>
            <a:ext cx="1005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B3  ·  SOLUSI &amp; KEUNGGULAN</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TilikKlaim vs alternatif yang sudah ada</a:t>
            </a:r>
            <a:endParaRPr lang="en-US" sz="2800" dirty="0"/>
          </a:p>
        </p:txBody>
      </p:sp>
      <p:sp>
        <p:nvSpPr>
          <p:cNvPr id="5" name="Shape 3"/>
          <p:cNvSpPr/>
          <p:nvPr/>
        </p:nvSpPr>
        <p:spPr>
          <a:xfrm>
            <a:off x="228600" y="1188720"/>
            <a:ext cx="2103120" cy="475488"/>
          </a:xfrm>
          <a:prstGeom prst="rect">
            <a:avLst/>
          </a:prstGeom>
          <a:solidFill>
            <a:srgbClr val="0C2461"/>
          </a:solidFill>
          <a:ln w="12700">
            <a:solidFill>
              <a:srgbClr val="CBD5E1"/>
            </a:solidFill>
            <a:prstDash val="solid"/>
          </a:ln>
        </p:spPr>
      </p:sp>
      <p:sp>
        <p:nvSpPr>
          <p:cNvPr id="6" name="Text 4"/>
          <p:cNvSpPr txBox="1"/>
          <p:nvPr/>
        </p:nvSpPr>
        <p:spPr>
          <a:xfrm>
            <a:off x="301752" y="1188720"/>
            <a:ext cx="2011680" cy="475488"/>
          </a:xfrm>
          <a:prstGeom prst="rect">
            <a:avLst/>
          </a:prstGeom>
          <a:noFill/>
          <a:ln/>
        </p:spPr>
        <p:txBody>
          <a:bodyPr wrap="square" lIns="0" tIns="0" rIns="0" bIns="0" rtlCol="0" anchor="ctr"/>
          <a:lstStyle/>
          <a:p>
            <a:pPr algn="l" indent="0" marL="0">
              <a:buNone/>
            </a:pPr>
            <a:endParaRPr lang="en-US" sz="1000" dirty="0"/>
          </a:p>
        </p:txBody>
      </p:sp>
      <p:sp>
        <p:nvSpPr>
          <p:cNvPr id="7" name="Shape 5"/>
          <p:cNvSpPr/>
          <p:nvPr/>
        </p:nvSpPr>
        <p:spPr>
          <a:xfrm>
            <a:off x="2377440" y="1188720"/>
            <a:ext cx="1554480" cy="475488"/>
          </a:xfrm>
          <a:prstGeom prst="rect">
            <a:avLst/>
          </a:prstGeom>
          <a:solidFill>
            <a:srgbClr val="0C2461"/>
          </a:solidFill>
          <a:ln w="12700">
            <a:solidFill>
              <a:srgbClr val="CBD5E1"/>
            </a:solidFill>
            <a:prstDash val="solid"/>
          </a:ln>
        </p:spPr>
      </p:sp>
      <p:sp>
        <p:nvSpPr>
          <p:cNvPr id="8" name="Text 6"/>
          <p:cNvSpPr txBox="1"/>
          <p:nvPr/>
        </p:nvSpPr>
        <p:spPr>
          <a:xfrm>
            <a:off x="2450592" y="1188720"/>
            <a:ext cx="14630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Audit BPJS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(Post-submit)</a:t>
            </a:r>
            <a:endParaRPr lang="en-US" sz="1000" dirty="0"/>
          </a:p>
        </p:txBody>
      </p:sp>
      <p:sp>
        <p:nvSpPr>
          <p:cNvPr id="9" name="Shape 7"/>
          <p:cNvSpPr/>
          <p:nvPr/>
        </p:nvSpPr>
        <p:spPr>
          <a:xfrm>
            <a:off x="3977640" y="1188720"/>
            <a:ext cx="1554480" cy="475488"/>
          </a:xfrm>
          <a:prstGeom prst="rect">
            <a:avLst/>
          </a:prstGeom>
          <a:solidFill>
            <a:srgbClr val="0C2461"/>
          </a:solidFill>
          <a:ln w="12700">
            <a:solidFill>
              <a:srgbClr val="CBD5E1"/>
            </a:solidFill>
            <a:prstDash val="solid"/>
          </a:ln>
        </p:spPr>
      </p:sp>
      <p:sp>
        <p:nvSpPr>
          <p:cNvPr id="10" name="Text 8"/>
          <p:cNvSpPr txBox="1"/>
          <p:nvPr/>
        </p:nvSpPr>
        <p:spPr>
          <a:xfrm>
            <a:off x="4050792" y="1188720"/>
            <a:ext cx="14630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Manual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Casemix</a:t>
            </a:r>
            <a:endParaRPr lang="en-US" sz="1000" dirty="0"/>
          </a:p>
        </p:txBody>
      </p:sp>
      <p:sp>
        <p:nvSpPr>
          <p:cNvPr id="11" name="Shape 9"/>
          <p:cNvSpPr/>
          <p:nvPr/>
        </p:nvSpPr>
        <p:spPr>
          <a:xfrm>
            <a:off x="5577840" y="1188720"/>
            <a:ext cx="1554480" cy="475488"/>
          </a:xfrm>
          <a:prstGeom prst="rect">
            <a:avLst/>
          </a:prstGeom>
          <a:solidFill>
            <a:srgbClr val="0C2461"/>
          </a:solidFill>
          <a:ln w="12700">
            <a:solidFill>
              <a:srgbClr val="CBD5E1"/>
            </a:solidFill>
            <a:prstDash val="solid"/>
          </a:ln>
        </p:spPr>
      </p:sp>
      <p:sp>
        <p:nvSpPr>
          <p:cNvPr id="12" name="Text 10"/>
          <p:cNvSpPr txBox="1"/>
          <p:nvPr/>
        </p:nvSpPr>
        <p:spPr>
          <a:xfrm>
            <a:off x="5650992" y="1188720"/>
            <a:ext cx="14630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Black-box</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AI</a:t>
            </a:r>
            <a:endParaRPr lang="en-US" sz="1000" dirty="0"/>
          </a:p>
        </p:txBody>
      </p:sp>
      <p:sp>
        <p:nvSpPr>
          <p:cNvPr id="13" name="Shape 11"/>
          <p:cNvSpPr/>
          <p:nvPr/>
        </p:nvSpPr>
        <p:spPr>
          <a:xfrm>
            <a:off x="7178040" y="1188720"/>
            <a:ext cx="2011680" cy="475488"/>
          </a:xfrm>
          <a:prstGeom prst="rect">
            <a:avLst/>
          </a:prstGeom>
          <a:solidFill>
            <a:srgbClr val="0C2461"/>
          </a:solidFill>
          <a:ln w="12700">
            <a:solidFill>
              <a:srgbClr val="CBD5E1"/>
            </a:solidFill>
            <a:prstDash val="solid"/>
          </a:ln>
        </p:spPr>
      </p:sp>
      <p:sp>
        <p:nvSpPr>
          <p:cNvPr id="14" name="Text 12"/>
          <p:cNvSpPr txBox="1"/>
          <p:nvPr/>
        </p:nvSpPr>
        <p:spPr>
          <a:xfrm>
            <a:off x="7251192" y="1188720"/>
            <a:ext cx="1920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TilikKlaim</a:t>
            </a:r>
            <a:endParaRPr lang="en-US" sz="1000" dirty="0"/>
          </a:p>
        </p:txBody>
      </p:sp>
      <p:sp>
        <p:nvSpPr>
          <p:cNvPr id="15" name="Shape 13"/>
          <p:cNvSpPr/>
          <p:nvPr/>
        </p:nvSpPr>
        <p:spPr>
          <a:xfrm>
            <a:off x="228600" y="1664208"/>
            <a:ext cx="2103120" cy="475488"/>
          </a:xfrm>
          <a:prstGeom prst="rect">
            <a:avLst/>
          </a:prstGeom>
          <a:solidFill>
            <a:srgbClr val="E8EAF6"/>
          </a:solidFill>
          <a:ln w="12700">
            <a:solidFill>
              <a:srgbClr val="CBD5E1"/>
            </a:solidFill>
            <a:prstDash val="solid"/>
          </a:ln>
        </p:spPr>
      </p:sp>
      <p:sp>
        <p:nvSpPr>
          <p:cNvPr id="16" name="Text 14"/>
          <p:cNvSpPr txBox="1"/>
          <p:nvPr/>
        </p:nvSpPr>
        <p:spPr>
          <a:xfrm>
            <a:off x="301752" y="1664208"/>
            <a:ext cx="2011680" cy="475488"/>
          </a:xfrm>
          <a:prstGeom prst="rect">
            <a:avLst/>
          </a:prstGeom>
          <a:noFill/>
          <a:ln/>
        </p:spPr>
        <p:txBody>
          <a:bodyPr wrap="square" lIns="0" tIns="0" rIns="0" bIns="0" rtlCol="0" anchor="ctr"/>
          <a:lstStyle/>
          <a:p>
            <a:pPr algn="l" indent="0" marL="0">
              <a:buNone/>
            </a:pPr>
            <a:r>
              <a:rPr lang="en-US" sz="1100" b="1" dirty="0">
                <a:solidFill>
                  <a:srgbClr val="0C2461"/>
                </a:solidFill>
                <a:latin typeface="Calibri" pitchFamily="34" charset="0"/>
                <a:ea typeface="Calibri" pitchFamily="34" charset="-122"/>
                <a:cs typeface="Calibri" pitchFamily="34" charset="-120"/>
              </a:rPr>
              <a:t>Timing</a:t>
            </a:r>
            <a:endParaRPr lang="en-US" sz="1100" dirty="0"/>
          </a:p>
        </p:txBody>
      </p:sp>
      <p:sp>
        <p:nvSpPr>
          <p:cNvPr id="17" name="Shape 15"/>
          <p:cNvSpPr/>
          <p:nvPr/>
        </p:nvSpPr>
        <p:spPr>
          <a:xfrm>
            <a:off x="2377440" y="1664208"/>
            <a:ext cx="1554480" cy="475488"/>
          </a:xfrm>
          <a:prstGeom prst="rect">
            <a:avLst/>
          </a:prstGeom>
          <a:solidFill>
            <a:srgbClr val="FFFFFF"/>
          </a:solidFill>
          <a:ln w="12700">
            <a:solidFill>
              <a:srgbClr val="CBD5E1"/>
            </a:solidFill>
            <a:prstDash val="solid"/>
          </a:ln>
        </p:spPr>
      </p:sp>
      <p:sp>
        <p:nvSpPr>
          <p:cNvPr id="18" name="Text 16"/>
          <p:cNvSpPr txBox="1"/>
          <p:nvPr/>
        </p:nvSpPr>
        <p:spPr>
          <a:xfrm>
            <a:off x="2450592" y="1664208"/>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Setelah submit</a:t>
            </a:r>
            <a:endParaRPr lang="en-US" sz="1100" dirty="0"/>
          </a:p>
        </p:txBody>
      </p:sp>
      <p:sp>
        <p:nvSpPr>
          <p:cNvPr id="19" name="Shape 17"/>
          <p:cNvSpPr/>
          <p:nvPr/>
        </p:nvSpPr>
        <p:spPr>
          <a:xfrm>
            <a:off x="3977640" y="1664208"/>
            <a:ext cx="1554480" cy="475488"/>
          </a:xfrm>
          <a:prstGeom prst="rect">
            <a:avLst/>
          </a:prstGeom>
          <a:solidFill>
            <a:srgbClr val="FFFFFF"/>
          </a:solidFill>
          <a:ln w="12700">
            <a:solidFill>
              <a:srgbClr val="CBD5E1"/>
            </a:solidFill>
            <a:prstDash val="solid"/>
          </a:ln>
        </p:spPr>
      </p:sp>
      <p:sp>
        <p:nvSpPr>
          <p:cNvPr id="20" name="Text 18"/>
          <p:cNvSpPr txBox="1"/>
          <p:nvPr/>
        </p:nvSpPr>
        <p:spPr>
          <a:xfrm>
            <a:off x="4050792" y="1664208"/>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Sebelum (manual)</a:t>
            </a:r>
            <a:endParaRPr lang="en-US" sz="1100" dirty="0"/>
          </a:p>
        </p:txBody>
      </p:sp>
      <p:sp>
        <p:nvSpPr>
          <p:cNvPr id="21" name="Shape 19"/>
          <p:cNvSpPr/>
          <p:nvPr/>
        </p:nvSpPr>
        <p:spPr>
          <a:xfrm>
            <a:off x="5577840" y="1664208"/>
            <a:ext cx="1554480" cy="475488"/>
          </a:xfrm>
          <a:prstGeom prst="rect">
            <a:avLst/>
          </a:prstGeom>
          <a:solidFill>
            <a:srgbClr val="FFFFFF"/>
          </a:solidFill>
          <a:ln w="12700">
            <a:solidFill>
              <a:srgbClr val="CBD5E1"/>
            </a:solidFill>
            <a:prstDash val="solid"/>
          </a:ln>
        </p:spPr>
      </p:sp>
      <p:sp>
        <p:nvSpPr>
          <p:cNvPr id="22" name="Text 20"/>
          <p:cNvSpPr txBox="1"/>
          <p:nvPr/>
        </p:nvSpPr>
        <p:spPr>
          <a:xfrm>
            <a:off x="5650992" y="1664208"/>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Variatif</a:t>
            </a:r>
            <a:endParaRPr lang="en-US" sz="1100" dirty="0"/>
          </a:p>
        </p:txBody>
      </p:sp>
      <p:sp>
        <p:nvSpPr>
          <p:cNvPr id="23" name="Shape 21"/>
          <p:cNvSpPr/>
          <p:nvPr/>
        </p:nvSpPr>
        <p:spPr>
          <a:xfrm>
            <a:off x="7178040" y="1664208"/>
            <a:ext cx="2011680" cy="475488"/>
          </a:xfrm>
          <a:prstGeom prst="rect">
            <a:avLst/>
          </a:prstGeom>
          <a:solidFill>
            <a:srgbClr val="E0F2F1"/>
          </a:solidFill>
          <a:ln w="12700">
            <a:solidFill>
              <a:srgbClr val="CBD5E1"/>
            </a:solidFill>
            <a:prstDash val="solid"/>
          </a:ln>
        </p:spPr>
      </p:sp>
      <p:sp>
        <p:nvSpPr>
          <p:cNvPr id="24" name="Text 22"/>
          <p:cNvSpPr txBox="1"/>
          <p:nvPr/>
        </p:nvSpPr>
        <p:spPr>
          <a:xfrm>
            <a:off x="7251192" y="1664208"/>
            <a:ext cx="1920240" cy="475488"/>
          </a:xfrm>
          <a:prstGeom prst="rect">
            <a:avLst/>
          </a:prstGeom>
          <a:noFill/>
          <a:ln/>
        </p:spPr>
        <p:txBody>
          <a:bodyPr wrap="square" lIns="0" tIns="0" rIns="0" bIns="0" rtlCol="0" anchor="ctr"/>
          <a:lstStyle/>
          <a:p>
            <a:pPr algn="ctr" indent="0" marL="0">
              <a:buNone/>
            </a:pPr>
            <a:r>
              <a:rPr lang="en-US" sz="1100" b="1" dirty="0">
                <a:solidFill>
                  <a:srgbClr val="00897B"/>
                </a:solidFill>
                <a:latin typeface="Calibri" pitchFamily="34" charset="0"/>
                <a:ea typeface="Calibri" pitchFamily="34" charset="-122"/>
                <a:cs typeface="Calibri" pitchFamily="34" charset="-120"/>
              </a:rPr>
              <a:t>✓ Sebelum — terstruktur</a:t>
            </a:r>
            <a:endParaRPr lang="en-US" sz="1100" dirty="0"/>
          </a:p>
        </p:txBody>
      </p:sp>
      <p:sp>
        <p:nvSpPr>
          <p:cNvPr id="25" name="Shape 23"/>
          <p:cNvSpPr/>
          <p:nvPr/>
        </p:nvSpPr>
        <p:spPr>
          <a:xfrm>
            <a:off x="228600" y="2139696"/>
            <a:ext cx="2103120" cy="475488"/>
          </a:xfrm>
          <a:prstGeom prst="rect">
            <a:avLst/>
          </a:prstGeom>
          <a:solidFill>
            <a:srgbClr val="E8EAF6"/>
          </a:solidFill>
          <a:ln w="12700">
            <a:solidFill>
              <a:srgbClr val="CBD5E1"/>
            </a:solidFill>
            <a:prstDash val="solid"/>
          </a:ln>
        </p:spPr>
      </p:sp>
      <p:sp>
        <p:nvSpPr>
          <p:cNvPr id="26" name="Text 24"/>
          <p:cNvSpPr txBox="1"/>
          <p:nvPr/>
        </p:nvSpPr>
        <p:spPr>
          <a:xfrm>
            <a:off x="301752" y="2139696"/>
            <a:ext cx="2011680" cy="475488"/>
          </a:xfrm>
          <a:prstGeom prst="rect">
            <a:avLst/>
          </a:prstGeom>
          <a:noFill/>
          <a:ln/>
        </p:spPr>
        <p:txBody>
          <a:bodyPr wrap="square" lIns="0" tIns="0" rIns="0" bIns="0" rtlCol="0" anchor="ctr"/>
          <a:lstStyle/>
          <a:p>
            <a:pPr algn="l" indent="0" marL="0">
              <a:buNone/>
            </a:pPr>
            <a:r>
              <a:rPr lang="en-US" sz="1100" b="1" dirty="0">
                <a:solidFill>
                  <a:srgbClr val="0C2461"/>
                </a:solidFill>
                <a:latin typeface="Calibri" pitchFamily="34" charset="0"/>
                <a:ea typeface="Calibri" pitchFamily="34" charset="-122"/>
                <a:cs typeface="Calibri" pitchFamily="34" charset="-120"/>
              </a:rPr>
              <a:t>Explainability</a:t>
            </a:r>
            <a:endParaRPr lang="en-US" sz="1100" dirty="0"/>
          </a:p>
        </p:txBody>
      </p:sp>
      <p:sp>
        <p:nvSpPr>
          <p:cNvPr id="27" name="Shape 25"/>
          <p:cNvSpPr/>
          <p:nvPr/>
        </p:nvSpPr>
        <p:spPr>
          <a:xfrm>
            <a:off x="2377440" y="2139696"/>
            <a:ext cx="1554480" cy="475488"/>
          </a:xfrm>
          <a:prstGeom prst="rect">
            <a:avLst/>
          </a:prstGeom>
          <a:solidFill>
            <a:srgbClr val="FFFFFF"/>
          </a:solidFill>
          <a:ln w="12700">
            <a:solidFill>
              <a:srgbClr val="CBD5E1"/>
            </a:solidFill>
            <a:prstDash val="solid"/>
          </a:ln>
        </p:spPr>
      </p:sp>
      <p:sp>
        <p:nvSpPr>
          <p:cNvPr id="28" name="Text 26"/>
          <p:cNvSpPr txBox="1"/>
          <p:nvPr/>
        </p:nvSpPr>
        <p:spPr>
          <a:xfrm>
            <a:off x="2450592" y="2139696"/>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3977640" y="2139696"/>
            <a:ext cx="1554480" cy="475488"/>
          </a:xfrm>
          <a:prstGeom prst="rect">
            <a:avLst/>
          </a:prstGeom>
          <a:solidFill>
            <a:srgbClr val="FFFFFF"/>
          </a:solidFill>
          <a:ln w="12700">
            <a:solidFill>
              <a:srgbClr val="CBD5E1"/>
            </a:solidFill>
            <a:prstDash val="solid"/>
          </a:ln>
        </p:spPr>
      </p:sp>
      <p:sp>
        <p:nvSpPr>
          <p:cNvPr id="30" name="Text 28"/>
          <p:cNvSpPr txBox="1"/>
          <p:nvPr/>
        </p:nvSpPr>
        <p:spPr>
          <a:xfrm>
            <a:off x="4050792" y="2139696"/>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5577840" y="2139696"/>
            <a:ext cx="1554480" cy="475488"/>
          </a:xfrm>
          <a:prstGeom prst="rect">
            <a:avLst/>
          </a:prstGeom>
          <a:solidFill>
            <a:srgbClr val="FFFFFF"/>
          </a:solidFill>
          <a:ln w="12700">
            <a:solidFill>
              <a:srgbClr val="CBD5E1"/>
            </a:solidFill>
            <a:prstDash val="solid"/>
          </a:ln>
        </p:spPr>
      </p:sp>
      <p:sp>
        <p:nvSpPr>
          <p:cNvPr id="32" name="Text 30"/>
          <p:cNvSpPr txBox="1"/>
          <p:nvPr/>
        </p:nvSpPr>
        <p:spPr>
          <a:xfrm>
            <a:off x="5650992" y="2139696"/>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7178040" y="2139696"/>
            <a:ext cx="2011680" cy="475488"/>
          </a:xfrm>
          <a:prstGeom prst="rect">
            <a:avLst/>
          </a:prstGeom>
          <a:solidFill>
            <a:srgbClr val="E0F2F1"/>
          </a:solidFill>
          <a:ln w="12700">
            <a:solidFill>
              <a:srgbClr val="CBD5E1"/>
            </a:solidFill>
            <a:prstDash val="solid"/>
          </a:ln>
        </p:spPr>
      </p:sp>
      <p:sp>
        <p:nvSpPr>
          <p:cNvPr id="34" name="Text 32"/>
          <p:cNvSpPr txBox="1"/>
          <p:nvPr/>
        </p:nvSpPr>
        <p:spPr>
          <a:xfrm>
            <a:off x="7251192" y="2139696"/>
            <a:ext cx="1920240" cy="475488"/>
          </a:xfrm>
          <a:prstGeom prst="rect">
            <a:avLst/>
          </a:prstGeom>
          <a:noFill/>
          <a:ln/>
        </p:spPr>
        <p:txBody>
          <a:bodyPr wrap="square" lIns="0" tIns="0" rIns="0" bIns="0" rtlCol="0" anchor="ctr"/>
          <a:lstStyle/>
          <a:p>
            <a:pPr algn="ctr" indent="0" marL="0">
              <a:buNone/>
            </a:pPr>
            <a:r>
              <a:rPr lang="en-US" sz="1100" b="1" dirty="0">
                <a:solidFill>
                  <a:srgbClr val="00897B"/>
                </a:solidFill>
                <a:latin typeface="Calibri" pitchFamily="34" charset="0"/>
                <a:ea typeface="Calibri" pitchFamily="34" charset="-122"/>
                <a:cs typeface="Calibri" pitchFamily="34" charset="-120"/>
              </a:rPr>
              <a:t>✓ Deterministik</a:t>
            </a:r>
            <a:endParaRPr lang="en-US" sz="1100" dirty="0"/>
          </a:p>
        </p:txBody>
      </p:sp>
      <p:sp>
        <p:nvSpPr>
          <p:cNvPr id="35" name="Shape 33"/>
          <p:cNvSpPr/>
          <p:nvPr/>
        </p:nvSpPr>
        <p:spPr>
          <a:xfrm>
            <a:off x="228600" y="2615184"/>
            <a:ext cx="2103120" cy="475488"/>
          </a:xfrm>
          <a:prstGeom prst="rect">
            <a:avLst/>
          </a:prstGeom>
          <a:solidFill>
            <a:srgbClr val="E8EAF6"/>
          </a:solidFill>
          <a:ln w="12700">
            <a:solidFill>
              <a:srgbClr val="CBD5E1"/>
            </a:solidFill>
            <a:prstDash val="solid"/>
          </a:ln>
        </p:spPr>
      </p:sp>
      <p:sp>
        <p:nvSpPr>
          <p:cNvPr id="36" name="Text 34"/>
          <p:cNvSpPr txBox="1"/>
          <p:nvPr/>
        </p:nvSpPr>
        <p:spPr>
          <a:xfrm>
            <a:off x="301752" y="2615184"/>
            <a:ext cx="2011680" cy="475488"/>
          </a:xfrm>
          <a:prstGeom prst="rect">
            <a:avLst/>
          </a:prstGeom>
          <a:noFill/>
          <a:ln/>
        </p:spPr>
        <p:txBody>
          <a:bodyPr wrap="square" lIns="0" tIns="0" rIns="0" bIns="0" rtlCol="0" anchor="ctr"/>
          <a:lstStyle/>
          <a:p>
            <a:pPr algn="l" indent="0" marL="0">
              <a:buNone/>
            </a:pPr>
            <a:r>
              <a:rPr lang="en-US" sz="1100" b="1" dirty="0">
                <a:solidFill>
                  <a:srgbClr val="0C2461"/>
                </a:solidFill>
                <a:latin typeface="Calibri" pitchFamily="34" charset="0"/>
                <a:ea typeface="Calibri" pitchFamily="34" charset="-122"/>
                <a:cs typeface="Calibri" pitchFamily="34" charset="-120"/>
              </a:rPr>
              <a:t>Skalabilitas</a:t>
            </a:r>
            <a:endParaRPr lang="en-US" sz="1100" dirty="0"/>
          </a:p>
        </p:txBody>
      </p:sp>
      <p:sp>
        <p:nvSpPr>
          <p:cNvPr id="37" name="Shape 35"/>
          <p:cNvSpPr/>
          <p:nvPr/>
        </p:nvSpPr>
        <p:spPr>
          <a:xfrm>
            <a:off x="2377440" y="2615184"/>
            <a:ext cx="1554480" cy="475488"/>
          </a:xfrm>
          <a:prstGeom prst="rect">
            <a:avLst/>
          </a:prstGeom>
          <a:solidFill>
            <a:srgbClr val="FFFFFF"/>
          </a:solidFill>
          <a:ln w="12700">
            <a:solidFill>
              <a:srgbClr val="CBD5E1"/>
            </a:solidFill>
            <a:prstDash val="solid"/>
          </a:ln>
        </p:spPr>
      </p:sp>
      <p:sp>
        <p:nvSpPr>
          <p:cNvPr id="38" name="Text 36"/>
          <p:cNvSpPr txBox="1"/>
          <p:nvPr/>
        </p:nvSpPr>
        <p:spPr>
          <a:xfrm>
            <a:off x="2450592" y="2615184"/>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3977640" y="2615184"/>
            <a:ext cx="1554480" cy="475488"/>
          </a:xfrm>
          <a:prstGeom prst="rect">
            <a:avLst/>
          </a:prstGeom>
          <a:solidFill>
            <a:srgbClr val="FFFFFF"/>
          </a:solidFill>
          <a:ln w="12700">
            <a:solidFill>
              <a:srgbClr val="CBD5E1"/>
            </a:solidFill>
            <a:prstDash val="solid"/>
          </a:ln>
        </p:spPr>
      </p:sp>
      <p:sp>
        <p:nvSpPr>
          <p:cNvPr id="40" name="Text 38"/>
          <p:cNvSpPr txBox="1"/>
          <p:nvPr/>
        </p:nvSpPr>
        <p:spPr>
          <a:xfrm>
            <a:off x="4050792" y="2615184"/>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5577840" y="2615184"/>
            <a:ext cx="1554480" cy="475488"/>
          </a:xfrm>
          <a:prstGeom prst="rect">
            <a:avLst/>
          </a:prstGeom>
          <a:solidFill>
            <a:srgbClr val="FFFFFF"/>
          </a:solidFill>
          <a:ln w="12700">
            <a:solidFill>
              <a:srgbClr val="CBD5E1"/>
            </a:solidFill>
            <a:prstDash val="solid"/>
          </a:ln>
        </p:spPr>
      </p:sp>
      <p:sp>
        <p:nvSpPr>
          <p:cNvPr id="42" name="Text 40"/>
          <p:cNvSpPr txBox="1"/>
          <p:nvPr/>
        </p:nvSpPr>
        <p:spPr>
          <a:xfrm>
            <a:off x="5650992" y="2615184"/>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43" name="Shape 41"/>
          <p:cNvSpPr/>
          <p:nvPr/>
        </p:nvSpPr>
        <p:spPr>
          <a:xfrm>
            <a:off x="7178040" y="2615184"/>
            <a:ext cx="2011680" cy="475488"/>
          </a:xfrm>
          <a:prstGeom prst="rect">
            <a:avLst/>
          </a:prstGeom>
          <a:solidFill>
            <a:srgbClr val="E0F2F1"/>
          </a:solidFill>
          <a:ln w="12700">
            <a:solidFill>
              <a:srgbClr val="CBD5E1"/>
            </a:solidFill>
            <a:prstDash val="solid"/>
          </a:ln>
        </p:spPr>
      </p:sp>
      <p:sp>
        <p:nvSpPr>
          <p:cNvPr id="44" name="Text 42"/>
          <p:cNvSpPr txBox="1"/>
          <p:nvPr/>
        </p:nvSpPr>
        <p:spPr>
          <a:xfrm>
            <a:off x="7251192" y="2615184"/>
            <a:ext cx="1920240" cy="475488"/>
          </a:xfrm>
          <a:prstGeom prst="rect">
            <a:avLst/>
          </a:prstGeom>
          <a:noFill/>
          <a:ln/>
        </p:spPr>
        <p:txBody>
          <a:bodyPr wrap="square" lIns="0" tIns="0" rIns="0" bIns="0" rtlCol="0" anchor="ctr"/>
          <a:lstStyle/>
          <a:p>
            <a:pPr algn="ctr" indent="0" marL="0">
              <a:buNone/>
            </a:pPr>
            <a:r>
              <a:rPr lang="en-US" sz="1100" b="1" dirty="0">
                <a:solidFill>
                  <a:srgbClr val="00897B"/>
                </a:solidFill>
                <a:latin typeface="Calibri" pitchFamily="34" charset="0"/>
                <a:ea typeface="Calibri" pitchFamily="34" charset="-122"/>
                <a:cs typeface="Calibri" pitchFamily="34" charset="-120"/>
              </a:rPr>
              <a:t>✓ Sistemik</a:t>
            </a:r>
            <a:endParaRPr lang="en-US" sz="1100" dirty="0"/>
          </a:p>
        </p:txBody>
      </p:sp>
      <p:sp>
        <p:nvSpPr>
          <p:cNvPr id="45" name="Shape 43"/>
          <p:cNvSpPr/>
          <p:nvPr/>
        </p:nvSpPr>
        <p:spPr>
          <a:xfrm>
            <a:off x="228600" y="3090672"/>
            <a:ext cx="2103120" cy="475488"/>
          </a:xfrm>
          <a:prstGeom prst="rect">
            <a:avLst/>
          </a:prstGeom>
          <a:solidFill>
            <a:srgbClr val="E8EAF6"/>
          </a:solidFill>
          <a:ln w="12700">
            <a:solidFill>
              <a:srgbClr val="CBD5E1"/>
            </a:solidFill>
            <a:prstDash val="solid"/>
          </a:ln>
        </p:spPr>
      </p:sp>
      <p:sp>
        <p:nvSpPr>
          <p:cNvPr id="46" name="Text 44"/>
          <p:cNvSpPr txBox="1"/>
          <p:nvPr/>
        </p:nvSpPr>
        <p:spPr>
          <a:xfrm>
            <a:off x="301752" y="3090672"/>
            <a:ext cx="2011680" cy="475488"/>
          </a:xfrm>
          <a:prstGeom prst="rect">
            <a:avLst/>
          </a:prstGeom>
          <a:noFill/>
          <a:ln/>
        </p:spPr>
        <p:txBody>
          <a:bodyPr wrap="square" lIns="0" tIns="0" rIns="0" bIns="0" rtlCol="0" anchor="ctr"/>
          <a:lstStyle/>
          <a:p>
            <a:pPr algn="l" indent="0" marL="0">
              <a:buNone/>
            </a:pPr>
            <a:r>
              <a:rPr lang="en-US" sz="1100" b="1" dirty="0">
                <a:solidFill>
                  <a:srgbClr val="0C2461"/>
                </a:solidFill>
                <a:latin typeface="Calibri" pitchFamily="34" charset="0"/>
                <a:ea typeface="Calibri" pitchFamily="34" charset="-122"/>
                <a:cs typeface="Calibri" pitchFamily="34" charset="-120"/>
              </a:rPr>
              <a:t>Privacy Data</a:t>
            </a:r>
            <a:endParaRPr lang="en-US" sz="1100" dirty="0"/>
          </a:p>
        </p:txBody>
      </p:sp>
      <p:sp>
        <p:nvSpPr>
          <p:cNvPr id="47" name="Shape 45"/>
          <p:cNvSpPr/>
          <p:nvPr/>
        </p:nvSpPr>
        <p:spPr>
          <a:xfrm>
            <a:off x="2377440" y="3090672"/>
            <a:ext cx="1554480" cy="475488"/>
          </a:xfrm>
          <a:prstGeom prst="rect">
            <a:avLst/>
          </a:prstGeom>
          <a:solidFill>
            <a:srgbClr val="FFFFFF"/>
          </a:solidFill>
          <a:ln w="12700">
            <a:solidFill>
              <a:srgbClr val="CBD5E1"/>
            </a:solidFill>
            <a:prstDash val="solid"/>
          </a:ln>
        </p:spPr>
      </p:sp>
      <p:sp>
        <p:nvSpPr>
          <p:cNvPr id="48" name="Text 46"/>
          <p:cNvSpPr txBox="1"/>
          <p:nvPr/>
        </p:nvSpPr>
        <p:spPr>
          <a:xfrm>
            <a:off x="2450592" y="3090672"/>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Data ke BPJS</a:t>
            </a:r>
            <a:endParaRPr lang="en-US" sz="1100" dirty="0"/>
          </a:p>
        </p:txBody>
      </p:sp>
      <p:sp>
        <p:nvSpPr>
          <p:cNvPr id="49" name="Shape 47"/>
          <p:cNvSpPr/>
          <p:nvPr/>
        </p:nvSpPr>
        <p:spPr>
          <a:xfrm>
            <a:off x="3977640" y="3090672"/>
            <a:ext cx="1554480" cy="475488"/>
          </a:xfrm>
          <a:prstGeom prst="rect">
            <a:avLst/>
          </a:prstGeom>
          <a:solidFill>
            <a:srgbClr val="FFFFFF"/>
          </a:solidFill>
          <a:ln w="12700">
            <a:solidFill>
              <a:srgbClr val="CBD5E1"/>
            </a:solidFill>
            <a:prstDash val="solid"/>
          </a:ln>
        </p:spPr>
      </p:sp>
      <p:sp>
        <p:nvSpPr>
          <p:cNvPr id="50" name="Text 48"/>
          <p:cNvSpPr txBox="1"/>
          <p:nvPr/>
        </p:nvSpPr>
        <p:spPr>
          <a:xfrm>
            <a:off x="4050792" y="3090672"/>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Internal</a:t>
            </a:r>
            <a:endParaRPr lang="en-US" sz="1100" dirty="0"/>
          </a:p>
        </p:txBody>
      </p:sp>
      <p:sp>
        <p:nvSpPr>
          <p:cNvPr id="51" name="Shape 49"/>
          <p:cNvSpPr/>
          <p:nvPr/>
        </p:nvSpPr>
        <p:spPr>
          <a:xfrm>
            <a:off x="5577840" y="3090672"/>
            <a:ext cx="1554480" cy="475488"/>
          </a:xfrm>
          <a:prstGeom prst="rect">
            <a:avLst/>
          </a:prstGeom>
          <a:solidFill>
            <a:srgbClr val="FFFFFF"/>
          </a:solidFill>
          <a:ln w="12700">
            <a:solidFill>
              <a:srgbClr val="CBD5E1"/>
            </a:solidFill>
            <a:prstDash val="solid"/>
          </a:ln>
        </p:spPr>
      </p:sp>
      <p:sp>
        <p:nvSpPr>
          <p:cNvPr id="52" name="Text 50"/>
          <p:cNvSpPr txBox="1"/>
          <p:nvPr/>
        </p:nvSpPr>
        <p:spPr>
          <a:xfrm>
            <a:off x="5650992" y="3090672"/>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Sering ke cloud</a:t>
            </a:r>
            <a:endParaRPr lang="en-US" sz="1100" dirty="0"/>
          </a:p>
        </p:txBody>
      </p:sp>
      <p:sp>
        <p:nvSpPr>
          <p:cNvPr id="53" name="Shape 51"/>
          <p:cNvSpPr/>
          <p:nvPr/>
        </p:nvSpPr>
        <p:spPr>
          <a:xfrm>
            <a:off x="7178040" y="3090672"/>
            <a:ext cx="2011680" cy="475488"/>
          </a:xfrm>
          <a:prstGeom prst="rect">
            <a:avLst/>
          </a:prstGeom>
          <a:solidFill>
            <a:srgbClr val="E0F2F1"/>
          </a:solidFill>
          <a:ln w="12700">
            <a:solidFill>
              <a:srgbClr val="CBD5E1"/>
            </a:solidFill>
            <a:prstDash val="solid"/>
          </a:ln>
        </p:spPr>
      </p:sp>
      <p:sp>
        <p:nvSpPr>
          <p:cNvPr id="54" name="Text 52"/>
          <p:cNvSpPr txBox="1"/>
          <p:nvPr/>
        </p:nvSpPr>
        <p:spPr>
          <a:xfrm>
            <a:off x="7251192" y="3090672"/>
            <a:ext cx="1920240" cy="475488"/>
          </a:xfrm>
          <a:prstGeom prst="rect">
            <a:avLst/>
          </a:prstGeom>
          <a:noFill/>
          <a:ln/>
        </p:spPr>
        <p:txBody>
          <a:bodyPr wrap="square" lIns="0" tIns="0" rIns="0" bIns="0" rtlCol="0" anchor="ctr"/>
          <a:lstStyle/>
          <a:p>
            <a:pPr algn="ctr" indent="0" marL="0">
              <a:buNone/>
            </a:pPr>
            <a:r>
              <a:rPr lang="en-US" sz="1100" b="1" dirty="0">
                <a:solidFill>
                  <a:srgbClr val="00897B"/>
                </a:solidFill>
                <a:latin typeface="Calibri" pitchFamily="34" charset="0"/>
                <a:ea typeface="Calibri" pitchFamily="34" charset="-122"/>
                <a:cs typeface="Calibri" pitchFamily="34" charset="-120"/>
              </a:rPr>
              <a:t>✓ Data di faskes</a:t>
            </a:r>
            <a:endParaRPr lang="en-US" sz="1100" dirty="0"/>
          </a:p>
        </p:txBody>
      </p:sp>
      <p:sp>
        <p:nvSpPr>
          <p:cNvPr id="55" name="Shape 53"/>
          <p:cNvSpPr/>
          <p:nvPr/>
        </p:nvSpPr>
        <p:spPr>
          <a:xfrm>
            <a:off x="228600" y="3566160"/>
            <a:ext cx="2103120" cy="475488"/>
          </a:xfrm>
          <a:prstGeom prst="rect">
            <a:avLst/>
          </a:prstGeom>
          <a:solidFill>
            <a:srgbClr val="E8EAF6"/>
          </a:solidFill>
          <a:ln w="12700">
            <a:solidFill>
              <a:srgbClr val="CBD5E1"/>
            </a:solidFill>
            <a:prstDash val="solid"/>
          </a:ln>
        </p:spPr>
      </p:sp>
      <p:sp>
        <p:nvSpPr>
          <p:cNvPr id="56" name="Text 54"/>
          <p:cNvSpPr txBox="1"/>
          <p:nvPr/>
        </p:nvSpPr>
        <p:spPr>
          <a:xfrm>
            <a:off x="301752" y="3566160"/>
            <a:ext cx="2011680" cy="475488"/>
          </a:xfrm>
          <a:prstGeom prst="rect">
            <a:avLst/>
          </a:prstGeom>
          <a:noFill/>
          <a:ln/>
        </p:spPr>
        <p:txBody>
          <a:bodyPr wrap="square" lIns="0" tIns="0" rIns="0" bIns="0" rtlCol="0" anchor="ctr"/>
          <a:lstStyle/>
          <a:p>
            <a:pPr algn="l" indent="0" marL="0">
              <a:buNone/>
            </a:pPr>
            <a:r>
              <a:rPr lang="en-US" sz="1100" b="1" dirty="0">
                <a:solidFill>
                  <a:srgbClr val="0C2461"/>
                </a:solidFill>
                <a:latin typeface="Calibri" pitchFamily="34" charset="0"/>
                <a:ea typeface="Calibri" pitchFamily="34" charset="-122"/>
                <a:cs typeface="Calibri" pitchFamily="34" charset="-120"/>
              </a:rPr>
              <a:t>Audit Trail</a:t>
            </a:r>
            <a:endParaRPr lang="en-US" sz="1100" dirty="0"/>
          </a:p>
        </p:txBody>
      </p:sp>
      <p:sp>
        <p:nvSpPr>
          <p:cNvPr id="57" name="Shape 55"/>
          <p:cNvSpPr/>
          <p:nvPr/>
        </p:nvSpPr>
        <p:spPr>
          <a:xfrm>
            <a:off x="2377440" y="3566160"/>
            <a:ext cx="1554480" cy="475488"/>
          </a:xfrm>
          <a:prstGeom prst="rect">
            <a:avLst/>
          </a:prstGeom>
          <a:solidFill>
            <a:srgbClr val="FFFFFF"/>
          </a:solidFill>
          <a:ln w="12700">
            <a:solidFill>
              <a:srgbClr val="CBD5E1"/>
            </a:solidFill>
            <a:prstDash val="solid"/>
          </a:ln>
        </p:spPr>
      </p:sp>
      <p:sp>
        <p:nvSpPr>
          <p:cNvPr id="58" name="Text 56"/>
          <p:cNvSpPr txBox="1"/>
          <p:nvPr/>
        </p:nvSpPr>
        <p:spPr>
          <a:xfrm>
            <a:off x="2450592" y="3566160"/>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BPJS yang punya</a:t>
            </a:r>
            <a:endParaRPr lang="en-US" sz="1100" dirty="0"/>
          </a:p>
        </p:txBody>
      </p:sp>
      <p:sp>
        <p:nvSpPr>
          <p:cNvPr id="59" name="Shape 57"/>
          <p:cNvSpPr/>
          <p:nvPr/>
        </p:nvSpPr>
        <p:spPr>
          <a:xfrm>
            <a:off x="3977640" y="3566160"/>
            <a:ext cx="1554480" cy="475488"/>
          </a:xfrm>
          <a:prstGeom prst="rect">
            <a:avLst/>
          </a:prstGeom>
          <a:solidFill>
            <a:srgbClr val="FFFFFF"/>
          </a:solidFill>
          <a:ln w="12700">
            <a:solidFill>
              <a:srgbClr val="CBD5E1"/>
            </a:solidFill>
            <a:prstDash val="solid"/>
          </a:ln>
        </p:spPr>
      </p:sp>
      <p:sp>
        <p:nvSpPr>
          <p:cNvPr id="60" name="Text 58"/>
          <p:cNvSpPr txBox="1"/>
          <p:nvPr/>
        </p:nvSpPr>
        <p:spPr>
          <a:xfrm>
            <a:off x="4050792" y="3566160"/>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Tidak ada</a:t>
            </a:r>
            <a:endParaRPr lang="en-US" sz="1100" dirty="0"/>
          </a:p>
        </p:txBody>
      </p:sp>
      <p:sp>
        <p:nvSpPr>
          <p:cNvPr id="61" name="Shape 59"/>
          <p:cNvSpPr/>
          <p:nvPr/>
        </p:nvSpPr>
        <p:spPr>
          <a:xfrm>
            <a:off x="5577840" y="3566160"/>
            <a:ext cx="1554480" cy="475488"/>
          </a:xfrm>
          <a:prstGeom prst="rect">
            <a:avLst/>
          </a:prstGeom>
          <a:solidFill>
            <a:srgbClr val="FFFFFF"/>
          </a:solidFill>
          <a:ln w="12700">
            <a:solidFill>
              <a:srgbClr val="CBD5E1"/>
            </a:solidFill>
            <a:prstDash val="solid"/>
          </a:ln>
        </p:spPr>
      </p:sp>
      <p:sp>
        <p:nvSpPr>
          <p:cNvPr id="62" name="Text 60"/>
          <p:cNvSpPr txBox="1"/>
          <p:nvPr/>
        </p:nvSpPr>
        <p:spPr>
          <a:xfrm>
            <a:off x="5650992" y="3566160"/>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Tidak ada</a:t>
            </a:r>
            <a:endParaRPr lang="en-US" sz="1100" dirty="0"/>
          </a:p>
        </p:txBody>
      </p:sp>
      <p:sp>
        <p:nvSpPr>
          <p:cNvPr id="63" name="Shape 61"/>
          <p:cNvSpPr/>
          <p:nvPr/>
        </p:nvSpPr>
        <p:spPr>
          <a:xfrm>
            <a:off x="7178040" y="3566160"/>
            <a:ext cx="2011680" cy="475488"/>
          </a:xfrm>
          <a:prstGeom prst="rect">
            <a:avLst/>
          </a:prstGeom>
          <a:solidFill>
            <a:srgbClr val="E0F2F1"/>
          </a:solidFill>
          <a:ln w="12700">
            <a:solidFill>
              <a:srgbClr val="CBD5E1"/>
            </a:solidFill>
            <a:prstDash val="solid"/>
          </a:ln>
        </p:spPr>
      </p:sp>
      <p:sp>
        <p:nvSpPr>
          <p:cNvPr id="64" name="Text 62"/>
          <p:cNvSpPr txBox="1"/>
          <p:nvPr/>
        </p:nvSpPr>
        <p:spPr>
          <a:xfrm>
            <a:off x="7251192" y="3566160"/>
            <a:ext cx="1920240" cy="475488"/>
          </a:xfrm>
          <a:prstGeom prst="rect">
            <a:avLst/>
          </a:prstGeom>
          <a:noFill/>
          <a:ln/>
        </p:spPr>
        <p:txBody>
          <a:bodyPr wrap="square" lIns="0" tIns="0" rIns="0" bIns="0" rtlCol="0" anchor="ctr"/>
          <a:lstStyle/>
          <a:p>
            <a:pPr algn="ctr" indent="0" marL="0">
              <a:buNone/>
            </a:pPr>
            <a:r>
              <a:rPr lang="en-US" sz="1100" b="1" dirty="0">
                <a:solidFill>
                  <a:srgbClr val="00897B"/>
                </a:solidFill>
                <a:latin typeface="Calibri" pitchFamily="34" charset="0"/>
                <a:ea typeface="Calibri" pitchFamily="34" charset="-122"/>
                <a:cs typeface="Calibri" pitchFamily="34" charset="-120"/>
              </a:rPr>
              <a:t>✓ Milik faskes</a:t>
            </a:r>
            <a:endParaRPr lang="en-US" sz="1100" dirty="0"/>
          </a:p>
        </p:txBody>
      </p:sp>
      <p:sp>
        <p:nvSpPr>
          <p:cNvPr id="65" name="Shape 63"/>
          <p:cNvSpPr/>
          <p:nvPr/>
        </p:nvSpPr>
        <p:spPr>
          <a:xfrm>
            <a:off x="228600" y="4041648"/>
            <a:ext cx="2103120" cy="475488"/>
          </a:xfrm>
          <a:prstGeom prst="rect">
            <a:avLst/>
          </a:prstGeom>
          <a:solidFill>
            <a:srgbClr val="E8EAF6"/>
          </a:solidFill>
          <a:ln w="12700">
            <a:solidFill>
              <a:srgbClr val="CBD5E1"/>
            </a:solidFill>
            <a:prstDash val="solid"/>
          </a:ln>
        </p:spPr>
      </p:sp>
      <p:sp>
        <p:nvSpPr>
          <p:cNvPr id="66" name="Text 64"/>
          <p:cNvSpPr txBox="1"/>
          <p:nvPr/>
        </p:nvSpPr>
        <p:spPr>
          <a:xfrm>
            <a:off x="301752" y="4041648"/>
            <a:ext cx="2011680" cy="475488"/>
          </a:xfrm>
          <a:prstGeom prst="rect">
            <a:avLst/>
          </a:prstGeom>
          <a:noFill/>
          <a:ln/>
        </p:spPr>
        <p:txBody>
          <a:bodyPr wrap="square" lIns="0" tIns="0" rIns="0" bIns="0" rtlCol="0" anchor="ctr"/>
          <a:lstStyle/>
          <a:p>
            <a:pPr algn="l" indent="0" marL="0">
              <a:buNone/>
            </a:pPr>
            <a:r>
              <a:rPr lang="en-US" sz="1100" b="1" dirty="0">
                <a:solidFill>
                  <a:srgbClr val="0C2461"/>
                </a:solidFill>
                <a:latin typeface="Calibri" pitchFamily="34" charset="0"/>
                <a:ea typeface="Calibri" pitchFamily="34" charset="-122"/>
                <a:cs typeface="Calibri" pitchFamily="34" charset="-120"/>
              </a:rPr>
              <a:t>Liability Jelas</a:t>
            </a:r>
            <a:endParaRPr lang="en-US" sz="1100" dirty="0"/>
          </a:p>
        </p:txBody>
      </p:sp>
      <p:sp>
        <p:nvSpPr>
          <p:cNvPr id="67" name="Shape 65"/>
          <p:cNvSpPr/>
          <p:nvPr/>
        </p:nvSpPr>
        <p:spPr>
          <a:xfrm>
            <a:off x="2377440" y="4041648"/>
            <a:ext cx="1554480" cy="475488"/>
          </a:xfrm>
          <a:prstGeom prst="rect">
            <a:avLst/>
          </a:prstGeom>
          <a:solidFill>
            <a:srgbClr val="FFFFFF"/>
          </a:solidFill>
          <a:ln w="12700">
            <a:solidFill>
              <a:srgbClr val="CBD5E1"/>
            </a:solidFill>
            <a:prstDash val="solid"/>
          </a:ln>
        </p:spPr>
      </p:sp>
      <p:sp>
        <p:nvSpPr>
          <p:cNvPr id="68" name="Text 66"/>
          <p:cNvSpPr txBox="1"/>
          <p:nvPr/>
        </p:nvSpPr>
        <p:spPr>
          <a:xfrm>
            <a:off x="2450592" y="4041648"/>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69" name="Shape 67"/>
          <p:cNvSpPr/>
          <p:nvPr/>
        </p:nvSpPr>
        <p:spPr>
          <a:xfrm>
            <a:off x="3977640" y="4041648"/>
            <a:ext cx="1554480" cy="475488"/>
          </a:xfrm>
          <a:prstGeom prst="rect">
            <a:avLst/>
          </a:prstGeom>
          <a:solidFill>
            <a:srgbClr val="FFFFFF"/>
          </a:solidFill>
          <a:ln w="12700">
            <a:solidFill>
              <a:srgbClr val="CBD5E1"/>
            </a:solidFill>
            <a:prstDash val="solid"/>
          </a:ln>
        </p:spPr>
      </p:sp>
      <p:sp>
        <p:nvSpPr>
          <p:cNvPr id="70" name="Text 68"/>
          <p:cNvSpPr txBox="1"/>
          <p:nvPr/>
        </p:nvSpPr>
        <p:spPr>
          <a:xfrm>
            <a:off x="4050792" y="4041648"/>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71" name="Shape 69"/>
          <p:cNvSpPr/>
          <p:nvPr/>
        </p:nvSpPr>
        <p:spPr>
          <a:xfrm>
            <a:off x="5577840" y="4041648"/>
            <a:ext cx="1554480" cy="475488"/>
          </a:xfrm>
          <a:prstGeom prst="rect">
            <a:avLst/>
          </a:prstGeom>
          <a:solidFill>
            <a:srgbClr val="FFFFFF"/>
          </a:solidFill>
          <a:ln w="12700">
            <a:solidFill>
              <a:srgbClr val="CBD5E1"/>
            </a:solidFill>
            <a:prstDash val="solid"/>
          </a:ln>
        </p:spPr>
      </p:sp>
      <p:sp>
        <p:nvSpPr>
          <p:cNvPr id="72" name="Text 70"/>
          <p:cNvSpPr txBox="1"/>
          <p:nvPr/>
        </p:nvSpPr>
        <p:spPr>
          <a:xfrm>
            <a:off x="5650992" y="4041648"/>
            <a:ext cx="1463040" cy="475488"/>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p>
        </p:txBody>
      </p:sp>
      <p:sp>
        <p:nvSpPr>
          <p:cNvPr id="73" name="Shape 71"/>
          <p:cNvSpPr/>
          <p:nvPr/>
        </p:nvSpPr>
        <p:spPr>
          <a:xfrm>
            <a:off x="7178040" y="4041648"/>
            <a:ext cx="2011680" cy="475488"/>
          </a:xfrm>
          <a:prstGeom prst="rect">
            <a:avLst/>
          </a:prstGeom>
          <a:solidFill>
            <a:srgbClr val="E0F2F1"/>
          </a:solidFill>
          <a:ln w="12700">
            <a:solidFill>
              <a:srgbClr val="CBD5E1"/>
            </a:solidFill>
            <a:prstDash val="solid"/>
          </a:ln>
        </p:spPr>
      </p:sp>
      <p:sp>
        <p:nvSpPr>
          <p:cNvPr id="74" name="Text 72"/>
          <p:cNvSpPr txBox="1"/>
          <p:nvPr/>
        </p:nvSpPr>
        <p:spPr>
          <a:xfrm>
            <a:off x="7251192" y="4041648"/>
            <a:ext cx="1920240" cy="475488"/>
          </a:xfrm>
          <a:prstGeom prst="rect">
            <a:avLst/>
          </a:prstGeom>
          <a:noFill/>
          <a:ln/>
        </p:spPr>
        <p:txBody>
          <a:bodyPr wrap="square" lIns="0" tIns="0" rIns="0" bIns="0" rtlCol="0" anchor="ctr"/>
          <a:lstStyle/>
          <a:p>
            <a:pPr algn="ctr" indent="0" marL="0">
              <a:buNone/>
            </a:pPr>
            <a:r>
              <a:rPr lang="en-US" sz="1100" b="1" dirty="0">
                <a:solidFill>
                  <a:srgbClr val="00897B"/>
                </a:solidFill>
                <a:latin typeface="Calibri" pitchFamily="34" charset="0"/>
                <a:ea typeface="Calibri" pitchFamily="34" charset="-122"/>
                <a:cs typeface="Calibri" pitchFamily="34" charset="-120"/>
              </a:rPr>
              <a:t>✓ Human-in-loop</a:t>
            </a:r>
            <a:endParaRPr lang="en-US" sz="1100" dirty="0"/>
          </a:p>
        </p:txBody>
      </p:sp>
      <p:sp>
        <p:nvSpPr>
          <p:cNvPr id="75" name="Shape 73"/>
          <p:cNvSpPr/>
          <p:nvPr/>
        </p:nvSpPr>
        <p:spPr>
          <a:xfrm>
            <a:off x="228600" y="4572000"/>
            <a:ext cx="8686800" cy="411480"/>
          </a:xfrm>
          <a:prstGeom prst="rect">
            <a:avLst/>
          </a:prstGeom>
          <a:solidFill>
            <a:srgbClr val="EEF4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76" name="Text 74"/>
          <p:cNvSpPr txBox="1"/>
          <p:nvPr/>
        </p:nvSpPr>
        <p:spPr>
          <a:xfrm>
            <a:off x="411480" y="4572000"/>
            <a:ext cx="8321040" cy="41148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TilikKlaim adalah satu-satunya solusi yang bekerja di titik paling kritis — sebelum submit, dengan data yang dapat diaudit, dan liability chain yang jelas.</a:t>
            </a:r>
            <a:endParaRPr lang="en-US" sz="1100" dirty="0"/>
          </a:p>
        </p:txBody>
      </p:sp>
      <p:sp>
        <p:nvSpPr>
          <p:cNvPr id="77" name="Text 75"/>
          <p:cNvSpPr txBox="1"/>
          <p:nvPr/>
        </p:nvSpPr>
        <p:spPr>
          <a:xfrm>
            <a:off x="8686800" y="4572000"/>
            <a:ext cx="411480" cy="182880"/>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8 / 20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897B"/>
          </a:solidFill>
          <a:ln w="12700">
            <a:solidFill>
              <a:srgbClr val="00897B"/>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B4  ·  PENDEKATAN TEKNIS &amp; DATA</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Arsitektur: 3-Layer Data Flow</a:t>
            </a:r>
            <a:endParaRPr lang="en-US" sz="2800" dirty="0"/>
          </a:p>
        </p:txBody>
      </p:sp>
      <p:sp>
        <p:nvSpPr>
          <p:cNvPr id="5" name="Shape 3"/>
          <p:cNvSpPr/>
          <p:nvPr/>
        </p:nvSpPr>
        <p:spPr>
          <a:xfrm>
            <a:off x="274320" y="1234440"/>
            <a:ext cx="2651760" cy="365760"/>
          </a:xfrm>
          <a:prstGeom prst="rect">
            <a:avLst/>
          </a:prstGeom>
          <a:solidFill>
            <a:srgbClr val="1565C0"/>
          </a:solidFill>
          <a:ln w="12700">
            <a:solidFill>
              <a:srgbClr val="1565C0"/>
            </a:solidFill>
            <a:prstDash val="solid"/>
          </a:ln>
        </p:spPr>
      </p:sp>
      <p:sp>
        <p:nvSpPr>
          <p:cNvPr id="6" name="Text 4"/>
          <p:cNvSpPr txBox="1"/>
          <p:nvPr/>
        </p:nvSpPr>
        <p:spPr>
          <a:xfrm>
            <a:off x="274320" y="1234440"/>
            <a:ext cx="2651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INPUT</a:t>
            </a:r>
            <a:endParaRPr lang="en-US" sz="1300" dirty="0"/>
          </a:p>
        </p:txBody>
      </p:sp>
      <p:sp>
        <p:nvSpPr>
          <p:cNvPr id="7" name="Shape 5"/>
          <p:cNvSpPr/>
          <p:nvPr/>
        </p:nvSpPr>
        <p:spPr>
          <a:xfrm>
            <a:off x="274320" y="1600200"/>
            <a:ext cx="2651760" cy="256032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8" name="Text 6"/>
          <p:cNvSpPr txBox="1"/>
          <p:nvPr/>
        </p:nvSpPr>
        <p:spPr>
          <a:xfrm>
            <a:off x="411480" y="1737360"/>
            <a:ext cx="2377440" cy="10515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Data klaim dari SIM RS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(CSV / API upload)</a:t>
            </a:r>
            <a:endParaRPr lang="en-US" sz="1100" dirty="0"/>
          </a:p>
        </p:txBody>
      </p:sp>
      <p:sp>
        <p:nvSpPr>
          <p:cNvPr id="9" name="Shape 7"/>
          <p:cNvSpPr/>
          <p:nvPr/>
        </p:nvSpPr>
        <p:spPr>
          <a:xfrm>
            <a:off x="411480" y="2834640"/>
            <a:ext cx="2377440" cy="9144"/>
          </a:xfrm>
          <a:prstGeom prst="rect">
            <a:avLst/>
          </a:prstGeom>
          <a:solidFill>
            <a:srgbClr val="CBD5E1"/>
          </a:solidFill>
          <a:ln w="12700">
            <a:solidFill>
              <a:srgbClr val="CBD5E1"/>
            </a:solidFill>
            <a:prstDash val="solid"/>
          </a:ln>
        </p:spPr>
      </p:sp>
      <p:sp>
        <p:nvSpPr>
          <p:cNvPr id="10" name="Text 8"/>
          <p:cNvSpPr txBox="1"/>
          <p:nvPr/>
        </p:nvSpPr>
        <p:spPr>
          <a:xfrm>
            <a:off x="411480" y="2880360"/>
            <a:ext cx="2377440" cy="10515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ID Pasien pseudonim</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Kode ICD-10, INA-CBGs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Tanggal layanan, Provinsi, Kelas</a:t>
            </a:r>
            <a:endParaRPr lang="en-US" sz="1100" dirty="0"/>
          </a:p>
        </p:txBody>
      </p:sp>
      <p:sp>
        <p:nvSpPr>
          <p:cNvPr id="11" name="Text 9"/>
          <p:cNvSpPr txBox="1"/>
          <p:nvPr/>
        </p:nvSpPr>
        <p:spPr>
          <a:xfrm>
            <a:off x="3017520" y="2560320"/>
            <a:ext cx="182880" cy="457200"/>
          </a:xfrm>
          <a:prstGeom prst="rect">
            <a:avLst/>
          </a:prstGeom>
          <a:noFill/>
          <a:ln/>
        </p:spPr>
        <p:txBody>
          <a:bodyPr wrap="square" lIns="0" tIns="0" rIns="0" bIns="0" rtlCol="0" anchor="ctr"/>
          <a:lstStyle/>
          <a:p>
            <a:pPr indent="0" marL="0">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200400" y="1234440"/>
            <a:ext cx="2651760" cy="365760"/>
          </a:xfrm>
          <a:prstGeom prst="rect">
            <a:avLst/>
          </a:prstGeom>
          <a:solidFill>
            <a:srgbClr val="00897B"/>
          </a:solidFill>
          <a:ln w="12700">
            <a:solidFill>
              <a:srgbClr val="00897B"/>
            </a:solidFill>
            <a:prstDash val="solid"/>
          </a:ln>
        </p:spPr>
      </p:sp>
      <p:sp>
        <p:nvSpPr>
          <p:cNvPr id="13" name="Text 11"/>
          <p:cNvSpPr txBox="1"/>
          <p:nvPr/>
        </p:nvSpPr>
        <p:spPr>
          <a:xfrm>
            <a:off x="3200400" y="1234440"/>
            <a:ext cx="2651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PROSES</a:t>
            </a:r>
            <a:endParaRPr lang="en-US" sz="1300" dirty="0"/>
          </a:p>
        </p:txBody>
      </p:sp>
      <p:sp>
        <p:nvSpPr>
          <p:cNvPr id="14" name="Shape 12"/>
          <p:cNvSpPr/>
          <p:nvPr/>
        </p:nvSpPr>
        <p:spPr>
          <a:xfrm>
            <a:off x="3200400" y="1600200"/>
            <a:ext cx="2651760" cy="2560320"/>
          </a:xfrm>
          <a:prstGeom prst="rect">
            <a:avLst/>
          </a:prstGeom>
          <a:solidFill>
            <a:srgbClr val="FFFFFF"/>
          </a:solidFill>
          <a:ln w="12700">
            <a:solidFill>
              <a:srgbClr val="00897B"/>
            </a:solidFill>
            <a:prstDash val="solid"/>
          </a:ln>
          <a:effectLst>
            <a:outerShdw sx="100000" sy="100000" kx="0" ky="0" algn="bl" rotWithShape="0" blurRad="50800" dist="25400" dir="2700000">
              <a:srgbClr val="94A3B8">
                <a:alpha val="15000"/>
              </a:srgbClr>
            </a:outerShdw>
          </a:effectLst>
        </p:spPr>
      </p:sp>
      <p:sp>
        <p:nvSpPr>
          <p:cNvPr id="15" name="Text 13"/>
          <p:cNvSpPr txBox="1"/>
          <p:nvPr/>
        </p:nvSpPr>
        <p:spPr>
          <a:xfrm>
            <a:off x="3337560" y="1737360"/>
            <a:ext cx="2377440" cy="10515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Rules Engine Deterministik</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(ADR-0002: No LLM)</a:t>
            </a:r>
            <a:endParaRPr lang="en-US" sz="1100" dirty="0"/>
          </a:p>
        </p:txBody>
      </p:sp>
      <p:sp>
        <p:nvSpPr>
          <p:cNvPr id="16" name="Shape 14"/>
          <p:cNvSpPr/>
          <p:nvPr/>
        </p:nvSpPr>
        <p:spPr>
          <a:xfrm>
            <a:off x="3337560" y="2834640"/>
            <a:ext cx="2377440" cy="9144"/>
          </a:xfrm>
          <a:prstGeom prst="rect">
            <a:avLst/>
          </a:prstGeom>
          <a:solidFill>
            <a:srgbClr val="CBD5E1"/>
          </a:solidFill>
          <a:ln w="12700">
            <a:solidFill>
              <a:srgbClr val="CBD5E1"/>
            </a:solidFill>
            <a:prstDash val="solid"/>
          </a:ln>
        </p:spPr>
      </p:sp>
      <p:sp>
        <p:nvSpPr>
          <p:cNvPr id="17" name="Text 15"/>
          <p:cNvSpPr txBox="1"/>
          <p:nvPr/>
        </p:nvSpPr>
        <p:spPr>
          <a:xfrm>
            <a:off x="3337560" y="2880360"/>
            <a:ext cx="2377440" cy="10515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Expected Cost Matrix</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Duplikasi detector</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Similarity scoring</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Kode-biaya validator</a:t>
            </a:r>
            <a:endParaRPr lang="en-US" sz="1100" dirty="0"/>
          </a:p>
        </p:txBody>
      </p:sp>
      <p:sp>
        <p:nvSpPr>
          <p:cNvPr id="18" name="Text 16"/>
          <p:cNvSpPr txBox="1"/>
          <p:nvPr/>
        </p:nvSpPr>
        <p:spPr>
          <a:xfrm>
            <a:off x="5943600" y="2560320"/>
            <a:ext cx="182880" cy="457200"/>
          </a:xfrm>
          <a:prstGeom prst="rect">
            <a:avLst/>
          </a:prstGeom>
          <a:noFill/>
          <a:ln/>
        </p:spPr>
        <p:txBody>
          <a:bodyPr wrap="square" lIns="0" tIns="0" rIns="0" bIns="0" rtlCol="0" anchor="ctr"/>
          <a:lstStyle/>
          <a:p>
            <a:pPr indent="0" marL="0">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126480" y="1234440"/>
            <a:ext cx="2651760" cy="365760"/>
          </a:xfrm>
          <a:prstGeom prst="rect">
            <a:avLst/>
          </a:prstGeom>
          <a:solidFill>
            <a:srgbClr val="0C2461"/>
          </a:solidFill>
          <a:ln w="12700">
            <a:solidFill>
              <a:srgbClr val="0C2461"/>
            </a:solidFill>
            <a:prstDash val="solid"/>
          </a:ln>
        </p:spPr>
      </p:sp>
      <p:sp>
        <p:nvSpPr>
          <p:cNvPr id="20" name="Text 18"/>
          <p:cNvSpPr txBox="1"/>
          <p:nvPr/>
        </p:nvSpPr>
        <p:spPr>
          <a:xfrm>
            <a:off x="6126480" y="1234440"/>
            <a:ext cx="2651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OUTPUT</a:t>
            </a:r>
            <a:endParaRPr lang="en-US" sz="1300" dirty="0"/>
          </a:p>
        </p:txBody>
      </p:sp>
      <p:sp>
        <p:nvSpPr>
          <p:cNvPr id="21" name="Shape 19"/>
          <p:cNvSpPr/>
          <p:nvPr/>
        </p:nvSpPr>
        <p:spPr>
          <a:xfrm>
            <a:off x="6126480" y="1600200"/>
            <a:ext cx="2651760" cy="2560320"/>
          </a:xfrm>
          <a:prstGeom prst="rect">
            <a:avLst/>
          </a:prstGeom>
          <a:solidFill>
            <a:srgbClr val="FFFFFF"/>
          </a:solidFill>
          <a:ln w="12700">
            <a:solidFill>
              <a:srgbClr val="0C2461"/>
            </a:solidFill>
            <a:prstDash val="solid"/>
          </a:ln>
          <a:effectLst>
            <a:outerShdw sx="100000" sy="100000" kx="0" ky="0" algn="bl" rotWithShape="0" blurRad="50800" dist="25400" dir="2700000">
              <a:srgbClr val="94A3B8">
                <a:alpha val="15000"/>
              </a:srgbClr>
            </a:outerShdw>
          </a:effectLst>
        </p:spPr>
      </p:sp>
      <p:sp>
        <p:nvSpPr>
          <p:cNvPr id="22" name="Text 20"/>
          <p:cNvSpPr txBox="1"/>
          <p:nvPr/>
        </p:nvSpPr>
        <p:spPr>
          <a:xfrm>
            <a:off x="6263640" y="1737360"/>
            <a:ext cx="2377440" cy="10515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Risk Signal Card per klaim</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Review Queue prioritas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Disposition Form + alasan</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Audit Trail immutable</a:t>
            </a:r>
            <a:endParaRPr lang="en-US" sz="1100" dirty="0"/>
          </a:p>
        </p:txBody>
      </p:sp>
      <p:sp>
        <p:nvSpPr>
          <p:cNvPr id="23" name="Shape 21"/>
          <p:cNvSpPr/>
          <p:nvPr/>
        </p:nvSpPr>
        <p:spPr>
          <a:xfrm>
            <a:off x="6263640" y="2834640"/>
            <a:ext cx="2377440" cy="9144"/>
          </a:xfrm>
          <a:prstGeom prst="rect">
            <a:avLst/>
          </a:prstGeom>
          <a:solidFill>
            <a:srgbClr val="CBD5E1"/>
          </a:solidFill>
          <a:ln w="12700">
            <a:solidFill>
              <a:srgbClr val="CBD5E1"/>
            </a:solidFill>
            <a:prstDash val="solid"/>
          </a:ln>
        </p:spPr>
      </p:sp>
      <p:sp>
        <p:nvSpPr>
          <p:cNvPr id="24" name="Text 22"/>
          <p:cNvSpPr txBox="1"/>
          <p:nvPr/>
        </p:nvSpPr>
        <p:spPr>
          <a:xfrm>
            <a:off x="274320" y="4315968"/>
            <a:ext cx="859536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Stack: FastAPI  ·  React  ·  PostgreSQL  ·  Docker Compose (demo lokal, tanpa dependensi eksternal)</a:t>
            </a:r>
            <a:endParaRPr lang="en-US" sz="1000" dirty="0"/>
          </a:p>
        </p:txBody>
      </p:sp>
      <p:sp>
        <p:nvSpPr>
          <p:cNvPr id="25" name="Shape 23"/>
          <p:cNvSpPr/>
          <p:nvPr/>
        </p:nvSpPr>
        <p:spPr>
          <a:xfrm>
            <a:off x="274320" y="4645152"/>
            <a:ext cx="1920240" cy="320040"/>
          </a:xfrm>
          <a:prstGeom prst="roundRect">
            <a:avLst>
              <a:gd name="adj" fmla="val 14286"/>
            </a:avLst>
          </a:prstGeom>
          <a:solidFill>
            <a:srgbClr val="E8EAF6"/>
          </a:solidFill>
          <a:ln w="12700">
            <a:solidFill>
              <a:srgbClr val="0C2461"/>
            </a:solidFill>
            <a:prstDash val="solid"/>
          </a:ln>
        </p:spPr>
      </p:sp>
      <p:sp>
        <p:nvSpPr>
          <p:cNvPr id="26" name="Text 24"/>
          <p:cNvSpPr txBox="1"/>
          <p:nvPr/>
        </p:nvSpPr>
        <p:spPr>
          <a:xfrm>
            <a:off x="274320" y="4645152"/>
            <a:ext cx="1920240" cy="320040"/>
          </a:xfrm>
          <a:prstGeom prst="rect">
            <a:avLst/>
          </a:prstGeom>
          <a:noFill/>
          <a:ln/>
        </p:spPr>
        <p:txBody>
          <a:bodyPr wrap="square" lIns="0" tIns="0" rIns="0" bIns="0" rtlCol="0" anchor="ctr"/>
          <a:lstStyle/>
          <a:p>
            <a:pPr algn="ctr" indent="0" marL="0">
              <a:buNone/>
            </a:pPr>
            <a:r>
              <a:rPr lang="en-US" sz="1000" b="1" dirty="0">
                <a:solidFill>
                  <a:srgbClr val="0C2461"/>
                </a:solidFill>
                <a:latin typeface="Calibri" pitchFamily="34" charset="0"/>
                <a:ea typeface="Calibri" pitchFamily="34" charset="-122"/>
                <a:cs typeface="Calibri" pitchFamily="34" charset="-120"/>
              </a:rPr>
              <a:t>■ Privacy by Design</a:t>
            </a:r>
            <a:endParaRPr lang="en-US" sz="1000" dirty="0"/>
          </a:p>
        </p:txBody>
      </p:sp>
      <p:sp>
        <p:nvSpPr>
          <p:cNvPr id="27" name="Shape 25"/>
          <p:cNvSpPr/>
          <p:nvPr/>
        </p:nvSpPr>
        <p:spPr>
          <a:xfrm>
            <a:off x="2450592" y="4645152"/>
            <a:ext cx="1920240" cy="320040"/>
          </a:xfrm>
          <a:prstGeom prst="roundRect">
            <a:avLst>
              <a:gd name="adj" fmla="val 14286"/>
            </a:avLst>
          </a:prstGeom>
          <a:solidFill>
            <a:srgbClr val="E8EAF6"/>
          </a:solidFill>
          <a:ln w="12700">
            <a:solidFill>
              <a:srgbClr val="0C2461"/>
            </a:solidFill>
            <a:prstDash val="solid"/>
          </a:ln>
        </p:spPr>
      </p:sp>
      <p:sp>
        <p:nvSpPr>
          <p:cNvPr id="28" name="Text 26"/>
          <p:cNvSpPr txBox="1"/>
          <p:nvPr/>
        </p:nvSpPr>
        <p:spPr>
          <a:xfrm>
            <a:off x="2450592" y="4645152"/>
            <a:ext cx="1920240" cy="320040"/>
          </a:xfrm>
          <a:prstGeom prst="rect">
            <a:avLst/>
          </a:prstGeom>
          <a:noFill/>
          <a:ln/>
        </p:spPr>
        <p:txBody>
          <a:bodyPr wrap="square" lIns="0" tIns="0" rIns="0" bIns="0" rtlCol="0" anchor="ctr"/>
          <a:lstStyle/>
          <a:p>
            <a:pPr algn="ctr" indent="0" marL="0">
              <a:buNone/>
            </a:pPr>
            <a:r>
              <a:rPr lang="en-US" sz="1000" b="1" dirty="0">
                <a:solidFill>
                  <a:srgbClr val="0C2461"/>
                </a:solidFill>
                <a:latin typeface="Calibri" pitchFamily="34" charset="0"/>
                <a:ea typeface="Calibri" pitchFamily="34" charset="-122"/>
                <a:cs typeface="Calibri" pitchFamily="34" charset="-120"/>
              </a:rPr>
              <a:t>⚙️ Deterministik</a:t>
            </a:r>
            <a:endParaRPr lang="en-US" sz="1000" dirty="0"/>
          </a:p>
        </p:txBody>
      </p:sp>
      <p:sp>
        <p:nvSpPr>
          <p:cNvPr id="29" name="Shape 27"/>
          <p:cNvSpPr/>
          <p:nvPr/>
        </p:nvSpPr>
        <p:spPr>
          <a:xfrm>
            <a:off x="4626864" y="4645152"/>
            <a:ext cx="1920240" cy="320040"/>
          </a:xfrm>
          <a:prstGeom prst="roundRect">
            <a:avLst>
              <a:gd name="adj" fmla="val 14286"/>
            </a:avLst>
          </a:prstGeom>
          <a:solidFill>
            <a:srgbClr val="E8EAF6"/>
          </a:solidFill>
          <a:ln w="12700">
            <a:solidFill>
              <a:srgbClr val="0C2461"/>
            </a:solidFill>
            <a:prstDash val="solid"/>
          </a:ln>
        </p:spPr>
      </p:sp>
      <p:sp>
        <p:nvSpPr>
          <p:cNvPr id="30" name="Text 28"/>
          <p:cNvSpPr txBox="1"/>
          <p:nvPr/>
        </p:nvSpPr>
        <p:spPr>
          <a:xfrm>
            <a:off x="4626864" y="4645152"/>
            <a:ext cx="1920240" cy="320040"/>
          </a:xfrm>
          <a:prstGeom prst="rect">
            <a:avLst/>
          </a:prstGeom>
          <a:noFill/>
          <a:ln/>
        </p:spPr>
        <p:txBody>
          <a:bodyPr wrap="square" lIns="0" tIns="0" rIns="0" bIns="0" rtlCol="0" anchor="ctr"/>
          <a:lstStyle/>
          <a:p>
            <a:pPr algn="ctr" indent="0" marL="0">
              <a:buNone/>
            </a:pPr>
            <a:r>
              <a:rPr lang="en-US" sz="1000" b="1" dirty="0">
                <a:solidFill>
                  <a:srgbClr val="0C2461"/>
                </a:solidFill>
                <a:latin typeface="Calibri" pitchFamily="34" charset="0"/>
                <a:ea typeface="Calibri" pitchFamily="34" charset="-122"/>
                <a:cs typeface="Calibri" pitchFamily="34" charset="-120"/>
              </a:rPr>
              <a:t>● Human-in-the-loop</a:t>
            </a:r>
            <a:endParaRPr lang="en-US" sz="1000" dirty="0"/>
          </a:p>
        </p:txBody>
      </p:sp>
      <p:sp>
        <p:nvSpPr>
          <p:cNvPr id="31" name="Shape 29"/>
          <p:cNvSpPr/>
          <p:nvPr/>
        </p:nvSpPr>
        <p:spPr>
          <a:xfrm>
            <a:off x="6803136" y="4645152"/>
            <a:ext cx="1920240" cy="320040"/>
          </a:xfrm>
          <a:prstGeom prst="roundRect">
            <a:avLst>
              <a:gd name="adj" fmla="val 14286"/>
            </a:avLst>
          </a:prstGeom>
          <a:solidFill>
            <a:srgbClr val="E8EAF6"/>
          </a:solidFill>
          <a:ln w="12700">
            <a:solidFill>
              <a:srgbClr val="0C2461"/>
            </a:solidFill>
            <a:prstDash val="solid"/>
          </a:ln>
        </p:spPr>
      </p:sp>
      <p:sp>
        <p:nvSpPr>
          <p:cNvPr id="32" name="Text 30"/>
          <p:cNvSpPr txBox="1"/>
          <p:nvPr/>
        </p:nvSpPr>
        <p:spPr>
          <a:xfrm>
            <a:off x="6803136" y="4645152"/>
            <a:ext cx="1920240" cy="320040"/>
          </a:xfrm>
          <a:prstGeom prst="rect">
            <a:avLst/>
          </a:prstGeom>
          <a:noFill/>
          <a:ln/>
        </p:spPr>
        <p:txBody>
          <a:bodyPr wrap="square" lIns="0" tIns="0" rIns="0" bIns="0" rtlCol="0" anchor="ctr"/>
          <a:lstStyle/>
          <a:p>
            <a:pPr algn="ctr" indent="0" marL="0">
              <a:buNone/>
            </a:pPr>
            <a:r>
              <a:rPr lang="en-US" sz="1000" b="1" dirty="0">
                <a:solidFill>
                  <a:srgbClr val="0C2461"/>
                </a:solidFill>
                <a:latin typeface="Calibri" pitchFamily="34" charset="0"/>
                <a:ea typeface="Calibri" pitchFamily="34" charset="-122"/>
                <a:cs typeface="Calibri" pitchFamily="34" charset="-120"/>
              </a:rPr>
              <a:t>■ Audit Trail</a:t>
            </a:r>
            <a:endParaRPr lang="en-US" sz="1000" dirty="0"/>
          </a:p>
        </p:txBody>
      </p:sp>
      <p:sp>
        <p:nvSpPr>
          <p:cNvPr id="33" name="Text 31"/>
          <p:cNvSpPr txBox="1"/>
          <p:nvPr/>
        </p:nvSpPr>
        <p:spPr>
          <a:xfrm>
            <a:off x="8046720" y="4892040"/>
            <a:ext cx="1005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897B"/>
          </a:solidFill>
          <a:ln w="12700">
            <a:solidFill>
              <a:srgbClr val="00897B"/>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B4  ·  PENDEKATAN TEKNIS &amp; DATA</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Strategi Data Dua Lapis</a:t>
            </a:r>
            <a:endParaRPr lang="en-US" sz="2800" dirty="0"/>
          </a:p>
        </p:txBody>
      </p:sp>
      <p:sp>
        <p:nvSpPr>
          <p:cNvPr id="5" name="Shape 3"/>
          <p:cNvSpPr/>
          <p:nvPr/>
        </p:nvSpPr>
        <p:spPr>
          <a:xfrm>
            <a:off x="274320" y="1188720"/>
            <a:ext cx="4114800" cy="361188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6" name="Shape 4"/>
          <p:cNvSpPr/>
          <p:nvPr/>
        </p:nvSpPr>
        <p:spPr>
          <a:xfrm>
            <a:off x="274320" y="1188720"/>
            <a:ext cx="4114800" cy="411480"/>
          </a:xfrm>
          <a:prstGeom prst="rect">
            <a:avLst/>
          </a:prstGeom>
          <a:solidFill>
            <a:srgbClr val="1565C0"/>
          </a:solidFill>
          <a:ln w="12700">
            <a:solidFill>
              <a:srgbClr val="1565C0"/>
            </a:solidFill>
            <a:prstDash val="solid"/>
          </a:ln>
        </p:spPr>
      </p:sp>
      <p:sp>
        <p:nvSpPr>
          <p:cNvPr id="7" name="Text 5"/>
          <p:cNvSpPr txBox="1"/>
          <p:nvPr/>
        </p:nvSpPr>
        <p:spPr>
          <a:xfrm>
            <a:off x="411480" y="1188720"/>
            <a:ext cx="38404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LAPIS 1 — Data Publik DJSN</a:t>
            </a:r>
            <a:endParaRPr lang="en-US" sz="1200" dirty="0"/>
          </a:p>
        </p:txBody>
      </p:sp>
      <p:sp>
        <p:nvSpPr>
          <p:cNvPr id="8" name="Text 6"/>
          <p:cNvSpPr txBox="1"/>
          <p:nvPr/>
        </p:nvSpPr>
        <p:spPr>
          <a:xfrm>
            <a:off x="457200" y="1691640"/>
            <a:ext cx="374904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6 dataset dari data.bpjs-kesehatan.go.id</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Agregat per Provinsi × Kelas × Usia (2014–2018)</a:t>
            </a:r>
            <a:endParaRPr lang="en-US" sz="1100" dirty="0"/>
          </a:p>
        </p:txBody>
      </p:sp>
      <p:sp>
        <p:nvSpPr>
          <p:cNvPr id="9" name="Text 7"/>
          <p:cNvSpPr txBox="1"/>
          <p:nvPr/>
        </p:nvSpPr>
        <p:spPr>
          <a:xfrm>
            <a:off x="457200" y="2304288"/>
            <a:ext cx="3749040" cy="3200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6.2.1 — RJTL per Hak Kelas Perawatan</a:t>
            </a:r>
            <a:endParaRPr lang="en-US" sz="1000" dirty="0"/>
          </a:p>
        </p:txBody>
      </p:sp>
      <p:sp>
        <p:nvSpPr>
          <p:cNvPr id="10" name="Text 8"/>
          <p:cNvSpPr txBox="1"/>
          <p:nvPr/>
        </p:nvSpPr>
        <p:spPr>
          <a:xfrm>
            <a:off x="457200" y="2660904"/>
            <a:ext cx="3749040" cy="3200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6.2.2 — RJTL per Usia &amp; Jenis Kelamin</a:t>
            </a:r>
            <a:endParaRPr lang="en-US" sz="1000" dirty="0"/>
          </a:p>
        </p:txBody>
      </p:sp>
      <p:sp>
        <p:nvSpPr>
          <p:cNvPr id="11" name="Text 9"/>
          <p:cNvSpPr txBox="1"/>
          <p:nvPr/>
        </p:nvSpPr>
        <p:spPr>
          <a:xfrm>
            <a:off x="457200" y="3017520"/>
            <a:ext cx="3749040" cy="3200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6.2.3 — RJTL per Provinsi (34 Prov.)</a:t>
            </a:r>
            <a:endParaRPr lang="en-US" sz="1000" dirty="0"/>
          </a:p>
        </p:txBody>
      </p:sp>
      <p:sp>
        <p:nvSpPr>
          <p:cNvPr id="12" name="Text 10"/>
          <p:cNvSpPr txBox="1"/>
          <p:nvPr/>
        </p:nvSpPr>
        <p:spPr>
          <a:xfrm>
            <a:off x="457200" y="3374136"/>
            <a:ext cx="3749040" cy="3200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6.3.1 — RITL per Hak Kelas Perawatan</a:t>
            </a:r>
            <a:endParaRPr lang="en-US" sz="1000" dirty="0"/>
          </a:p>
        </p:txBody>
      </p:sp>
      <p:sp>
        <p:nvSpPr>
          <p:cNvPr id="13" name="Text 11"/>
          <p:cNvSpPr txBox="1"/>
          <p:nvPr/>
        </p:nvSpPr>
        <p:spPr>
          <a:xfrm>
            <a:off x="457200" y="3730752"/>
            <a:ext cx="3749040" cy="3200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6.3.2 — RITL per Usia &amp; Jenis Kelamin</a:t>
            </a:r>
            <a:endParaRPr lang="en-US" sz="1000" dirty="0"/>
          </a:p>
        </p:txBody>
      </p:sp>
      <p:sp>
        <p:nvSpPr>
          <p:cNvPr id="14" name="Text 12"/>
          <p:cNvSpPr txBox="1"/>
          <p:nvPr/>
        </p:nvSpPr>
        <p:spPr>
          <a:xfrm>
            <a:off x="457200" y="4087368"/>
            <a:ext cx="3749040" cy="3200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6.3.3 — RITL per Provinsi (34 Prov.)</a:t>
            </a:r>
            <a:endParaRPr lang="en-US" sz="1000" dirty="0"/>
          </a:p>
        </p:txBody>
      </p:sp>
      <p:sp>
        <p:nvSpPr>
          <p:cNvPr id="15" name="Text 13"/>
          <p:cNvSpPr txBox="1"/>
          <p:nvPr/>
        </p:nvSpPr>
        <p:spPr>
          <a:xfrm>
            <a:off x="457200" y="4462272"/>
            <a:ext cx="3749040" cy="256032"/>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Digunakan sebagai Expected Cost Matrix</a:t>
            </a:r>
            <a:endParaRPr lang="en-US" sz="1000" dirty="0"/>
          </a:p>
        </p:txBody>
      </p:sp>
      <p:sp>
        <p:nvSpPr>
          <p:cNvPr id="16" name="Shape 14"/>
          <p:cNvSpPr/>
          <p:nvPr/>
        </p:nvSpPr>
        <p:spPr>
          <a:xfrm>
            <a:off x="4572000" y="1188720"/>
            <a:ext cx="4297680" cy="3611880"/>
          </a:xfrm>
          <a:prstGeom prst="rect">
            <a:avLst/>
          </a:prstGeom>
          <a:solidFill>
            <a:srgbClr val="FFFFFF"/>
          </a:solidFill>
          <a:ln w="12700">
            <a:solidFill>
              <a:srgbClr val="00897B"/>
            </a:solidFill>
            <a:prstDash val="solid"/>
          </a:ln>
          <a:effectLst>
            <a:outerShdw sx="100000" sy="100000" kx="0" ky="0" algn="bl" rotWithShape="0" blurRad="50800" dist="25400" dir="2700000">
              <a:srgbClr val="94A3B8">
                <a:alpha val="15000"/>
              </a:srgbClr>
            </a:outerShdw>
          </a:effectLst>
        </p:spPr>
      </p:sp>
      <p:sp>
        <p:nvSpPr>
          <p:cNvPr id="17" name="Shape 15"/>
          <p:cNvSpPr/>
          <p:nvPr/>
        </p:nvSpPr>
        <p:spPr>
          <a:xfrm>
            <a:off x="4572000" y="1188720"/>
            <a:ext cx="4297680" cy="411480"/>
          </a:xfrm>
          <a:prstGeom prst="rect">
            <a:avLst/>
          </a:prstGeom>
          <a:solidFill>
            <a:srgbClr val="00897B"/>
          </a:solidFill>
          <a:ln w="12700">
            <a:solidFill>
              <a:srgbClr val="00897B"/>
            </a:solidFill>
            <a:prstDash val="solid"/>
          </a:ln>
        </p:spPr>
      </p:sp>
      <p:sp>
        <p:nvSpPr>
          <p:cNvPr id="18" name="Text 16"/>
          <p:cNvSpPr txBox="1"/>
          <p:nvPr/>
        </p:nvSpPr>
        <p:spPr>
          <a:xfrm>
            <a:off x="4709160" y="1188720"/>
            <a:ext cx="402336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LAPIS 2 — Data Sintetik Terkalibrasi</a:t>
            </a:r>
            <a:endParaRPr lang="en-US" sz="1200" dirty="0"/>
          </a:p>
        </p:txBody>
      </p:sp>
      <p:sp>
        <p:nvSpPr>
          <p:cNvPr id="19" name="Text 17"/>
          <p:cNvSpPr txBox="1"/>
          <p:nvPr/>
        </p:nvSpPr>
        <p:spPr>
          <a:xfrm>
            <a:off x="4709160" y="1691640"/>
            <a:ext cx="402336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Synthea dikalibrasi ke distribusi DJSN Indonesia</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(bukan distribusi generik Amerika Serikat)</a:t>
            </a:r>
            <a:endParaRPr lang="en-US" sz="1100" dirty="0"/>
          </a:p>
        </p:txBody>
      </p:sp>
      <p:sp>
        <p:nvSpPr>
          <p:cNvPr id="20" name="Text 18"/>
          <p:cNvSpPr txBox="1"/>
          <p:nvPr/>
        </p:nvSpPr>
        <p:spPr>
          <a:xfrm>
            <a:off x="4709160" y="2331720"/>
            <a:ext cx="402336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Clean (baseline)</a:t>
            </a:r>
            <a:endParaRPr lang="en-US" sz="1100" dirty="0"/>
          </a:p>
        </p:txBody>
      </p:sp>
      <p:sp>
        <p:nvSpPr>
          <p:cNvPr id="21" name="Text 19"/>
          <p:cNvSpPr txBox="1"/>
          <p:nvPr/>
        </p:nvSpPr>
        <p:spPr>
          <a:xfrm>
            <a:off x="4709160" y="2688336"/>
            <a:ext cx="402336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Phantom billing</a:t>
            </a:r>
            <a:endParaRPr lang="en-US" sz="1100" dirty="0"/>
          </a:p>
        </p:txBody>
      </p:sp>
      <p:sp>
        <p:nvSpPr>
          <p:cNvPr id="22" name="Text 20"/>
          <p:cNvSpPr txBox="1"/>
          <p:nvPr/>
        </p:nvSpPr>
        <p:spPr>
          <a:xfrm>
            <a:off x="4709160" y="3044952"/>
            <a:ext cx="402336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Repeat billing</a:t>
            </a:r>
            <a:endParaRPr lang="en-US" sz="1100" dirty="0"/>
          </a:p>
        </p:txBody>
      </p:sp>
      <p:sp>
        <p:nvSpPr>
          <p:cNvPr id="23" name="Text 21"/>
          <p:cNvSpPr txBox="1"/>
          <p:nvPr/>
        </p:nvSpPr>
        <p:spPr>
          <a:xfrm>
            <a:off x="4709160" y="3401568"/>
            <a:ext cx="402336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Unbundling</a:t>
            </a:r>
            <a:endParaRPr lang="en-US" sz="1100" dirty="0"/>
          </a:p>
        </p:txBody>
      </p:sp>
      <p:sp>
        <p:nvSpPr>
          <p:cNvPr id="24" name="Text 22"/>
          <p:cNvSpPr txBox="1"/>
          <p:nvPr/>
        </p:nvSpPr>
        <p:spPr>
          <a:xfrm>
            <a:off x="4709160" y="3758184"/>
            <a:ext cx="4023360" cy="3200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 Cloning</a:t>
            </a:r>
            <a:endParaRPr lang="en-US" sz="1100" dirty="0"/>
          </a:p>
        </p:txBody>
      </p:sp>
      <p:sp>
        <p:nvSpPr>
          <p:cNvPr id="25" name="Shape 23"/>
          <p:cNvSpPr/>
          <p:nvPr/>
        </p:nvSpPr>
        <p:spPr>
          <a:xfrm>
            <a:off x="4709160" y="4160520"/>
            <a:ext cx="4023360" cy="9144"/>
          </a:xfrm>
          <a:prstGeom prst="rect">
            <a:avLst/>
          </a:prstGeom>
          <a:solidFill>
            <a:srgbClr val="CBD5E1"/>
          </a:solidFill>
          <a:ln w="12700">
            <a:solidFill>
              <a:srgbClr val="CBD5E1"/>
            </a:solidFill>
            <a:prstDash val="solid"/>
          </a:ln>
        </p:spPr>
      </p:sp>
      <p:sp>
        <p:nvSpPr>
          <p:cNvPr id="26" name="Text 24"/>
          <p:cNvSpPr txBox="1"/>
          <p:nvPr/>
        </p:nvSpPr>
        <p:spPr>
          <a:xfrm>
            <a:off x="4709160" y="4224528"/>
            <a:ext cx="4023360" cy="502920"/>
          </a:xfrm>
          <a:prstGeom prst="rect">
            <a:avLst/>
          </a:prstGeom>
          <a:noFill/>
          <a:ln/>
        </p:spPr>
        <p:txBody>
          <a:bodyPr wrap="square" lIns="0" tIns="0" rIns="0" bIns="0"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Mengapa sintetik adalah KEUNGGULAN:</a:t>
            </a:r>
            <a:endParaRPr lang="en-US" sz="1000" dirty="0"/>
          </a:p>
          <a:p>
            <a:pPr indent="0" marL="0">
              <a:buNone/>
            </a:pPr>
            <a:r>
              <a:rPr lang="en-US" sz="1000" b="1" dirty="0">
                <a:solidFill>
                  <a:srgbClr val="00897B"/>
                </a:solidFill>
                <a:latin typeface="Calibri" pitchFamily="34" charset="0"/>
                <a:ea typeface="Calibri" pitchFamily="34" charset="-122"/>
                <a:cs typeface="Calibri" pitchFamily="34" charset="-120"/>
              </a:rPr>
              <a:t>Reproducible · Auditable · Privacy by Design</a:t>
            </a:r>
            <a:endParaRPr lang="en-US" sz="1000" dirty="0"/>
          </a:p>
        </p:txBody>
      </p:sp>
      <p:sp>
        <p:nvSpPr>
          <p:cNvPr id="27" name="Text 25"/>
          <p:cNvSpPr txBox="1"/>
          <p:nvPr/>
        </p:nvSpPr>
        <p:spPr>
          <a:xfrm>
            <a:off x="7955280" y="4892040"/>
            <a:ext cx="10972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897B"/>
          </a:solidFill>
          <a:ln w="12700">
            <a:solidFill>
              <a:srgbClr val="00897B"/>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B4  ·  PENDEKATAN TEKNIS &amp; DATA</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8 Sub-Kategori yang Dicakup — Metode Deteksi</a:t>
            </a:r>
            <a:endParaRPr lang="en-US" sz="2800" dirty="0"/>
          </a:p>
        </p:txBody>
      </p:sp>
      <p:sp>
        <p:nvSpPr>
          <p:cNvPr id="5" name="Shape 3"/>
          <p:cNvSpPr/>
          <p:nvPr/>
        </p:nvSpPr>
        <p:spPr>
          <a:xfrm>
            <a:off x="274320" y="1280160"/>
            <a:ext cx="4114800" cy="1600200"/>
          </a:xfrm>
          <a:prstGeom prst="rect">
            <a:avLst/>
          </a:prstGeom>
          <a:solidFill>
            <a:srgbClr val="FFFFFF"/>
          </a:solidFill>
          <a:ln w="12700">
            <a:solidFill>
              <a:srgbClr val="D32F2F"/>
            </a:solidFill>
            <a:prstDash val="solid"/>
          </a:ln>
          <a:effectLst>
            <a:outerShdw sx="100000" sy="100000" kx="0" ky="0" algn="bl" rotWithShape="0" blurRad="50800" dist="25400" dir="2700000">
              <a:srgbClr val="94A3B8">
                <a:alpha val="15000"/>
              </a:srgbClr>
            </a:outerShdw>
          </a:effectLst>
        </p:spPr>
      </p:sp>
      <p:sp>
        <p:nvSpPr>
          <p:cNvPr id="6" name="Shape 4"/>
          <p:cNvSpPr/>
          <p:nvPr/>
        </p:nvSpPr>
        <p:spPr>
          <a:xfrm>
            <a:off x="274320" y="1280160"/>
            <a:ext cx="411480" cy="1600200"/>
          </a:xfrm>
          <a:prstGeom prst="rect">
            <a:avLst/>
          </a:prstGeom>
          <a:solidFill>
            <a:srgbClr val="D32F2F"/>
          </a:solidFill>
          <a:ln w="12700">
            <a:solidFill>
              <a:srgbClr val="D32F2F"/>
            </a:solidFill>
            <a:prstDash val="solid"/>
          </a:ln>
        </p:spPr>
      </p:sp>
      <p:sp>
        <p:nvSpPr>
          <p:cNvPr id="7" name="Text 5"/>
          <p:cNvSpPr txBox="1"/>
          <p:nvPr/>
        </p:nvSpPr>
        <p:spPr>
          <a:xfrm>
            <a:off x="274320" y="1783080"/>
            <a:ext cx="411480" cy="502920"/>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777240" y="1389888"/>
            <a:ext cx="3520440" cy="320040"/>
          </a:xfrm>
          <a:prstGeom prst="rect">
            <a:avLst/>
          </a:prstGeom>
          <a:noFill/>
          <a:ln/>
        </p:spPr>
        <p:txBody>
          <a:bodyPr wrap="square" lIns="0" tIns="0" rIns="0" bIns="0" rtlCol="0" anchor="ctr"/>
          <a:lstStyle/>
          <a:p>
            <a:pPr indent="0" marL="0">
              <a:buNone/>
            </a:pPr>
            <a:r>
              <a:rPr lang="en-US" sz="1100" b="1" dirty="0">
                <a:solidFill>
                  <a:srgbClr val="D32F2F"/>
                </a:solidFill>
                <a:latin typeface="Calibri" pitchFamily="34" charset="0"/>
                <a:ea typeface="Calibri" pitchFamily="34" charset="-122"/>
                <a:cs typeface="Calibri" pitchFamily="34" charset="-120"/>
              </a:rPr>
              <a:t>Phantom &amp; Repeat Billing</a:t>
            </a:r>
            <a:endParaRPr lang="en-US" sz="1100" dirty="0"/>
          </a:p>
        </p:txBody>
      </p:sp>
      <p:sp>
        <p:nvSpPr>
          <p:cNvPr id="9" name="Text 7"/>
          <p:cNvSpPr txBox="1"/>
          <p:nvPr/>
        </p:nvSpPr>
        <p:spPr>
          <a:xfrm>
            <a:off x="777240" y="1737360"/>
            <a:ext cx="352044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Deteksi duplikasi: ID pasien + kode tindakan + tanggal dalam window waktu</a:t>
            </a:r>
            <a:endParaRPr lang="en-US" sz="1000" dirty="0"/>
          </a:p>
        </p:txBody>
      </p:sp>
      <p:sp>
        <p:nvSpPr>
          <p:cNvPr id="10" name="Shape 8"/>
          <p:cNvSpPr/>
          <p:nvPr/>
        </p:nvSpPr>
        <p:spPr>
          <a:xfrm>
            <a:off x="777240" y="2578608"/>
            <a:ext cx="2011680" cy="292608"/>
          </a:xfrm>
          <a:prstGeom prst="roundRect">
            <a:avLst>
              <a:gd name="adj" fmla="val 15625"/>
            </a:avLst>
          </a:prstGeom>
          <a:solidFill>
            <a:srgbClr val="D32F2F"/>
          </a:solidFill>
          <a:ln w="12700">
            <a:solidFill>
              <a:srgbClr val="D32F2F"/>
            </a:solidFill>
            <a:prstDash val="solid"/>
          </a:ln>
        </p:spPr>
      </p:sp>
      <p:sp>
        <p:nvSpPr>
          <p:cNvPr id="11" name="Text 9"/>
          <p:cNvSpPr txBox="1"/>
          <p:nvPr/>
        </p:nvSpPr>
        <p:spPr>
          <a:xfrm>
            <a:off x="777240" y="2578608"/>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sintetik Lapis 2</a:t>
            </a:r>
            <a:endParaRPr lang="en-US" sz="1000" dirty="0"/>
          </a:p>
        </p:txBody>
      </p:sp>
      <p:sp>
        <p:nvSpPr>
          <p:cNvPr id="12" name="Shape 10"/>
          <p:cNvSpPr/>
          <p:nvPr/>
        </p:nvSpPr>
        <p:spPr>
          <a:xfrm>
            <a:off x="4663440" y="1280160"/>
            <a:ext cx="4114800" cy="1600200"/>
          </a:xfrm>
          <a:prstGeom prst="rect">
            <a:avLst/>
          </a:prstGeom>
          <a:solidFill>
            <a:srgbClr val="FFFFFF"/>
          </a:solidFill>
          <a:ln w="12700">
            <a:solidFill>
              <a:srgbClr val="F59E0B"/>
            </a:solidFill>
            <a:prstDash val="solid"/>
          </a:ln>
          <a:effectLst>
            <a:outerShdw sx="100000" sy="100000" kx="0" ky="0" algn="bl" rotWithShape="0" blurRad="50800" dist="25400" dir="2700000">
              <a:srgbClr val="94A3B8">
                <a:alpha val="15000"/>
              </a:srgbClr>
            </a:outerShdw>
          </a:effectLst>
        </p:spPr>
      </p:sp>
      <p:sp>
        <p:nvSpPr>
          <p:cNvPr id="13" name="Shape 11"/>
          <p:cNvSpPr/>
          <p:nvPr/>
        </p:nvSpPr>
        <p:spPr>
          <a:xfrm>
            <a:off x="4663440" y="1280160"/>
            <a:ext cx="411480" cy="1600200"/>
          </a:xfrm>
          <a:prstGeom prst="rect">
            <a:avLst/>
          </a:prstGeom>
          <a:solidFill>
            <a:srgbClr val="F59E0B"/>
          </a:solidFill>
          <a:ln w="12700">
            <a:solidFill>
              <a:srgbClr val="F59E0B"/>
            </a:solidFill>
            <a:prstDash val="solid"/>
          </a:ln>
        </p:spPr>
      </p:sp>
      <p:sp>
        <p:nvSpPr>
          <p:cNvPr id="14" name="Text 12"/>
          <p:cNvSpPr txBox="1"/>
          <p:nvPr/>
        </p:nvSpPr>
        <p:spPr>
          <a:xfrm>
            <a:off x="4663440" y="1783080"/>
            <a:ext cx="411480" cy="502920"/>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Rp</a:t>
            </a:r>
            <a:endParaRPr lang="en-US" sz="1600" dirty="0"/>
          </a:p>
        </p:txBody>
      </p:sp>
      <p:sp>
        <p:nvSpPr>
          <p:cNvPr id="15" name="Text 13"/>
          <p:cNvSpPr txBox="1"/>
          <p:nvPr/>
        </p:nvSpPr>
        <p:spPr>
          <a:xfrm>
            <a:off x="5166360" y="1389888"/>
            <a:ext cx="3520440" cy="32004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Inflated Bills &amp; Kelas Perawatan</a:t>
            </a:r>
            <a:endParaRPr lang="en-US" sz="1100" dirty="0"/>
          </a:p>
        </p:txBody>
      </p:sp>
      <p:sp>
        <p:nvSpPr>
          <p:cNvPr id="16" name="Text 14"/>
          <p:cNvSpPr txBox="1"/>
          <p:nvPr/>
        </p:nvSpPr>
        <p:spPr>
          <a:xfrm>
            <a:off x="5166360" y="1737360"/>
            <a:ext cx="352044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Expected Cost Matrix: flag jika biaya &gt; mean + 2σ per Provinsi × Kelas × Usia</a:t>
            </a:r>
            <a:endParaRPr lang="en-US" sz="1000" dirty="0"/>
          </a:p>
        </p:txBody>
      </p:sp>
      <p:sp>
        <p:nvSpPr>
          <p:cNvPr id="17" name="Shape 15"/>
          <p:cNvSpPr/>
          <p:nvPr/>
        </p:nvSpPr>
        <p:spPr>
          <a:xfrm>
            <a:off x="5166360" y="2578608"/>
            <a:ext cx="2011680" cy="292608"/>
          </a:xfrm>
          <a:prstGeom prst="roundRect">
            <a:avLst>
              <a:gd name="adj" fmla="val 15625"/>
            </a:avLst>
          </a:prstGeom>
          <a:solidFill>
            <a:srgbClr val="F59E0B"/>
          </a:solidFill>
          <a:ln w="12700">
            <a:solidFill>
              <a:srgbClr val="F59E0B"/>
            </a:solidFill>
            <a:prstDash val="solid"/>
          </a:ln>
        </p:spPr>
      </p:sp>
      <p:sp>
        <p:nvSpPr>
          <p:cNvPr id="18" name="Text 16"/>
          <p:cNvSpPr txBox="1"/>
          <p:nvPr/>
        </p:nvSpPr>
        <p:spPr>
          <a:xfrm>
            <a:off x="5166360" y="2578608"/>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DJSN Lapis 1 (6 tabel)</a:t>
            </a:r>
            <a:endParaRPr lang="en-US" sz="1000" dirty="0"/>
          </a:p>
        </p:txBody>
      </p:sp>
      <p:sp>
        <p:nvSpPr>
          <p:cNvPr id="19" name="Shape 17"/>
          <p:cNvSpPr/>
          <p:nvPr/>
        </p:nvSpPr>
        <p:spPr>
          <a:xfrm>
            <a:off x="274320" y="3063240"/>
            <a:ext cx="4114800" cy="160020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20" name="Shape 18"/>
          <p:cNvSpPr/>
          <p:nvPr/>
        </p:nvSpPr>
        <p:spPr>
          <a:xfrm>
            <a:off x="274320" y="3063240"/>
            <a:ext cx="411480" cy="1600200"/>
          </a:xfrm>
          <a:prstGeom prst="rect">
            <a:avLst/>
          </a:prstGeom>
          <a:solidFill>
            <a:srgbClr val="1565C0"/>
          </a:solidFill>
          <a:ln w="12700">
            <a:solidFill>
              <a:srgbClr val="1565C0"/>
            </a:solidFill>
            <a:prstDash val="solid"/>
          </a:ln>
        </p:spPr>
      </p:sp>
      <p:sp>
        <p:nvSpPr>
          <p:cNvPr id="21" name="Text 19"/>
          <p:cNvSpPr txBox="1"/>
          <p:nvPr/>
        </p:nvSpPr>
        <p:spPr>
          <a:xfrm>
            <a:off x="274320" y="3566160"/>
            <a:ext cx="411480" cy="502920"/>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777240" y="3172968"/>
            <a:ext cx="3520440" cy="320040"/>
          </a:xfrm>
          <a:prstGeom prst="rect">
            <a:avLst/>
          </a:prstGeom>
          <a:noFill/>
          <a:ln/>
        </p:spPr>
        <p:txBody>
          <a:bodyPr wrap="square" lIns="0" tIns="0" rIns="0" bIns="0"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Upcoding &amp; Unbundling</a:t>
            </a:r>
            <a:endParaRPr lang="en-US" sz="1100" dirty="0"/>
          </a:p>
        </p:txBody>
      </p:sp>
      <p:sp>
        <p:nvSpPr>
          <p:cNvPr id="23" name="Text 21"/>
          <p:cNvSpPr txBox="1"/>
          <p:nvPr/>
        </p:nvSpPr>
        <p:spPr>
          <a:xfrm>
            <a:off x="777240" y="3520440"/>
            <a:ext cx="352044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Inkonsistensi ICD-10 vs profil biaya INA-CBGs. Tindakan terpecah yang seharusnya 1 paket CBG</a:t>
            </a:r>
            <a:endParaRPr lang="en-US" sz="1000" dirty="0"/>
          </a:p>
        </p:txBody>
      </p:sp>
      <p:sp>
        <p:nvSpPr>
          <p:cNvPr id="24" name="Shape 22"/>
          <p:cNvSpPr/>
          <p:nvPr/>
        </p:nvSpPr>
        <p:spPr>
          <a:xfrm>
            <a:off x="777240" y="4361688"/>
            <a:ext cx="2011680" cy="292608"/>
          </a:xfrm>
          <a:prstGeom prst="roundRect">
            <a:avLst>
              <a:gd name="adj" fmla="val 15625"/>
            </a:avLst>
          </a:prstGeom>
          <a:solidFill>
            <a:srgbClr val="1565C0"/>
          </a:solidFill>
          <a:ln w="12700">
            <a:solidFill>
              <a:srgbClr val="1565C0"/>
            </a:solidFill>
            <a:prstDash val="solid"/>
          </a:ln>
        </p:spPr>
      </p:sp>
      <p:sp>
        <p:nvSpPr>
          <p:cNvPr id="25" name="Text 23"/>
          <p:cNvSpPr txBox="1"/>
          <p:nvPr/>
        </p:nvSpPr>
        <p:spPr>
          <a:xfrm>
            <a:off x="777240" y="4361688"/>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sintetik Lapis 2</a:t>
            </a:r>
            <a:endParaRPr lang="en-US" sz="1000" dirty="0"/>
          </a:p>
        </p:txBody>
      </p:sp>
      <p:sp>
        <p:nvSpPr>
          <p:cNvPr id="26" name="Shape 24"/>
          <p:cNvSpPr/>
          <p:nvPr/>
        </p:nvSpPr>
        <p:spPr>
          <a:xfrm>
            <a:off x="4663440" y="3063240"/>
            <a:ext cx="4114800" cy="1600200"/>
          </a:xfrm>
          <a:prstGeom prst="rect">
            <a:avLst/>
          </a:prstGeom>
          <a:solidFill>
            <a:srgbClr val="FFFFFF"/>
          </a:solidFill>
          <a:ln w="12700">
            <a:solidFill>
              <a:srgbClr val="0C2461"/>
            </a:solidFill>
            <a:prstDash val="solid"/>
          </a:ln>
          <a:effectLst>
            <a:outerShdw sx="100000" sy="100000" kx="0" ky="0" algn="bl" rotWithShape="0" blurRad="50800" dist="25400" dir="2700000">
              <a:srgbClr val="94A3B8">
                <a:alpha val="15000"/>
              </a:srgbClr>
            </a:outerShdw>
          </a:effectLst>
        </p:spPr>
      </p:sp>
      <p:sp>
        <p:nvSpPr>
          <p:cNvPr id="27" name="Shape 25"/>
          <p:cNvSpPr/>
          <p:nvPr/>
        </p:nvSpPr>
        <p:spPr>
          <a:xfrm>
            <a:off x="4663440" y="3063240"/>
            <a:ext cx="411480" cy="1600200"/>
          </a:xfrm>
          <a:prstGeom prst="rect">
            <a:avLst/>
          </a:prstGeom>
          <a:solidFill>
            <a:srgbClr val="0C2461"/>
          </a:solidFill>
          <a:ln w="12700">
            <a:solidFill>
              <a:srgbClr val="0C2461"/>
            </a:solidFill>
            <a:prstDash val="solid"/>
          </a:ln>
        </p:spPr>
      </p:sp>
      <p:sp>
        <p:nvSpPr>
          <p:cNvPr id="28" name="Text 26"/>
          <p:cNvSpPr txBox="1"/>
          <p:nvPr/>
        </p:nvSpPr>
        <p:spPr>
          <a:xfrm>
            <a:off x="4663440" y="3566160"/>
            <a:ext cx="411480" cy="502920"/>
          </a:xfrm>
          <a:prstGeom prst="rect">
            <a:avLst/>
          </a:prstGeom>
          <a:noFill/>
          <a:ln/>
        </p:spPr>
        <p:txBody>
          <a:bodyPr wrap="square" lIns="0" tIns="0" rIns="0" bIns="0"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9" name="Text 27"/>
          <p:cNvSpPr txBox="1"/>
          <p:nvPr/>
        </p:nvSpPr>
        <p:spPr>
          <a:xfrm>
            <a:off x="5166360" y="3172968"/>
            <a:ext cx="3520440" cy="32004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Cloning (Penjiplakan Klaim)</a:t>
            </a:r>
            <a:endParaRPr lang="en-US" sz="1100" dirty="0"/>
          </a:p>
        </p:txBody>
      </p:sp>
      <p:sp>
        <p:nvSpPr>
          <p:cNvPr id="30" name="Text 28"/>
          <p:cNvSpPr txBox="1"/>
          <p:nvPr/>
        </p:nvSpPr>
        <p:spPr>
          <a:xfrm>
            <a:off x="5166360" y="3520440"/>
            <a:ext cx="3520440" cy="77724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Similarity scoring pada vektor fitur klaim antar pasien berbeda dalam periode dekat</a:t>
            </a:r>
            <a:endParaRPr lang="en-US" sz="1000" dirty="0"/>
          </a:p>
        </p:txBody>
      </p:sp>
      <p:sp>
        <p:nvSpPr>
          <p:cNvPr id="31" name="Shape 29"/>
          <p:cNvSpPr/>
          <p:nvPr/>
        </p:nvSpPr>
        <p:spPr>
          <a:xfrm>
            <a:off x="5166360" y="4361688"/>
            <a:ext cx="2011680" cy="292608"/>
          </a:xfrm>
          <a:prstGeom prst="roundRect">
            <a:avLst>
              <a:gd name="adj" fmla="val 15625"/>
            </a:avLst>
          </a:prstGeom>
          <a:solidFill>
            <a:srgbClr val="0C2461"/>
          </a:solidFill>
          <a:ln w="12700">
            <a:solidFill>
              <a:srgbClr val="0C2461"/>
            </a:solidFill>
            <a:prstDash val="solid"/>
          </a:ln>
        </p:spPr>
      </p:sp>
      <p:sp>
        <p:nvSpPr>
          <p:cNvPr id="32" name="Text 30"/>
          <p:cNvSpPr txBox="1"/>
          <p:nvPr/>
        </p:nvSpPr>
        <p:spPr>
          <a:xfrm>
            <a:off x="5166360" y="4361688"/>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sintetik Lapis 2</a:t>
            </a:r>
            <a:endParaRPr lang="en-US" sz="1000" dirty="0"/>
          </a:p>
        </p:txBody>
      </p:sp>
      <p:sp>
        <p:nvSpPr>
          <p:cNvPr id="33" name="Shape 31"/>
          <p:cNvSpPr/>
          <p:nvPr/>
        </p:nvSpPr>
        <p:spPr>
          <a:xfrm>
            <a:off x="274320" y="4645152"/>
            <a:ext cx="8549640" cy="384048"/>
          </a:xfrm>
          <a:prstGeom prst="rect">
            <a:avLst/>
          </a:prstGeom>
          <a:solidFill>
            <a:srgbClr val="FFF9E6"/>
          </a:solidFill>
          <a:ln w="12700">
            <a:solidFill>
              <a:srgbClr val="F59E0B"/>
            </a:solidFill>
            <a:prstDash val="solid"/>
          </a:ln>
          <a:effectLst>
            <a:outerShdw sx="100000" sy="100000" kx="0" ky="0" algn="bl" rotWithShape="0" blurRad="50800" dist="25400" dir="2700000">
              <a:srgbClr val="94A3B8">
                <a:alpha val="15000"/>
              </a:srgbClr>
            </a:outerShdw>
          </a:effectLst>
        </p:spPr>
      </p:sp>
      <p:sp>
        <p:nvSpPr>
          <p:cNvPr id="34" name="Text 32"/>
          <p:cNvSpPr txBox="1"/>
          <p:nvPr/>
        </p:nvSpPr>
        <p:spPr>
          <a:xfrm>
            <a:off x="457200" y="4645152"/>
            <a:ext cx="8321040" cy="384048"/>
          </a:xfrm>
          <a:prstGeom prst="rect">
            <a:avLst/>
          </a:prstGeom>
          <a:noFill/>
          <a:ln/>
        </p:spPr>
        <p:txBody>
          <a:bodyPr wrap="square" lIns="0" tIns="0" rIns="0" bIns="0" rtlCol="0" anchor="ctr"/>
          <a:lstStyle/>
          <a:p>
            <a:pPr indent="0" marL="0">
              <a:buNone/>
            </a:pPr>
            <a:r>
              <a:rPr lang="en-US" sz="1000" b="1" dirty="0">
                <a:solidFill>
                  <a:srgbClr val="B45309"/>
                </a:solidFill>
                <a:latin typeface="Calibri" pitchFamily="34" charset="0"/>
                <a:ea typeface="Calibri" pitchFamily="34" charset="-122"/>
                <a:cs typeface="Calibri" pitchFamily="34" charset="-120"/>
              </a:rPr>
              <a:t>▶️  ADR-0002: Tidak ada LLM di jalur keputusan risiko — Rules engine deterministik menghasilkan output identik untuk input yang sama. Wajib untuk akuntabilitas audit.</a:t>
            </a:r>
            <a:endParaRPr lang="en-US" sz="1000" dirty="0"/>
          </a:p>
        </p:txBody>
      </p:sp>
      <p:sp>
        <p:nvSpPr>
          <p:cNvPr id="35" name="Text 33"/>
          <p:cNvSpPr txBox="1"/>
          <p:nvPr/>
        </p:nvSpPr>
        <p:spPr>
          <a:xfrm>
            <a:off x="7955280" y="4892040"/>
            <a:ext cx="10972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897B"/>
          </a:solidFill>
          <a:ln w="12700">
            <a:solidFill>
              <a:srgbClr val="00897B"/>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B4  ·  PENDEKATAN TEKNIS &amp; DATA</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Output Sistem · Asumsi Transparan · Kepatuhan</a:t>
            </a:r>
            <a:endParaRPr lang="en-US" sz="2800" dirty="0"/>
          </a:p>
        </p:txBody>
      </p:sp>
      <p:sp>
        <p:nvSpPr>
          <p:cNvPr id="5" name="Shape 3"/>
          <p:cNvSpPr/>
          <p:nvPr/>
        </p:nvSpPr>
        <p:spPr>
          <a:xfrm>
            <a:off x="274320" y="1234440"/>
            <a:ext cx="2743200" cy="3611880"/>
          </a:xfrm>
          <a:prstGeom prst="rect">
            <a:avLst/>
          </a:prstGeom>
          <a:solidFill>
            <a:srgbClr val="FFFFFF"/>
          </a:solidFill>
          <a:ln w="12700">
            <a:solidFill>
              <a:srgbClr val="0C2461"/>
            </a:solidFill>
            <a:prstDash val="solid"/>
          </a:ln>
          <a:effectLst>
            <a:outerShdw sx="100000" sy="100000" kx="0" ky="0" algn="bl" rotWithShape="0" blurRad="50800" dist="25400" dir="2700000">
              <a:srgbClr val="94A3B8">
                <a:alpha val="15000"/>
              </a:srgbClr>
            </a:outerShdw>
          </a:effectLst>
        </p:spPr>
      </p:sp>
      <p:sp>
        <p:nvSpPr>
          <p:cNvPr id="6" name="Shape 4"/>
          <p:cNvSpPr/>
          <p:nvPr/>
        </p:nvSpPr>
        <p:spPr>
          <a:xfrm>
            <a:off x="274320" y="1234440"/>
            <a:ext cx="2743200" cy="384048"/>
          </a:xfrm>
          <a:prstGeom prst="rect">
            <a:avLst/>
          </a:prstGeom>
          <a:solidFill>
            <a:srgbClr val="0C2461"/>
          </a:solidFill>
          <a:ln w="12700">
            <a:solidFill>
              <a:srgbClr val="0C2461"/>
            </a:solidFill>
            <a:prstDash val="solid"/>
          </a:ln>
        </p:spPr>
      </p:sp>
      <p:sp>
        <p:nvSpPr>
          <p:cNvPr id="7" name="Text 5"/>
          <p:cNvSpPr txBox="1"/>
          <p:nvPr/>
        </p:nvSpPr>
        <p:spPr>
          <a:xfrm>
            <a:off x="365760" y="1234440"/>
            <a:ext cx="2560320"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OUTPUT SISTEM</a:t>
            </a:r>
            <a:endParaRPr lang="en-US" sz="1000" dirty="0"/>
          </a:p>
        </p:txBody>
      </p:sp>
      <p:sp>
        <p:nvSpPr>
          <p:cNvPr id="8" name="Text 6"/>
          <p:cNvSpPr txBox="1"/>
          <p:nvPr/>
        </p:nvSpPr>
        <p:spPr>
          <a:xfrm>
            <a:off x="411480" y="1719072"/>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Risk Signal Card per klaim</a:t>
            </a:r>
            <a:endParaRPr lang="en-US" sz="1000" dirty="0"/>
          </a:p>
        </p:txBody>
      </p:sp>
      <p:sp>
        <p:nvSpPr>
          <p:cNvPr id="9" name="Text 7"/>
          <p:cNvSpPr txBox="1"/>
          <p:nvPr/>
        </p:nvSpPr>
        <p:spPr>
          <a:xfrm>
            <a:off x="411480" y="2523744"/>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Review Queue (prioritas risiko)</a:t>
            </a:r>
            <a:endParaRPr lang="en-US" sz="1000" dirty="0"/>
          </a:p>
        </p:txBody>
      </p:sp>
      <p:sp>
        <p:nvSpPr>
          <p:cNvPr id="10" name="Text 8"/>
          <p:cNvSpPr txBox="1"/>
          <p:nvPr/>
        </p:nvSpPr>
        <p:spPr>
          <a:xfrm>
            <a:off x="411480" y="3328416"/>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Disposition Form + alasan wajib</a:t>
            </a:r>
            <a:endParaRPr lang="en-US" sz="1000" dirty="0"/>
          </a:p>
        </p:txBody>
      </p:sp>
      <p:sp>
        <p:nvSpPr>
          <p:cNvPr id="11" name="Text 9"/>
          <p:cNvSpPr txBox="1"/>
          <p:nvPr/>
        </p:nvSpPr>
        <p:spPr>
          <a:xfrm>
            <a:off x="411480" y="4133088"/>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Audit Trail immutable per klaim</a:t>
            </a:r>
            <a:endParaRPr lang="en-US" sz="1000" dirty="0"/>
          </a:p>
        </p:txBody>
      </p:sp>
      <p:sp>
        <p:nvSpPr>
          <p:cNvPr id="12" name="Shape 10"/>
          <p:cNvSpPr/>
          <p:nvPr/>
        </p:nvSpPr>
        <p:spPr>
          <a:xfrm>
            <a:off x="3200400" y="1234440"/>
            <a:ext cx="2743200" cy="3611880"/>
          </a:xfrm>
          <a:prstGeom prst="rect">
            <a:avLst/>
          </a:prstGeom>
          <a:solidFill>
            <a:srgbClr val="FFFFFF"/>
          </a:solidFill>
          <a:ln w="12700">
            <a:solidFill>
              <a:srgbClr val="F59E0B"/>
            </a:solidFill>
            <a:prstDash val="solid"/>
          </a:ln>
          <a:effectLst>
            <a:outerShdw sx="100000" sy="100000" kx="0" ky="0" algn="bl" rotWithShape="0" blurRad="50800" dist="25400" dir="2700000">
              <a:srgbClr val="94A3B8">
                <a:alpha val="15000"/>
              </a:srgbClr>
            </a:outerShdw>
          </a:effectLst>
        </p:spPr>
      </p:sp>
      <p:sp>
        <p:nvSpPr>
          <p:cNvPr id="13" name="Shape 11"/>
          <p:cNvSpPr/>
          <p:nvPr/>
        </p:nvSpPr>
        <p:spPr>
          <a:xfrm>
            <a:off x="3200400" y="1234440"/>
            <a:ext cx="2743200" cy="384048"/>
          </a:xfrm>
          <a:prstGeom prst="rect">
            <a:avLst/>
          </a:prstGeom>
          <a:solidFill>
            <a:srgbClr val="F59E0B"/>
          </a:solidFill>
          <a:ln w="12700">
            <a:solidFill>
              <a:srgbClr val="F59E0B"/>
            </a:solidFill>
            <a:prstDash val="solid"/>
          </a:ln>
        </p:spPr>
      </p:sp>
      <p:sp>
        <p:nvSpPr>
          <p:cNvPr id="14" name="Text 12"/>
          <p:cNvSpPr txBox="1"/>
          <p:nvPr/>
        </p:nvSpPr>
        <p:spPr>
          <a:xfrm>
            <a:off x="3291840" y="1234440"/>
            <a:ext cx="2560320"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ASUMSI &amp; KETERBATASAN</a:t>
            </a:r>
            <a:endParaRPr lang="en-US" sz="1000" dirty="0"/>
          </a:p>
        </p:txBody>
      </p:sp>
      <p:sp>
        <p:nvSpPr>
          <p:cNvPr id="15" name="Text 13"/>
          <p:cNvSpPr txBox="1"/>
          <p:nvPr/>
        </p:nvSpPr>
        <p:spPr>
          <a:xfrm>
            <a:off x="3337560" y="1719072"/>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Baseline DJSN 2018 — perlu kalibrasi ulang dengan tarif INA-CBGs terkini</a:t>
            </a:r>
            <a:endParaRPr lang="en-US" sz="1000" dirty="0"/>
          </a:p>
        </p:txBody>
      </p:sp>
      <p:sp>
        <p:nvSpPr>
          <p:cNvPr id="16" name="Text 14"/>
          <p:cNvSpPr txBox="1"/>
          <p:nvPr/>
        </p:nvSpPr>
        <p:spPr>
          <a:xfrm>
            <a:off x="3337560" y="2523744"/>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Sinyal adalah indikator, bukan bukti fraud</a:t>
            </a:r>
            <a:endParaRPr lang="en-US" sz="1000" dirty="0"/>
          </a:p>
        </p:txBody>
      </p:sp>
      <p:sp>
        <p:nvSpPr>
          <p:cNvPr id="17" name="Text 15"/>
          <p:cNvSpPr txBox="1"/>
          <p:nvPr/>
        </p:nvSpPr>
        <p:spPr>
          <a:xfrm>
            <a:off x="3337560" y="3328416"/>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Akurasi bergantung pada kelengkapan kode klaim dari SIM RS</a:t>
            </a:r>
            <a:endParaRPr lang="en-US" sz="1000" dirty="0"/>
          </a:p>
        </p:txBody>
      </p:sp>
      <p:sp>
        <p:nvSpPr>
          <p:cNvPr id="18" name="Shape 16"/>
          <p:cNvSpPr/>
          <p:nvPr/>
        </p:nvSpPr>
        <p:spPr>
          <a:xfrm>
            <a:off x="6126480" y="1234440"/>
            <a:ext cx="2743200" cy="3611880"/>
          </a:xfrm>
          <a:prstGeom prst="rect">
            <a:avLst/>
          </a:prstGeom>
          <a:solidFill>
            <a:srgbClr val="FFFFFF"/>
          </a:solidFill>
          <a:ln w="12700">
            <a:solidFill>
              <a:srgbClr val="00897B"/>
            </a:solidFill>
            <a:prstDash val="solid"/>
          </a:ln>
          <a:effectLst>
            <a:outerShdw sx="100000" sy="100000" kx="0" ky="0" algn="bl" rotWithShape="0" blurRad="50800" dist="25400" dir="2700000">
              <a:srgbClr val="94A3B8">
                <a:alpha val="15000"/>
              </a:srgbClr>
            </a:outerShdw>
          </a:effectLst>
        </p:spPr>
      </p:sp>
      <p:sp>
        <p:nvSpPr>
          <p:cNvPr id="19" name="Shape 17"/>
          <p:cNvSpPr/>
          <p:nvPr/>
        </p:nvSpPr>
        <p:spPr>
          <a:xfrm>
            <a:off x="6126480" y="1234440"/>
            <a:ext cx="2743200" cy="384048"/>
          </a:xfrm>
          <a:prstGeom prst="rect">
            <a:avLst/>
          </a:prstGeom>
          <a:solidFill>
            <a:srgbClr val="00897B"/>
          </a:solidFill>
          <a:ln w="12700">
            <a:solidFill>
              <a:srgbClr val="00897B"/>
            </a:solidFill>
            <a:prstDash val="solid"/>
          </a:ln>
        </p:spPr>
      </p:sp>
      <p:sp>
        <p:nvSpPr>
          <p:cNvPr id="20" name="Text 18"/>
          <p:cNvSpPr txBox="1"/>
          <p:nvPr/>
        </p:nvSpPr>
        <p:spPr>
          <a:xfrm>
            <a:off x="6217920" y="1234440"/>
            <a:ext cx="2560320" cy="38404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KEPATUHAN REGULASI</a:t>
            </a:r>
            <a:endParaRPr lang="en-US" sz="1000" dirty="0"/>
          </a:p>
        </p:txBody>
      </p:sp>
      <p:sp>
        <p:nvSpPr>
          <p:cNvPr id="21" name="Text 19"/>
          <p:cNvSpPr txBox="1"/>
          <p:nvPr/>
        </p:nvSpPr>
        <p:spPr>
          <a:xfrm>
            <a:off x="6263640" y="1719072"/>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UU PDP No. 27/2022: data tidak meninggalkan faskes</a:t>
            </a:r>
            <a:endParaRPr lang="en-US" sz="1000" dirty="0"/>
          </a:p>
        </p:txBody>
      </p:sp>
      <p:sp>
        <p:nvSpPr>
          <p:cNvPr id="22" name="Text 20"/>
          <p:cNvSpPr txBox="1"/>
          <p:nvPr/>
        </p:nvSpPr>
        <p:spPr>
          <a:xfrm>
            <a:off x="6263640" y="2523744"/>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Interoperabilitas HL7/FHIR: arsitektur API-first</a:t>
            </a:r>
            <a:endParaRPr lang="en-US" sz="1000" dirty="0"/>
          </a:p>
        </p:txBody>
      </p:sp>
      <p:sp>
        <p:nvSpPr>
          <p:cNvPr id="23" name="Text 21"/>
          <p:cNvSpPr txBox="1"/>
          <p:nvPr/>
        </p:nvSpPr>
        <p:spPr>
          <a:xfrm>
            <a:off x="6263640" y="3328416"/>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Human-in-the-loop: semua keputusan tetap pada manusia</a:t>
            </a:r>
            <a:endParaRPr lang="en-US" sz="1000" dirty="0"/>
          </a:p>
        </p:txBody>
      </p:sp>
      <p:sp>
        <p:nvSpPr>
          <p:cNvPr id="24" name="Text 22"/>
          <p:cNvSpPr txBox="1"/>
          <p:nvPr/>
        </p:nvSpPr>
        <p:spPr>
          <a:xfrm>
            <a:off x="6263640" y="4133088"/>
            <a:ext cx="2468880" cy="7315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Siap integrasi Platform Satu Sehat</a:t>
            </a:r>
            <a:endParaRPr lang="en-US" sz="1000" dirty="0"/>
          </a:p>
        </p:txBody>
      </p:sp>
      <p:sp>
        <p:nvSpPr>
          <p:cNvPr id="25" name="Text 23"/>
          <p:cNvSpPr txBox="1"/>
          <p:nvPr/>
        </p:nvSpPr>
        <p:spPr>
          <a:xfrm>
            <a:off x="7955280" y="4892040"/>
            <a:ext cx="10972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B5  ·  TINGKAT KEMATANGAN &amp; PROTOTYPE</a:t>
            </a:r>
            <a:endParaRPr lang="en-US" sz="1100" dirty="0"/>
          </a:p>
        </p:txBody>
      </p:sp>
      <p:sp>
        <p:nvSpPr>
          <p:cNvPr id="4" name="Text 2"/>
          <p:cNvSpPr txBox="1"/>
          <p:nvPr/>
        </p:nvSpPr>
        <p:spPr>
          <a:xfrm>
            <a:off x="365760" y="594360"/>
            <a:ext cx="8412480" cy="640080"/>
          </a:xfrm>
          <a:prstGeom prst="rect">
            <a:avLst/>
          </a:prstGeom>
          <a:noFill/>
          <a:ln/>
        </p:spPr>
        <p:txBody>
          <a:bodyPr wrap="square" lIns="0" tIns="0" rIns="0" bIns="0" rtlCol="0" anchor="ctr"/>
          <a:lstStyle/>
          <a:p>
            <a:pPr indent="0" marL="0">
              <a:buNone/>
            </a:pPr>
            <a:r>
              <a:rPr lang="en-US" sz="2000" b="1" dirty="0">
                <a:solidFill>
                  <a:srgbClr val="0C2461"/>
                </a:solidFill>
                <a:latin typeface="Cambria" pitchFamily="34" charset="0"/>
                <a:ea typeface="Cambria" pitchFamily="34" charset="-122"/>
                <a:cs typeface="Cambria" pitchFamily="34" charset="-120"/>
              </a:rPr>
              <a:t>Kami tidak mengklaim lebih dari yang ada. Justru itulah yang membuat kami kredibel.</a:t>
            </a:r>
            <a:endParaRPr lang="en-US" sz="2000" dirty="0"/>
          </a:p>
        </p:txBody>
      </p:sp>
      <p:sp>
        <p:nvSpPr>
          <p:cNvPr id="5" name="Shape 3"/>
          <p:cNvSpPr/>
          <p:nvPr/>
        </p:nvSpPr>
        <p:spPr>
          <a:xfrm>
            <a:off x="274320" y="1261872"/>
            <a:ext cx="777240" cy="438912"/>
          </a:xfrm>
          <a:prstGeom prst="rect">
            <a:avLst/>
          </a:prstGeom>
          <a:solidFill>
            <a:srgbClr val="1565C0"/>
          </a:solidFill>
          <a:ln w="12700">
            <a:solidFill>
              <a:srgbClr val="1565C0"/>
            </a:solidFill>
            <a:prstDash val="solid"/>
          </a:ln>
        </p:spPr>
      </p:sp>
      <p:sp>
        <p:nvSpPr>
          <p:cNvPr id="6" name="Text 4"/>
          <p:cNvSpPr txBox="1"/>
          <p:nvPr/>
        </p:nvSpPr>
        <p:spPr>
          <a:xfrm>
            <a:off x="274320" y="1261872"/>
            <a:ext cx="777240" cy="43891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TRL 1</a:t>
            </a:r>
            <a:endParaRPr lang="en-US" sz="900" dirty="0"/>
          </a:p>
        </p:txBody>
      </p:sp>
      <p:sp>
        <p:nvSpPr>
          <p:cNvPr id="7" name="Text 5"/>
          <p:cNvSpPr txBox="1"/>
          <p:nvPr/>
        </p:nvSpPr>
        <p:spPr>
          <a:xfrm>
            <a:off x="274320" y="1719072"/>
            <a:ext cx="777240" cy="43891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Ide</a:t>
            </a:r>
            <a:endParaRPr lang="en-US" sz="750" dirty="0"/>
          </a:p>
        </p:txBody>
      </p:sp>
      <p:sp>
        <p:nvSpPr>
          <p:cNvPr id="8" name="Shape 6"/>
          <p:cNvSpPr/>
          <p:nvPr/>
        </p:nvSpPr>
        <p:spPr>
          <a:xfrm>
            <a:off x="1234440" y="1261872"/>
            <a:ext cx="777240" cy="438912"/>
          </a:xfrm>
          <a:prstGeom prst="rect">
            <a:avLst/>
          </a:prstGeom>
          <a:solidFill>
            <a:srgbClr val="1565C0"/>
          </a:solidFill>
          <a:ln w="12700">
            <a:solidFill>
              <a:srgbClr val="1565C0"/>
            </a:solidFill>
            <a:prstDash val="solid"/>
          </a:ln>
        </p:spPr>
      </p:sp>
      <p:sp>
        <p:nvSpPr>
          <p:cNvPr id="9" name="Text 7"/>
          <p:cNvSpPr txBox="1"/>
          <p:nvPr/>
        </p:nvSpPr>
        <p:spPr>
          <a:xfrm>
            <a:off x="1234440" y="1261872"/>
            <a:ext cx="777240" cy="43891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TRL 2</a:t>
            </a:r>
            <a:endParaRPr lang="en-US" sz="900" dirty="0"/>
          </a:p>
        </p:txBody>
      </p:sp>
      <p:sp>
        <p:nvSpPr>
          <p:cNvPr id="10" name="Text 8"/>
          <p:cNvSpPr txBox="1"/>
          <p:nvPr/>
        </p:nvSpPr>
        <p:spPr>
          <a:xfrm>
            <a:off x="1234440" y="1719072"/>
            <a:ext cx="777240" cy="43891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Konsep</a:t>
            </a:r>
            <a:endParaRPr lang="en-US" sz="750" dirty="0"/>
          </a:p>
        </p:txBody>
      </p:sp>
      <p:sp>
        <p:nvSpPr>
          <p:cNvPr id="11" name="Shape 9"/>
          <p:cNvSpPr/>
          <p:nvPr/>
        </p:nvSpPr>
        <p:spPr>
          <a:xfrm>
            <a:off x="2194560" y="1261872"/>
            <a:ext cx="777240" cy="438912"/>
          </a:xfrm>
          <a:prstGeom prst="rect">
            <a:avLst/>
          </a:prstGeom>
          <a:solidFill>
            <a:srgbClr val="00897B"/>
          </a:solidFill>
          <a:ln w="12700">
            <a:solidFill>
              <a:srgbClr val="00897B"/>
            </a:solidFill>
            <a:prstDash val="solid"/>
          </a:ln>
        </p:spPr>
      </p:sp>
      <p:sp>
        <p:nvSpPr>
          <p:cNvPr id="12" name="Text 10"/>
          <p:cNvSpPr txBox="1"/>
          <p:nvPr/>
        </p:nvSpPr>
        <p:spPr>
          <a:xfrm>
            <a:off x="2194560" y="1261872"/>
            <a:ext cx="77724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TRL 3</a:t>
            </a:r>
            <a:endParaRPr lang="en-US" sz="900" dirty="0"/>
          </a:p>
        </p:txBody>
      </p:sp>
      <p:sp>
        <p:nvSpPr>
          <p:cNvPr id="13" name="Text 11"/>
          <p:cNvSpPr txBox="1"/>
          <p:nvPr/>
        </p:nvSpPr>
        <p:spPr>
          <a:xfrm>
            <a:off x="2194560" y="1719072"/>
            <a:ext cx="777240" cy="438912"/>
          </a:xfrm>
          <a:prstGeom prst="rect">
            <a:avLst/>
          </a:prstGeom>
          <a:noFill/>
          <a:ln/>
        </p:spPr>
        <p:txBody>
          <a:bodyPr wrap="square" lIns="0" tIns="0" rIns="0" bIns="0" rtlCol="0" anchor="ctr"/>
          <a:lstStyle/>
          <a:p>
            <a:pPr algn="ctr" indent="0" marL="0">
              <a:buNone/>
            </a:pPr>
            <a:r>
              <a:rPr lang="en-US" sz="750" b="1" dirty="0">
                <a:solidFill>
                  <a:srgbClr val="00897B"/>
                </a:solidFill>
                <a:latin typeface="Calibri" pitchFamily="34" charset="0"/>
                <a:ea typeface="Calibri" pitchFamily="34" charset="-122"/>
                <a:cs typeface="Calibri" pitchFamily="34" charset="-120"/>
              </a:rPr>
              <a:t>Proof</a:t>
            </a:r>
            <a:endParaRPr lang="en-US" sz="750" dirty="0"/>
          </a:p>
          <a:p>
            <a:pPr algn="ctr" indent="0" marL="0">
              <a:buNone/>
            </a:pPr>
            <a:r>
              <a:rPr lang="en-US" sz="750" b="1" dirty="0">
                <a:solidFill>
                  <a:srgbClr val="00897B"/>
                </a:solidFill>
                <a:latin typeface="Calibri" pitchFamily="34" charset="0"/>
                <a:ea typeface="Calibri" pitchFamily="34" charset="-122"/>
                <a:cs typeface="Calibri" pitchFamily="34" charset="-120"/>
              </a:rPr>
              <a:t>of</a:t>
            </a:r>
            <a:endParaRPr lang="en-US" sz="750" dirty="0"/>
          </a:p>
          <a:p>
            <a:pPr algn="ctr" indent="0" marL="0">
              <a:buNone/>
            </a:pPr>
            <a:r>
              <a:rPr lang="en-US" sz="750" b="1" dirty="0">
                <a:solidFill>
                  <a:srgbClr val="00897B"/>
                </a:solidFill>
                <a:latin typeface="Calibri" pitchFamily="34" charset="0"/>
                <a:ea typeface="Calibri" pitchFamily="34" charset="-122"/>
                <a:cs typeface="Calibri" pitchFamily="34" charset="-120"/>
              </a:rPr>
              <a:t>Concept</a:t>
            </a:r>
            <a:endParaRPr lang="en-US" sz="750" dirty="0"/>
          </a:p>
        </p:txBody>
      </p:sp>
      <p:sp>
        <p:nvSpPr>
          <p:cNvPr id="14" name="Shape 12"/>
          <p:cNvSpPr/>
          <p:nvPr/>
        </p:nvSpPr>
        <p:spPr>
          <a:xfrm>
            <a:off x="3154680" y="1261872"/>
            <a:ext cx="777240" cy="438912"/>
          </a:xfrm>
          <a:prstGeom prst="rect">
            <a:avLst/>
          </a:prstGeom>
          <a:solidFill>
            <a:srgbClr val="00897B"/>
          </a:solidFill>
          <a:ln w="12700">
            <a:solidFill>
              <a:srgbClr val="00897B"/>
            </a:solidFill>
            <a:prstDash val="solid"/>
          </a:ln>
        </p:spPr>
      </p:sp>
      <p:sp>
        <p:nvSpPr>
          <p:cNvPr id="15" name="Text 13"/>
          <p:cNvSpPr txBox="1"/>
          <p:nvPr/>
        </p:nvSpPr>
        <p:spPr>
          <a:xfrm>
            <a:off x="3154680" y="1261872"/>
            <a:ext cx="77724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TRL 4</a:t>
            </a:r>
            <a:endParaRPr lang="en-US" sz="900" dirty="0"/>
          </a:p>
        </p:txBody>
      </p:sp>
      <p:sp>
        <p:nvSpPr>
          <p:cNvPr id="16" name="Text 14"/>
          <p:cNvSpPr txBox="1"/>
          <p:nvPr/>
        </p:nvSpPr>
        <p:spPr>
          <a:xfrm>
            <a:off x="3154680" y="1719072"/>
            <a:ext cx="777240" cy="438912"/>
          </a:xfrm>
          <a:prstGeom prst="rect">
            <a:avLst/>
          </a:prstGeom>
          <a:noFill/>
          <a:ln/>
        </p:spPr>
        <p:txBody>
          <a:bodyPr wrap="square" lIns="0" tIns="0" rIns="0" bIns="0" rtlCol="0" anchor="ctr"/>
          <a:lstStyle/>
          <a:p>
            <a:pPr algn="ctr" indent="0" marL="0">
              <a:buNone/>
            </a:pPr>
            <a:r>
              <a:rPr lang="en-US" sz="750" b="1" dirty="0">
                <a:solidFill>
                  <a:srgbClr val="00897B"/>
                </a:solidFill>
                <a:latin typeface="Calibri" pitchFamily="34" charset="0"/>
                <a:ea typeface="Calibri" pitchFamily="34" charset="-122"/>
                <a:cs typeface="Calibri" pitchFamily="34" charset="-120"/>
              </a:rPr>
              <a:t>Lab</a:t>
            </a:r>
            <a:endParaRPr lang="en-US" sz="750" dirty="0"/>
          </a:p>
          <a:p>
            <a:pPr algn="ctr" indent="0" marL="0">
              <a:buNone/>
            </a:pPr>
            <a:r>
              <a:rPr lang="en-US" sz="750" b="1" dirty="0">
                <a:solidFill>
                  <a:srgbClr val="00897B"/>
                </a:solidFill>
                <a:latin typeface="Calibri" pitchFamily="34" charset="0"/>
                <a:ea typeface="Calibri" pitchFamily="34" charset="-122"/>
                <a:cs typeface="Calibri" pitchFamily="34" charset="-120"/>
              </a:rPr>
              <a:t>Validasi</a:t>
            </a:r>
            <a:endParaRPr lang="en-US" sz="750" dirty="0"/>
          </a:p>
        </p:txBody>
      </p:sp>
      <p:sp>
        <p:nvSpPr>
          <p:cNvPr id="17" name="Shape 15"/>
          <p:cNvSpPr/>
          <p:nvPr/>
        </p:nvSpPr>
        <p:spPr>
          <a:xfrm>
            <a:off x="4114800" y="1261872"/>
            <a:ext cx="777240" cy="438912"/>
          </a:xfrm>
          <a:prstGeom prst="rect">
            <a:avLst/>
          </a:prstGeom>
          <a:solidFill>
            <a:srgbClr val="CBD5E1"/>
          </a:solidFill>
          <a:ln w="12700">
            <a:solidFill>
              <a:srgbClr val="CBD5E1"/>
            </a:solidFill>
            <a:prstDash val="solid"/>
          </a:ln>
        </p:spPr>
      </p:sp>
      <p:sp>
        <p:nvSpPr>
          <p:cNvPr id="18" name="Text 16"/>
          <p:cNvSpPr txBox="1"/>
          <p:nvPr/>
        </p:nvSpPr>
        <p:spPr>
          <a:xfrm>
            <a:off x="4114800" y="1261872"/>
            <a:ext cx="77724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TRL 5</a:t>
            </a:r>
            <a:endParaRPr lang="en-US" sz="900" dirty="0"/>
          </a:p>
        </p:txBody>
      </p:sp>
      <p:sp>
        <p:nvSpPr>
          <p:cNvPr id="19" name="Text 17"/>
          <p:cNvSpPr txBox="1"/>
          <p:nvPr/>
        </p:nvSpPr>
        <p:spPr>
          <a:xfrm>
            <a:off x="4114800" y="1719072"/>
            <a:ext cx="777240" cy="43891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Demo</a:t>
            </a:r>
            <a:endParaRPr lang="en-US" sz="750" dirty="0"/>
          </a:p>
        </p:txBody>
      </p:sp>
      <p:sp>
        <p:nvSpPr>
          <p:cNvPr id="20" name="Shape 18"/>
          <p:cNvSpPr/>
          <p:nvPr/>
        </p:nvSpPr>
        <p:spPr>
          <a:xfrm>
            <a:off x="5074920" y="1261872"/>
            <a:ext cx="777240" cy="438912"/>
          </a:xfrm>
          <a:prstGeom prst="rect">
            <a:avLst/>
          </a:prstGeom>
          <a:solidFill>
            <a:srgbClr val="CBD5E1"/>
          </a:solidFill>
          <a:ln w="12700">
            <a:solidFill>
              <a:srgbClr val="CBD5E1"/>
            </a:solidFill>
            <a:prstDash val="solid"/>
          </a:ln>
        </p:spPr>
      </p:sp>
      <p:sp>
        <p:nvSpPr>
          <p:cNvPr id="21" name="Text 19"/>
          <p:cNvSpPr txBox="1"/>
          <p:nvPr/>
        </p:nvSpPr>
        <p:spPr>
          <a:xfrm>
            <a:off x="5074920" y="1261872"/>
            <a:ext cx="77724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TRL 6</a:t>
            </a:r>
            <a:endParaRPr lang="en-US" sz="900" dirty="0"/>
          </a:p>
        </p:txBody>
      </p:sp>
      <p:sp>
        <p:nvSpPr>
          <p:cNvPr id="22" name="Text 20"/>
          <p:cNvSpPr txBox="1"/>
          <p:nvPr/>
        </p:nvSpPr>
        <p:spPr>
          <a:xfrm>
            <a:off x="5074920" y="1719072"/>
            <a:ext cx="777240" cy="43891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Pilot</a:t>
            </a:r>
            <a:endParaRPr lang="en-US" sz="750" dirty="0"/>
          </a:p>
          <a:p>
            <a:pPr algn="ctr" indent="0" marL="0">
              <a:buNone/>
            </a:pPr>
            <a:r>
              <a:rPr lang="en-US" sz="750" dirty="0">
                <a:solidFill>
                  <a:srgbClr val="64748B"/>
                </a:solidFill>
                <a:latin typeface="Calibri" pitchFamily="34" charset="0"/>
                <a:ea typeface="Calibri" pitchFamily="34" charset="-122"/>
                <a:cs typeface="Calibri" pitchFamily="34" charset="-120"/>
              </a:rPr>
              <a:t>Real</a:t>
            </a:r>
            <a:endParaRPr lang="en-US" sz="750" dirty="0"/>
          </a:p>
        </p:txBody>
      </p:sp>
      <p:sp>
        <p:nvSpPr>
          <p:cNvPr id="23" name="Shape 21"/>
          <p:cNvSpPr/>
          <p:nvPr/>
        </p:nvSpPr>
        <p:spPr>
          <a:xfrm>
            <a:off x="6035040" y="1261872"/>
            <a:ext cx="777240" cy="438912"/>
          </a:xfrm>
          <a:prstGeom prst="rect">
            <a:avLst/>
          </a:prstGeom>
          <a:solidFill>
            <a:srgbClr val="CBD5E1"/>
          </a:solidFill>
          <a:ln w="12700">
            <a:solidFill>
              <a:srgbClr val="CBD5E1"/>
            </a:solidFill>
            <a:prstDash val="solid"/>
          </a:ln>
        </p:spPr>
      </p:sp>
      <p:sp>
        <p:nvSpPr>
          <p:cNvPr id="24" name="Text 22"/>
          <p:cNvSpPr txBox="1"/>
          <p:nvPr/>
        </p:nvSpPr>
        <p:spPr>
          <a:xfrm>
            <a:off x="6035040" y="1261872"/>
            <a:ext cx="77724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TRL 7</a:t>
            </a:r>
            <a:endParaRPr lang="en-US" sz="900" dirty="0"/>
          </a:p>
        </p:txBody>
      </p:sp>
      <p:sp>
        <p:nvSpPr>
          <p:cNvPr id="25" name="Text 23"/>
          <p:cNvSpPr txBox="1"/>
          <p:nvPr/>
        </p:nvSpPr>
        <p:spPr>
          <a:xfrm>
            <a:off x="6035040" y="1719072"/>
            <a:ext cx="777240" cy="43891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Proto-</a:t>
            </a:r>
            <a:endParaRPr lang="en-US" sz="750" dirty="0"/>
          </a:p>
          <a:p>
            <a:pPr algn="ctr" indent="0" marL="0">
              <a:buNone/>
            </a:pPr>
            <a:r>
              <a:rPr lang="en-US" sz="750" dirty="0">
                <a:solidFill>
                  <a:srgbClr val="64748B"/>
                </a:solidFill>
                <a:latin typeface="Calibri" pitchFamily="34" charset="0"/>
                <a:ea typeface="Calibri" pitchFamily="34" charset="-122"/>
                <a:cs typeface="Calibri" pitchFamily="34" charset="-120"/>
              </a:rPr>
              <a:t>tipe</a:t>
            </a:r>
            <a:endParaRPr lang="en-US" sz="750" dirty="0"/>
          </a:p>
        </p:txBody>
      </p:sp>
      <p:sp>
        <p:nvSpPr>
          <p:cNvPr id="26" name="Shape 24"/>
          <p:cNvSpPr/>
          <p:nvPr/>
        </p:nvSpPr>
        <p:spPr>
          <a:xfrm>
            <a:off x="6995160" y="1261872"/>
            <a:ext cx="777240" cy="438912"/>
          </a:xfrm>
          <a:prstGeom prst="rect">
            <a:avLst/>
          </a:prstGeom>
          <a:solidFill>
            <a:srgbClr val="CBD5E1"/>
          </a:solidFill>
          <a:ln w="12700">
            <a:solidFill>
              <a:srgbClr val="CBD5E1"/>
            </a:solidFill>
            <a:prstDash val="solid"/>
          </a:ln>
        </p:spPr>
      </p:sp>
      <p:sp>
        <p:nvSpPr>
          <p:cNvPr id="27" name="Text 25"/>
          <p:cNvSpPr txBox="1"/>
          <p:nvPr/>
        </p:nvSpPr>
        <p:spPr>
          <a:xfrm>
            <a:off x="6995160" y="1261872"/>
            <a:ext cx="77724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TRL 8</a:t>
            </a:r>
            <a:endParaRPr lang="en-US" sz="900" dirty="0"/>
          </a:p>
        </p:txBody>
      </p:sp>
      <p:sp>
        <p:nvSpPr>
          <p:cNvPr id="28" name="Text 26"/>
          <p:cNvSpPr txBox="1"/>
          <p:nvPr/>
        </p:nvSpPr>
        <p:spPr>
          <a:xfrm>
            <a:off x="6995160" y="1719072"/>
            <a:ext cx="777240" cy="43891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Pre-</a:t>
            </a:r>
            <a:endParaRPr lang="en-US" sz="750" dirty="0"/>
          </a:p>
          <a:p>
            <a:pPr algn="ctr" indent="0" marL="0">
              <a:buNone/>
            </a:pPr>
            <a:r>
              <a:rPr lang="en-US" sz="750" dirty="0">
                <a:solidFill>
                  <a:srgbClr val="64748B"/>
                </a:solidFill>
                <a:latin typeface="Calibri" pitchFamily="34" charset="0"/>
                <a:ea typeface="Calibri" pitchFamily="34" charset="-122"/>
                <a:cs typeface="Calibri" pitchFamily="34" charset="-120"/>
              </a:rPr>
              <a:t>Prod</a:t>
            </a:r>
            <a:endParaRPr lang="en-US" sz="750" dirty="0"/>
          </a:p>
        </p:txBody>
      </p:sp>
      <p:sp>
        <p:nvSpPr>
          <p:cNvPr id="29" name="Shape 27"/>
          <p:cNvSpPr/>
          <p:nvPr/>
        </p:nvSpPr>
        <p:spPr>
          <a:xfrm>
            <a:off x="7955280" y="1261872"/>
            <a:ext cx="777240" cy="438912"/>
          </a:xfrm>
          <a:prstGeom prst="rect">
            <a:avLst/>
          </a:prstGeom>
          <a:solidFill>
            <a:srgbClr val="CBD5E1"/>
          </a:solidFill>
          <a:ln w="12700">
            <a:solidFill>
              <a:srgbClr val="CBD5E1"/>
            </a:solidFill>
            <a:prstDash val="solid"/>
          </a:ln>
        </p:spPr>
      </p:sp>
      <p:sp>
        <p:nvSpPr>
          <p:cNvPr id="30" name="Text 28"/>
          <p:cNvSpPr txBox="1"/>
          <p:nvPr/>
        </p:nvSpPr>
        <p:spPr>
          <a:xfrm>
            <a:off x="7955280" y="1261872"/>
            <a:ext cx="777240" cy="438912"/>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TRL 9</a:t>
            </a:r>
            <a:endParaRPr lang="en-US" sz="900" dirty="0"/>
          </a:p>
        </p:txBody>
      </p:sp>
      <p:sp>
        <p:nvSpPr>
          <p:cNvPr id="31" name="Text 29"/>
          <p:cNvSpPr txBox="1"/>
          <p:nvPr/>
        </p:nvSpPr>
        <p:spPr>
          <a:xfrm>
            <a:off x="7955280" y="1719072"/>
            <a:ext cx="777240" cy="438912"/>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Produk</a:t>
            </a:r>
            <a:endParaRPr lang="en-US" sz="750" dirty="0"/>
          </a:p>
        </p:txBody>
      </p:sp>
      <p:sp>
        <p:nvSpPr>
          <p:cNvPr id="32" name="Text 30"/>
          <p:cNvSpPr txBox="1"/>
          <p:nvPr/>
        </p:nvSpPr>
        <p:spPr>
          <a:xfrm>
            <a:off x="2240280" y="2176272"/>
            <a:ext cx="2743200" cy="237744"/>
          </a:xfrm>
          <a:prstGeom prst="rect">
            <a:avLst/>
          </a:prstGeom>
          <a:noFill/>
          <a:ln/>
        </p:spPr>
        <p:txBody>
          <a:bodyPr wrap="square" lIns="0" tIns="0" rIns="0" bIns="0"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 TilikKlaim saat ini (TRL 3–4)</a:t>
            </a:r>
            <a:endParaRPr lang="en-US" sz="950" dirty="0"/>
          </a:p>
        </p:txBody>
      </p:sp>
      <p:sp>
        <p:nvSpPr>
          <p:cNvPr id="33" name="Shape 31"/>
          <p:cNvSpPr/>
          <p:nvPr/>
        </p:nvSpPr>
        <p:spPr>
          <a:xfrm>
            <a:off x="274320" y="2487168"/>
            <a:ext cx="8549640" cy="9144"/>
          </a:xfrm>
          <a:prstGeom prst="rect">
            <a:avLst/>
          </a:prstGeom>
          <a:solidFill>
            <a:srgbClr val="CBD5E1"/>
          </a:solidFill>
          <a:ln w="12700">
            <a:solidFill>
              <a:srgbClr val="CBD5E1"/>
            </a:solidFill>
            <a:prstDash val="solid"/>
          </a:ln>
        </p:spPr>
      </p:sp>
      <p:sp>
        <p:nvSpPr>
          <p:cNvPr id="34" name="Text 32"/>
          <p:cNvSpPr txBox="1"/>
          <p:nvPr/>
        </p:nvSpPr>
        <p:spPr>
          <a:xfrm>
            <a:off x="274320" y="2523744"/>
            <a:ext cx="3657600" cy="201168"/>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ARTEFAK TERVERIFIKASI</a:t>
            </a:r>
            <a:endParaRPr lang="en-US" sz="900" dirty="0"/>
          </a:p>
        </p:txBody>
      </p:sp>
      <p:sp>
        <p:nvSpPr>
          <p:cNvPr id="35" name="Shape 33"/>
          <p:cNvSpPr/>
          <p:nvPr/>
        </p:nvSpPr>
        <p:spPr>
          <a:xfrm>
            <a:off x="274320" y="2770632"/>
            <a:ext cx="4069080" cy="100584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36" name="Shape 34"/>
          <p:cNvSpPr/>
          <p:nvPr/>
        </p:nvSpPr>
        <p:spPr>
          <a:xfrm>
            <a:off x="274320" y="2770632"/>
            <a:ext cx="164592" cy="1005840"/>
          </a:xfrm>
          <a:prstGeom prst="rect">
            <a:avLst/>
          </a:prstGeom>
          <a:solidFill>
            <a:srgbClr val="1565C0"/>
          </a:solidFill>
          <a:ln w="12700">
            <a:solidFill>
              <a:srgbClr val="1565C0"/>
            </a:solidFill>
            <a:prstDash val="solid"/>
          </a:ln>
        </p:spPr>
      </p:sp>
      <p:sp>
        <p:nvSpPr>
          <p:cNvPr id="37" name="Text 35"/>
          <p:cNvSpPr txBox="1"/>
          <p:nvPr/>
        </p:nvSpPr>
        <p:spPr>
          <a:xfrm>
            <a:off x="502920" y="2834640"/>
            <a:ext cx="3794760" cy="256032"/>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Repositori Publik</a:t>
            </a:r>
            <a:endParaRPr lang="en-US" sz="1000" dirty="0"/>
          </a:p>
        </p:txBody>
      </p:sp>
      <p:sp>
        <p:nvSpPr>
          <p:cNvPr id="38" name="Text 36"/>
          <p:cNvSpPr txBox="1"/>
          <p:nvPr/>
        </p:nvSpPr>
        <p:spPr>
          <a:xfrm>
            <a:off x="502920" y="3118104"/>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github.com/fahriialfiansyah/tilik-klaim</a:t>
            </a:r>
            <a:endParaRPr lang="en-US" sz="850" dirty="0"/>
          </a:p>
        </p:txBody>
      </p:sp>
      <p:sp>
        <p:nvSpPr>
          <p:cNvPr id="39" name="Text 37"/>
          <p:cNvSpPr txBox="1"/>
          <p:nvPr/>
        </p:nvSpPr>
        <p:spPr>
          <a:xfrm>
            <a:off x="502920" y="3328416"/>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Backend + Frontend + docker-compose</a:t>
            </a:r>
            <a:endParaRPr lang="en-US" sz="850" dirty="0"/>
          </a:p>
        </p:txBody>
      </p:sp>
      <p:sp>
        <p:nvSpPr>
          <p:cNvPr id="40" name="Text 38"/>
          <p:cNvSpPr txBox="1"/>
          <p:nvPr/>
        </p:nvSpPr>
        <p:spPr>
          <a:xfrm>
            <a:off x="502920" y="3538728"/>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8 sprint terarsip · commit history aktif</a:t>
            </a:r>
            <a:endParaRPr lang="en-US" sz="850" dirty="0"/>
          </a:p>
        </p:txBody>
      </p:sp>
      <p:sp>
        <p:nvSpPr>
          <p:cNvPr id="41" name="Shape 39"/>
          <p:cNvSpPr/>
          <p:nvPr/>
        </p:nvSpPr>
        <p:spPr>
          <a:xfrm>
            <a:off x="4590288" y="2770632"/>
            <a:ext cx="4069080" cy="1005840"/>
          </a:xfrm>
          <a:prstGeom prst="rect">
            <a:avLst/>
          </a:prstGeom>
          <a:solidFill>
            <a:srgbClr val="FFFFFF"/>
          </a:solidFill>
          <a:ln w="12700">
            <a:solidFill>
              <a:srgbClr val="00897B"/>
            </a:solidFill>
            <a:prstDash val="solid"/>
          </a:ln>
          <a:effectLst>
            <a:outerShdw sx="100000" sy="100000" kx="0" ky="0" algn="bl" rotWithShape="0" blurRad="50800" dist="25400" dir="2700000">
              <a:srgbClr val="94A3B8">
                <a:alpha val="15000"/>
              </a:srgbClr>
            </a:outerShdw>
          </a:effectLst>
        </p:spPr>
      </p:sp>
      <p:sp>
        <p:nvSpPr>
          <p:cNvPr id="42" name="Shape 40"/>
          <p:cNvSpPr/>
          <p:nvPr/>
        </p:nvSpPr>
        <p:spPr>
          <a:xfrm>
            <a:off x="4590288" y="2770632"/>
            <a:ext cx="164592" cy="1005840"/>
          </a:xfrm>
          <a:prstGeom prst="rect">
            <a:avLst/>
          </a:prstGeom>
          <a:solidFill>
            <a:srgbClr val="00897B"/>
          </a:solidFill>
          <a:ln w="12700">
            <a:solidFill>
              <a:srgbClr val="00897B"/>
            </a:solidFill>
            <a:prstDash val="solid"/>
          </a:ln>
        </p:spPr>
      </p:sp>
      <p:sp>
        <p:nvSpPr>
          <p:cNvPr id="43" name="Text 41"/>
          <p:cNvSpPr txBox="1"/>
          <p:nvPr/>
        </p:nvSpPr>
        <p:spPr>
          <a:xfrm>
            <a:off x="4818888" y="2834640"/>
            <a:ext cx="3794760" cy="256032"/>
          </a:xfrm>
          <a:prstGeom prst="rect">
            <a:avLst/>
          </a:prstGeom>
          <a:noFill/>
          <a:ln/>
        </p:spPr>
        <p:txBody>
          <a:bodyPr wrap="square" lIns="0" tIns="0" rIns="0" bIns="0" rtlCol="0" anchor="ctr"/>
          <a:lstStyle/>
          <a:p>
            <a:pPr indent="0" marL="0">
              <a:buNone/>
            </a:pPr>
            <a:r>
              <a:rPr lang="en-US" sz="1000" b="1" dirty="0">
                <a:solidFill>
                  <a:srgbClr val="00897B"/>
                </a:solidFill>
                <a:latin typeface="Calibri" pitchFamily="34" charset="0"/>
                <a:ea typeface="Calibri" pitchFamily="34" charset="-122"/>
                <a:cs typeface="Calibri" pitchFamily="34" charset="-120"/>
              </a:rPr>
              <a:t>■  Expected Cost Matrix</a:t>
            </a:r>
            <a:endParaRPr lang="en-US" sz="1000" dirty="0"/>
          </a:p>
        </p:txBody>
      </p:sp>
      <p:sp>
        <p:nvSpPr>
          <p:cNvPr id="44" name="Text 42"/>
          <p:cNvSpPr txBox="1"/>
          <p:nvPr/>
        </p:nvSpPr>
        <p:spPr>
          <a:xfrm>
            <a:off x="4818888" y="3118104"/>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6 tabel DJSN 2018 (34 Prov × 3 Kelas × 16 Usia)</a:t>
            </a:r>
            <a:endParaRPr lang="en-US" sz="850" dirty="0"/>
          </a:p>
        </p:txBody>
      </p:sp>
      <p:sp>
        <p:nvSpPr>
          <p:cNvPr id="45" name="Text 43"/>
          <p:cNvSpPr txBox="1"/>
          <p:nvPr/>
        </p:nvSpPr>
        <p:spPr>
          <a:xfrm>
            <a:off x="4818888" y="3328416"/>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Threshold mean + 2σ per sel matriks</a:t>
            </a:r>
            <a:endParaRPr lang="en-US" sz="850" dirty="0"/>
          </a:p>
        </p:txBody>
      </p:sp>
      <p:sp>
        <p:nvSpPr>
          <p:cNvPr id="46" name="Text 44"/>
          <p:cNvSpPr txBox="1"/>
          <p:nvPr/>
        </p:nvSpPr>
        <p:spPr>
          <a:xfrm>
            <a:off x="4818888" y="3538728"/>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5 skenario sintetik seed tetap — reproducible</a:t>
            </a:r>
            <a:endParaRPr lang="en-US" sz="850" dirty="0"/>
          </a:p>
        </p:txBody>
      </p:sp>
      <p:sp>
        <p:nvSpPr>
          <p:cNvPr id="47" name="Shape 45"/>
          <p:cNvSpPr/>
          <p:nvPr/>
        </p:nvSpPr>
        <p:spPr>
          <a:xfrm>
            <a:off x="274320" y="3886200"/>
            <a:ext cx="4069080" cy="1005840"/>
          </a:xfrm>
          <a:prstGeom prst="rect">
            <a:avLst/>
          </a:prstGeom>
          <a:solidFill>
            <a:srgbClr val="FFFFFF"/>
          </a:solidFill>
          <a:ln w="12700">
            <a:solidFill>
              <a:srgbClr val="F59E0B"/>
            </a:solidFill>
            <a:prstDash val="solid"/>
          </a:ln>
          <a:effectLst>
            <a:outerShdw sx="100000" sy="100000" kx="0" ky="0" algn="bl" rotWithShape="0" blurRad="50800" dist="25400" dir="2700000">
              <a:srgbClr val="94A3B8">
                <a:alpha val="15000"/>
              </a:srgbClr>
            </a:outerShdw>
          </a:effectLst>
        </p:spPr>
      </p:sp>
      <p:sp>
        <p:nvSpPr>
          <p:cNvPr id="48" name="Shape 46"/>
          <p:cNvSpPr/>
          <p:nvPr/>
        </p:nvSpPr>
        <p:spPr>
          <a:xfrm>
            <a:off x="274320" y="3886200"/>
            <a:ext cx="164592" cy="1005840"/>
          </a:xfrm>
          <a:prstGeom prst="rect">
            <a:avLst/>
          </a:prstGeom>
          <a:solidFill>
            <a:srgbClr val="F59E0B"/>
          </a:solidFill>
          <a:ln w="12700">
            <a:solidFill>
              <a:srgbClr val="F59E0B"/>
            </a:solidFill>
            <a:prstDash val="solid"/>
          </a:ln>
        </p:spPr>
      </p:sp>
      <p:sp>
        <p:nvSpPr>
          <p:cNvPr id="49" name="Text 47"/>
          <p:cNvSpPr txBox="1"/>
          <p:nvPr/>
        </p:nvSpPr>
        <p:spPr>
          <a:xfrm>
            <a:off x="502920" y="3950208"/>
            <a:ext cx="3794760" cy="256032"/>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  ADR-0002 — No LLM</a:t>
            </a:r>
            <a:endParaRPr lang="en-US" sz="1000" dirty="0"/>
          </a:p>
        </p:txBody>
      </p:sp>
      <p:sp>
        <p:nvSpPr>
          <p:cNvPr id="50" name="Text 48"/>
          <p:cNvSpPr txBox="1"/>
          <p:nvPr/>
        </p:nvSpPr>
        <p:spPr>
          <a:xfrm>
            <a:off x="502920" y="4233672"/>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"Tidak ada LLM di jalur keputusan risiko"</a:t>
            </a:r>
            <a:endParaRPr lang="en-US" sz="850" dirty="0"/>
          </a:p>
        </p:txBody>
      </p:sp>
      <p:sp>
        <p:nvSpPr>
          <p:cNvPr id="51" name="Text 49"/>
          <p:cNvSpPr txBox="1"/>
          <p:nvPr/>
        </p:nvSpPr>
        <p:spPr>
          <a:xfrm>
            <a:off x="502920" y="4443984"/>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Setiap flag reprodusibel &amp; diaudit independen</a:t>
            </a:r>
            <a:endParaRPr lang="en-US" sz="850" dirty="0"/>
          </a:p>
        </p:txBody>
      </p:sp>
      <p:sp>
        <p:nvSpPr>
          <p:cNvPr id="52" name="Text 50"/>
          <p:cNvSpPr txBox="1"/>
          <p:nvPr/>
        </p:nvSpPr>
        <p:spPr>
          <a:xfrm>
            <a:off x="502920" y="4654296"/>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Filosofi: sinyal risiko, bukan vonis fraud</a:t>
            </a:r>
            <a:endParaRPr lang="en-US" sz="850" dirty="0"/>
          </a:p>
        </p:txBody>
      </p:sp>
      <p:sp>
        <p:nvSpPr>
          <p:cNvPr id="53" name="Shape 51"/>
          <p:cNvSpPr/>
          <p:nvPr/>
        </p:nvSpPr>
        <p:spPr>
          <a:xfrm>
            <a:off x="4590288" y="3886200"/>
            <a:ext cx="4069080" cy="1005840"/>
          </a:xfrm>
          <a:prstGeom prst="rect">
            <a:avLst/>
          </a:prstGeom>
          <a:solidFill>
            <a:srgbClr val="FFFFFF"/>
          </a:solidFill>
          <a:ln w="12700">
            <a:solidFill>
              <a:srgbClr val="00A878"/>
            </a:solidFill>
            <a:prstDash val="solid"/>
          </a:ln>
          <a:effectLst>
            <a:outerShdw sx="100000" sy="100000" kx="0" ky="0" algn="bl" rotWithShape="0" blurRad="50800" dist="25400" dir="2700000">
              <a:srgbClr val="94A3B8">
                <a:alpha val="15000"/>
              </a:srgbClr>
            </a:outerShdw>
          </a:effectLst>
        </p:spPr>
      </p:sp>
      <p:sp>
        <p:nvSpPr>
          <p:cNvPr id="54" name="Shape 52"/>
          <p:cNvSpPr/>
          <p:nvPr/>
        </p:nvSpPr>
        <p:spPr>
          <a:xfrm>
            <a:off x="4590288" y="3886200"/>
            <a:ext cx="164592" cy="1005840"/>
          </a:xfrm>
          <a:prstGeom prst="rect">
            <a:avLst/>
          </a:prstGeom>
          <a:solidFill>
            <a:srgbClr val="00A878"/>
          </a:solidFill>
          <a:ln w="12700">
            <a:solidFill>
              <a:srgbClr val="00A878"/>
            </a:solidFill>
            <a:prstDash val="solid"/>
          </a:ln>
        </p:spPr>
      </p:sp>
      <p:sp>
        <p:nvSpPr>
          <p:cNvPr id="55" name="Text 53"/>
          <p:cNvSpPr txBox="1"/>
          <p:nvPr/>
        </p:nvSpPr>
        <p:spPr>
          <a:xfrm>
            <a:off x="4818888" y="3950208"/>
            <a:ext cx="3794760" cy="256032"/>
          </a:xfrm>
          <a:prstGeom prst="rect">
            <a:avLst/>
          </a:prstGeom>
          <a:noFill/>
          <a:ln/>
        </p:spPr>
        <p:txBody>
          <a:bodyPr wrap="square" lIns="0" tIns="0" rIns="0" bIns="0" rtlCol="0" anchor="ctr"/>
          <a:lstStyle/>
          <a:p>
            <a:pPr indent="0" marL="0">
              <a:buNone/>
            </a:pPr>
            <a:r>
              <a:rPr lang="en-US" sz="1000" b="1" dirty="0">
                <a:solidFill>
                  <a:srgbClr val="00A878"/>
                </a:solidFill>
                <a:latin typeface="Calibri" pitchFamily="34" charset="0"/>
                <a:ea typeface="Calibri" pitchFamily="34" charset="-122"/>
                <a:cs typeface="Calibri" pitchFamily="34" charset="-120"/>
              </a:rPr>
              <a:t>●  UI Design Tersedia</a:t>
            </a:r>
            <a:endParaRPr lang="en-US" sz="1000" dirty="0"/>
          </a:p>
        </p:txBody>
      </p:sp>
      <p:sp>
        <p:nvSpPr>
          <p:cNvPr id="56" name="Text 54"/>
          <p:cNvSpPr txBox="1"/>
          <p:nvPr/>
        </p:nvSpPr>
        <p:spPr>
          <a:xfrm>
            <a:off x="4818888" y="4233672"/>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4 layar: Antrean · Kasus · Ingest · Audit</a:t>
            </a:r>
            <a:endParaRPr lang="en-US" sz="850" dirty="0"/>
          </a:p>
        </p:txBody>
      </p:sp>
      <p:sp>
        <p:nvSpPr>
          <p:cNvPr id="57" name="Text 55"/>
          <p:cNvSpPr txBox="1"/>
          <p:nvPr/>
        </p:nvSpPr>
        <p:spPr>
          <a:xfrm>
            <a:off x="4818888" y="4443984"/>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Token CSS navy/teal/amber — tersinkron ke app</a:t>
            </a:r>
            <a:endParaRPr lang="en-US" sz="850" dirty="0"/>
          </a:p>
        </p:txBody>
      </p:sp>
      <p:sp>
        <p:nvSpPr>
          <p:cNvPr id="58" name="Text 56"/>
          <p:cNvSpPr txBox="1"/>
          <p:nvPr/>
        </p:nvSpPr>
        <p:spPr>
          <a:xfrm>
            <a:off x="4818888" y="4654296"/>
            <a:ext cx="3776472" cy="201168"/>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 Lihat slide berikutnya untuk tampilan layar</a:t>
            </a:r>
            <a:endParaRPr lang="en-US" sz="850" dirty="0"/>
          </a:p>
        </p:txBody>
      </p:sp>
      <p:sp>
        <p:nvSpPr>
          <p:cNvPr id="59" name="Text 57"/>
          <p:cNvSpPr txBox="1"/>
          <p:nvPr/>
        </p:nvSpPr>
        <p:spPr>
          <a:xfrm>
            <a:off x="7955280" y="4937760"/>
            <a:ext cx="10972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929"/>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B5  ·  TINGKAT KEMATANGAN &amp; PROTOTYPE</a:t>
            </a:r>
            <a:endParaRPr lang="en-US" sz="1100" dirty="0"/>
          </a:p>
        </p:txBody>
      </p:sp>
      <p:sp>
        <p:nvSpPr>
          <p:cNvPr id="4" name="Text 2"/>
          <p:cNvSpPr txBox="1"/>
          <p:nvPr/>
        </p:nvSpPr>
        <p:spPr>
          <a:xfrm>
            <a:off x="365760" y="594360"/>
            <a:ext cx="64008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Desain Antarmuka — 4 Layar Tersedia</a:t>
            </a:r>
            <a:endParaRPr lang="en-US" sz="2200" dirty="0"/>
          </a:p>
        </p:txBody>
      </p:sp>
      <p:sp>
        <p:nvSpPr>
          <p:cNvPr id="5" name="Text 3"/>
          <p:cNvSpPr txBox="1"/>
          <p:nvPr/>
        </p:nvSpPr>
        <p:spPr>
          <a:xfrm>
            <a:off x="365760" y="1024128"/>
            <a:ext cx="5486400" cy="237744"/>
          </a:xfrm>
          <a:prstGeom prst="rect">
            <a:avLst/>
          </a:prstGeom>
          <a:noFill/>
          <a:ln/>
        </p:spPr>
        <p:txBody>
          <a:bodyPr wrap="square" lIns="0" tIns="0" rIns="0" bIns="0" rtlCol="0" anchor="ctr"/>
          <a:lstStyle/>
          <a:p>
            <a:pPr indent="0" marL="0">
              <a:buNone/>
            </a:pPr>
            <a:r>
              <a:rPr lang="en-US" sz="900" dirty="0">
                <a:solidFill>
                  <a:srgbClr val="7B92AB"/>
                </a:solidFill>
                <a:latin typeface="Calibri" pitchFamily="34" charset="0"/>
                <a:ea typeface="Calibri" pitchFamily="34" charset="-122"/>
                <a:cs typeface="Calibri" pitchFamily="34" charset="-120"/>
              </a:rPr>
              <a:t>design/mockup/reference.html  ·  branch: development</a:t>
            </a:r>
            <a:endParaRPr lang="en-US" sz="900" dirty="0"/>
          </a:p>
        </p:txBody>
      </p:sp>
      <p:sp>
        <p:nvSpPr>
          <p:cNvPr id="6" name="Shape 4"/>
          <p:cNvSpPr/>
          <p:nvPr/>
        </p:nvSpPr>
        <p:spPr>
          <a:xfrm>
            <a:off x="6035040" y="658368"/>
            <a:ext cx="2788920" cy="502920"/>
          </a:xfrm>
          <a:prstGeom prst="rect">
            <a:avLst/>
          </a:prstGeom>
          <a:solidFill>
            <a:srgbClr val="162236"/>
          </a:solidFill>
          <a:ln w="12700">
            <a:solidFill>
              <a:srgbClr val="1E3A5F"/>
            </a:solidFill>
            <a:prstDash val="solid"/>
          </a:ln>
        </p:spPr>
      </p:sp>
      <p:sp>
        <p:nvSpPr>
          <p:cNvPr id="7" name="Text 5"/>
          <p:cNvSpPr txBox="1"/>
          <p:nvPr/>
        </p:nvSpPr>
        <p:spPr>
          <a:xfrm>
            <a:off x="6080760" y="658368"/>
            <a:ext cx="2697480" cy="502920"/>
          </a:xfrm>
          <a:prstGeom prst="rect">
            <a:avLst/>
          </a:prstGeom>
          <a:noFill/>
          <a:ln/>
        </p:spPr>
        <p:txBody>
          <a:bodyPr wrap="square" lIns="50800" tIns="50800" rIns="50800" bIns="50800" rtlCol="0" anchor="ctr"/>
          <a:lstStyle/>
          <a:p>
            <a:pPr indent="0" marL="0">
              <a:buNone/>
            </a:pPr>
            <a:r>
              <a:rPr lang="en-US" sz="800" dirty="0">
                <a:solidFill>
                  <a:srgbClr val="7B92AB"/>
                </a:solidFill>
                <a:latin typeface="Calibri" pitchFamily="34" charset="0"/>
                <a:ea typeface="Calibri" pitchFamily="34" charset="-122"/>
                <a:cs typeface="Calibri" pitchFamily="34" charset="-120"/>
              </a:rPr>
              <a:t>IBM Plex Sans  ·  Token CSS Navy/Teal/Amber</a:t>
            </a:r>
            <a:endParaRPr lang="en-US" sz="800" dirty="0"/>
          </a:p>
          <a:p>
            <a:pPr indent="0" marL="0">
              <a:buNone/>
            </a:pPr>
            <a:r>
              <a:rPr lang="en-US" sz="800" dirty="0">
                <a:solidFill>
                  <a:srgbClr val="7B92AB"/>
                </a:solidFill>
                <a:latin typeface="Calibri" pitchFamily="34" charset="0"/>
                <a:ea typeface="Calibri" pitchFamily="34" charset="-122"/>
                <a:cs typeface="Calibri" pitchFamily="34" charset="-120"/>
              </a:rPr>
              <a:t>Dark mode first  ·  Kontras WCAG AA</a:t>
            </a:r>
            <a:endParaRPr lang="en-US" sz="800" dirty="0"/>
          </a:p>
        </p:txBody>
      </p:sp>
      <p:sp>
        <p:nvSpPr>
          <p:cNvPr id="8" name="Shape 6"/>
          <p:cNvSpPr/>
          <p:nvPr/>
        </p:nvSpPr>
        <p:spPr>
          <a:xfrm>
            <a:off x="155448" y="1298448"/>
            <a:ext cx="2139696" cy="2889504"/>
          </a:xfrm>
          <a:prstGeom prst="rect">
            <a:avLst/>
          </a:prstGeom>
          <a:solidFill>
            <a:srgbClr val="0C1A2B"/>
          </a:solidFill>
          <a:ln w="12700">
            <a:solidFill>
              <a:srgbClr val="F59E0B"/>
            </a:solidFill>
            <a:prstDash val="solid"/>
          </a:ln>
        </p:spPr>
      </p:sp>
      <p:pic>
        <p:nvPicPr>
          <p:cNvPr id="9" name="Image 0" descr="preencoded.png">    </p:cNvPr>
          <p:cNvPicPr>
            <a:picLocks noChangeAspect="1"/>
          </p:cNvPicPr>
          <p:nvPr/>
        </p:nvPicPr>
        <p:blipFill>
          <a:blip r:embed="rId1"/>
          <a:stretch>
            <a:fillRect/>
          </a:stretch>
        </p:blipFill>
        <p:spPr>
          <a:xfrm>
            <a:off x="182880" y="1325880"/>
            <a:ext cx="2084832" cy="2834640"/>
          </a:xfrm>
          <a:prstGeom prst="rect">
            <a:avLst/>
          </a:prstGeom>
        </p:spPr>
      </p:pic>
      <p:sp>
        <p:nvSpPr>
          <p:cNvPr id="10" name="Text 7"/>
          <p:cNvSpPr txBox="1"/>
          <p:nvPr/>
        </p:nvSpPr>
        <p:spPr>
          <a:xfrm>
            <a:off x="155448" y="4233672"/>
            <a:ext cx="2139696" cy="201168"/>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ANTREAN REVIEW</a:t>
            </a:r>
            <a:endParaRPr lang="en-US" sz="900" dirty="0"/>
          </a:p>
        </p:txBody>
      </p:sp>
      <p:sp>
        <p:nvSpPr>
          <p:cNvPr id="11" name="Text 8"/>
          <p:cNvSpPr txBox="1"/>
          <p:nvPr/>
        </p:nvSpPr>
        <p:spPr>
          <a:xfrm>
            <a:off x="155448" y="4434840"/>
            <a:ext cx="2139696" cy="292608"/>
          </a:xfrm>
          <a:prstGeom prst="rect">
            <a:avLst/>
          </a:prstGeom>
          <a:noFill/>
          <a:ln/>
        </p:spPr>
        <p:txBody>
          <a:bodyPr wrap="square" lIns="0" tIns="0" rIns="0" bIns="0" rtlCol="0" anchor="ctr"/>
          <a:lstStyle/>
          <a:p>
            <a:pPr algn="ctr" indent="0" marL="0">
              <a:buNone/>
            </a:pPr>
            <a:r>
              <a:rPr lang="en-US" sz="750" dirty="0">
                <a:solidFill>
                  <a:srgbClr val="7B92AB"/>
                </a:solidFill>
                <a:latin typeface="Calibri" pitchFamily="34" charset="0"/>
                <a:ea typeface="Calibri" pitchFamily="34" charset="-122"/>
                <a:cs typeface="Calibri" pitchFamily="34" charset="-120"/>
              </a:rPr>
              <a:t>Daftar klaim masuk, badge risiko &amp; risk score</a:t>
            </a:r>
            <a:endParaRPr lang="en-US" sz="750" dirty="0"/>
          </a:p>
        </p:txBody>
      </p:sp>
      <p:sp>
        <p:nvSpPr>
          <p:cNvPr id="12" name="Shape 9"/>
          <p:cNvSpPr/>
          <p:nvPr/>
        </p:nvSpPr>
        <p:spPr>
          <a:xfrm>
            <a:off x="2295144" y="1298448"/>
            <a:ext cx="2139696" cy="2889504"/>
          </a:xfrm>
          <a:prstGeom prst="rect">
            <a:avLst/>
          </a:prstGeom>
          <a:solidFill>
            <a:srgbClr val="0C1A2B"/>
          </a:solidFill>
          <a:ln w="12700">
            <a:solidFill>
              <a:srgbClr val="00897B"/>
            </a:solidFill>
            <a:prstDash val="solid"/>
          </a:ln>
        </p:spPr>
      </p:sp>
      <p:pic>
        <p:nvPicPr>
          <p:cNvPr id="13" name="Image 1" descr="preencoded.png">    </p:cNvPr>
          <p:cNvPicPr>
            <a:picLocks noChangeAspect="1"/>
          </p:cNvPicPr>
          <p:nvPr/>
        </p:nvPicPr>
        <p:blipFill>
          <a:blip r:embed="rId2"/>
          <a:stretch>
            <a:fillRect/>
          </a:stretch>
        </p:blipFill>
        <p:spPr>
          <a:xfrm>
            <a:off x="2322576" y="1325880"/>
            <a:ext cx="2084832" cy="2834640"/>
          </a:xfrm>
          <a:prstGeom prst="rect">
            <a:avLst/>
          </a:prstGeom>
        </p:spPr>
      </p:pic>
      <p:sp>
        <p:nvSpPr>
          <p:cNvPr id="14" name="Text 10"/>
          <p:cNvSpPr txBox="1"/>
          <p:nvPr/>
        </p:nvSpPr>
        <p:spPr>
          <a:xfrm>
            <a:off x="2295144" y="4233672"/>
            <a:ext cx="2139696" cy="201168"/>
          </a:xfrm>
          <a:prstGeom prst="rect">
            <a:avLst/>
          </a:prstGeom>
          <a:noFill/>
          <a:ln/>
        </p:spPr>
        <p:txBody>
          <a:bodyPr wrap="square" lIns="0" tIns="0" rIns="0" bIns="0" rtlCol="0" anchor="ctr"/>
          <a:lstStyle/>
          <a:p>
            <a:pPr algn="ctr" indent="0" marL="0">
              <a:buNone/>
            </a:pPr>
            <a:r>
              <a:rPr lang="en-US" sz="900" b="1" dirty="0">
                <a:solidFill>
                  <a:srgbClr val="00897B"/>
                </a:solidFill>
                <a:latin typeface="Calibri" pitchFamily="34" charset="0"/>
                <a:ea typeface="Calibri" pitchFamily="34" charset="-122"/>
                <a:cs typeface="Calibri" pitchFamily="34" charset="-120"/>
              </a:rPr>
              <a:t>DETAIL KASUS</a:t>
            </a:r>
            <a:endParaRPr lang="en-US" sz="900" dirty="0"/>
          </a:p>
        </p:txBody>
      </p:sp>
      <p:sp>
        <p:nvSpPr>
          <p:cNvPr id="15" name="Text 11"/>
          <p:cNvSpPr txBox="1"/>
          <p:nvPr/>
        </p:nvSpPr>
        <p:spPr>
          <a:xfrm>
            <a:off x="2295144" y="4434840"/>
            <a:ext cx="2139696" cy="292608"/>
          </a:xfrm>
          <a:prstGeom prst="rect">
            <a:avLst/>
          </a:prstGeom>
          <a:noFill/>
          <a:ln/>
        </p:spPr>
        <p:txBody>
          <a:bodyPr wrap="square" lIns="0" tIns="0" rIns="0" bIns="0" rtlCol="0" anchor="ctr"/>
          <a:lstStyle/>
          <a:p>
            <a:pPr algn="ctr" indent="0" marL="0">
              <a:buNone/>
            </a:pPr>
            <a:r>
              <a:rPr lang="en-US" sz="750" dirty="0">
                <a:solidFill>
                  <a:srgbClr val="7B92AB"/>
                </a:solidFill>
                <a:latin typeface="Calibri" pitchFamily="34" charset="0"/>
                <a:ea typeface="Calibri" pitchFamily="34" charset="-122"/>
                <a:cs typeface="Calibri" pitchFamily="34" charset="-120"/>
              </a:rPr>
              <a:t>Evidence Workspace: swimlane, matriks bukti, sinyal</a:t>
            </a:r>
            <a:endParaRPr lang="en-US" sz="750" dirty="0"/>
          </a:p>
        </p:txBody>
      </p:sp>
      <p:sp>
        <p:nvSpPr>
          <p:cNvPr id="16" name="Shape 12"/>
          <p:cNvSpPr/>
          <p:nvPr/>
        </p:nvSpPr>
        <p:spPr>
          <a:xfrm>
            <a:off x="4434840" y="1298448"/>
            <a:ext cx="2139696" cy="2889504"/>
          </a:xfrm>
          <a:prstGeom prst="rect">
            <a:avLst/>
          </a:prstGeom>
          <a:solidFill>
            <a:srgbClr val="0C1A2B"/>
          </a:solidFill>
          <a:ln w="12700">
            <a:solidFill>
              <a:srgbClr val="00A878"/>
            </a:solidFill>
            <a:prstDash val="solid"/>
          </a:ln>
        </p:spPr>
      </p:sp>
      <p:pic>
        <p:nvPicPr>
          <p:cNvPr id="17" name="Image 2" descr="preencoded.png">    </p:cNvPr>
          <p:cNvPicPr>
            <a:picLocks noChangeAspect="1"/>
          </p:cNvPicPr>
          <p:nvPr/>
        </p:nvPicPr>
        <p:blipFill>
          <a:blip r:embed="rId3"/>
          <a:stretch>
            <a:fillRect/>
          </a:stretch>
        </p:blipFill>
        <p:spPr>
          <a:xfrm>
            <a:off x="4462272" y="1325880"/>
            <a:ext cx="2084832" cy="2834640"/>
          </a:xfrm>
          <a:prstGeom prst="rect">
            <a:avLst/>
          </a:prstGeom>
        </p:spPr>
      </p:pic>
      <p:sp>
        <p:nvSpPr>
          <p:cNvPr id="18" name="Text 13"/>
          <p:cNvSpPr txBox="1"/>
          <p:nvPr/>
        </p:nvSpPr>
        <p:spPr>
          <a:xfrm>
            <a:off x="4434840" y="4233672"/>
            <a:ext cx="2139696" cy="201168"/>
          </a:xfrm>
          <a:prstGeom prst="rect">
            <a:avLst/>
          </a:prstGeom>
          <a:noFill/>
          <a:ln/>
        </p:spPr>
        <p:txBody>
          <a:bodyPr wrap="square" lIns="0" tIns="0" rIns="0" bIns="0" rtlCol="0" anchor="ctr"/>
          <a:lstStyle/>
          <a:p>
            <a:pPr algn="ctr" indent="0" marL="0">
              <a:buNone/>
            </a:pPr>
            <a:r>
              <a:rPr lang="en-US" sz="900" b="1" dirty="0">
                <a:solidFill>
                  <a:srgbClr val="00A878"/>
                </a:solidFill>
                <a:latin typeface="Calibri" pitchFamily="34" charset="0"/>
                <a:ea typeface="Calibri" pitchFamily="34" charset="-122"/>
                <a:cs typeface="Calibri" pitchFamily="34" charset="-120"/>
              </a:rPr>
              <a:t>INGEST / DEMO</a:t>
            </a:r>
            <a:endParaRPr lang="en-US" sz="900" dirty="0"/>
          </a:p>
        </p:txBody>
      </p:sp>
      <p:sp>
        <p:nvSpPr>
          <p:cNvPr id="19" name="Text 14"/>
          <p:cNvSpPr txBox="1"/>
          <p:nvPr/>
        </p:nvSpPr>
        <p:spPr>
          <a:xfrm>
            <a:off x="4434840" y="4434840"/>
            <a:ext cx="2139696" cy="292608"/>
          </a:xfrm>
          <a:prstGeom prst="rect">
            <a:avLst/>
          </a:prstGeom>
          <a:noFill/>
          <a:ln/>
        </p:spPr>
        <p:txBody>
          <a:bodyPr wrap="square" lIns="0" tIns="0" rIns="0" bIns="0" rtlCol="0" anchor="ctr"/>
          <a:lstStyle/>
          <a:p>
            <a:pPr algn="ctr" indent="0" marL="0">
              <a:buNone/>
            </a:pPr>
            <a:r>
              <a:rPr lang="en-US" sz="750" dirty="0">
                <a:solidFill>
                  <a:srgbClr val="7B92AB"/>
                </a:solidFill>
                <a:latin typeface="Calibri" pitchFamily="34" charset="0"/>
                <a:ea typeface="Calibri" pitchFamily="34" charset="-122"/>
                <a:cs typeface="Calibri" pitchFamily="34" charset="-120"/>
              </a:rPr>
              <a:t>Upload CSV SIM-RS, progress deteksi, preview tabel</a:t>
            </a:r>
            <a:endParaRPr lang="en-US" sz="750" dirty="0"/>
          </a:p>
        </p:txBody>
      </p:sp>
      <p:sp>
        <p:nvSpPr>
          <p:cNvPr id="20" name="Shape 15"/>
          <p:cNvSpPr/>
          <p:nvPr/>
        </p:nvSpPr>
        <p:spPr>
          <a:xfrm>
            <a:off x="6574536" y="1298448"/>
            <a:ext cx="2139696" cy="2889504"/>
          </a:xfrm>
          <a:prstGeom prst="rect">
            <a:avLst/>
          </a:prstGeom>
          <a:solidFill>
            <a:srgbClr val="0C1A2B"/>
          </a:solidFill>
          <a:ln w="12700">
            <a:solidFill>
              <a:srgbClr val="1565C0"/>
            </a:solidFill>
            <a:prstDash val="solid"/>
          </a:ln>
        </p:spPr>
      </p:sp>
      <p:pic>
        <p:nvPicPr>
          <p:cNvPr id="21" name="Image 3" descr="preencoded.png">    </p:cNvPr>
          <p:cNvPicPr>
            <a:picLocks noChangeAspect="1"/>
          </p:cNvPicPr>
          <p:nvPr/>
        </p:nvPicPr>
        <p:blipFill>
          <a:blip r:embed="rId4"/>
          <a:stretch>
            <a:fillRect/>
          </a:stretch>
        </p:blipFill>
        <p:spPr>
          <a:xfrm>
            <a:off x="6601968" y="1325880"/>
            <a:ext cx="2084832" cy="2834640"/>
          </a:xfrm>
          <a:prstGeom prst="rect">
            <a:avLst/>
          </a:prstGeom>
        </p:spPr>
      </p:pic>
      <p:sp>
        <p:nvSpPr>
          <p:cNvPr id="22" name="Text 16"/>
          <p:cNvSpPr txBox="1"/>
          <p:nvPr/>
        </p:nvSpPr>
        <p:spPr>
          <a:xfrm>
            <a:off x="6574536" y="4233672"/>
            <a:ext cx="2139696" cy="201168"/>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AUDIT &amp; EVALUASI</a:t>
            </a:r>
            <a:endParaRPr lang="en-US" sz="900" dirty="0"/>
          </a:p>
        </p:txBody>
      </p:sp>
      <p:sp>
        <p:nvSpPr>
          <p:cNvPr id="23" name="Text 17"/>
          <p:cNvSpPr txBox="1"/>
          <p:nvPr/>
        </p:nvSpPr>
        <p:spPr>
          <a:xfrm>
            <a:off x="6574536" y="4434840"/>
            <a:ext cx="2139696" cy="292608"/>
          </a:xfrm>
          <a:prstGeom prst="rect">
            <a:avLst/>
          </a:prstGeom>
          <a:noFill/>
          <a:ln/>
        </p:spPr>
        <p:txBody>
          <a:bodyPr wrap="square" lIns="0" tIns="0" rIns="0" bIns="0" rtlCol="0" anchor="ctr"/>
          <a:lstStyle/>
          <a:p>
            <a:pPr algn="ctr" indent="0" marL="0">
              <a:buNone/>
            </a:pPr>
            <a:r>
              <a:rPr lang="en-US" sz="750" dirty="0">
                <a:solidFill>
                  <a:srgbClr val="7B92AB"/>
                </a:solidFill>
                <a:latin typeface="Calibri" pitchFamily="34" charset="0"/>
                <a:ea typeface="Calibri" pitchFamily="34" charset="-122"/>
                <a:cs typeface="Calibri" pitchFamily="34" charset="-120"/>
              </a:rPr>
              <a:t>Precision/recall 94,2%, tren 6 bulan, audit trail</a:t>
            </a:r>
            <a:endParaRPr lang="en-US" sz="750" dirty="0"/>
          </a:p>
        </p:txBody>
      </p:sp>
      <p:sp>
        <p:nvSpPr>
          <p:cNvPr id="24" name="Shape 18"/>
          <p:cNvSpPr/>
          <p:nvPr/>
        </p:nvSpPr>
        <p:spPr>
          <a:xfrm>
            <a:off x="237744" y="4828032"/>
            <a:ext cx="1828800" cy="182880"/>
          </a:xfrm>
          <a:prstGeom prst="rect">
            <a:avLst/>
          </a:prstGeom>
          <a:solidFill>
            <a:srgbClr val="1A2E45"/>
          </a:solidFill>
          <a:ln w="12700">
            <a:solidFill>
              <a:srgbClr val="F59E0B"/>
            </a:solidFill>
            <a:prstDash val="solid"/>
          </a:ln>
        </p:spPr>
      </p:sp>
      <p:sp>
        <p:nvSpPr>
          <p:cNvPr id="25" name="Text 19"/>
          <p:cNvSpPr txBox="1"/>
          <p:nvPr/>
        </p:nvSpPr>
        <p:spPr>
          <a:xfrm>
            <a:off x="274320" y="4828032"/>
            <a:ext cx="1737360" cy="182880"/>
          </a:xfrm>
          <a:prstGeom prst="rect">
            <a:avLst/>
          </a:prstGeom>
          <a:noFill/>
          <a:ln/>
        </p:spPr>
        <p:txBody>
          <a:bodyPr wrap="square" lIns="0" tIns="0" rIns="0" bIns="0" rtlCol="0" anchor="ctr"/>
          <a:lstStyle/>
          <a:p>
            <a:pPr algn="ctr" indent="0" marL="0">
              <a:buNone/>
            </a:pPr>
            <a:r>
              <a:rPr lang="en-US" sz="650" b="1" dirty="0">
                <a:solidFill>
                  <a:srgbClr val="F59E0B"/>
                </a:solidFill>
                <a:latin typeface="Calibri" pitchFamily="34" charset="0"/>
                <a:ea typeface="Calibri" pitchFamily="34" charset="-122"/>
                <a:cs typeface="Calibri" pitchFamily="34" charset="-120"/>
              </a:rPr>
              <a:t>DATA SINTETIK — TIDAK DAPAT DITUTUP</a:t>
            </a:r>
            <a:endParaRPr lang="en-US" sz="650" dirty="0"/>
          </a:p>
        </p:txBody>
      </p:sp>
      <p:sp>
        <p:nvSpPr>
          <p:cNvPr id="26" name="Text 20"/>
          <p:cNvSpPr txBox="1"/>
          <p:nvPr/>
        </p:nvSpPr>
        <p:spPr>
          <a:xfrm>
            <a:off x="7955280" y="4919472"/>
            <a:ext cx="1097280" cy="182880"/>
          </a:xfrm>
          <a:prstGeom prst="rect">
            <a:avLst/>
          </a:prstGeom>
          <a:noFill/>
          <a:ln/>
        </p:spPr>
        <p:txBody>
          <a:bodyPr wrap="square" lIns="0" tIns="0" rIns="0" bIns="0" rtlCol="0" anchor="ctr"/>
          <a:lstStyle/>
          <a:p>
            <a:pPr indent="0" marL="0">
              <a:buNone/>
            </a:pPr>
            <a:r>
              <a:rPr lang="en-US" sz="900" dirty="0">
                <a:solidFill>
                  <a:srgbClr val="4A6A8A"/>
                </a:solidFill>
                <a:latin typeface="Calibri" pitchFamily="34" charset="0"/>
                <a:ea typeface="Calibri" pitchFamily="34" charset="-122"/>
                <a:cs typeface="Calibri" pitchFamily="34" charset="-120"/>
              </a:rPr>
              <a:t>Slide 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B6  ·  RENCANA &amp; KELAYAKAN</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400" b="1" dirty="0">
                <a:solidFill>
                  <a:srgbClr val="0C2461"/>
                </a:solidFill>
                <a:latin typeface="Cambria" pitchFamily="34" charset="0"/>
                <a:ea typeface="Cambria" pitchFamily="34" charset="-122"/>
                <a:cs typeface="Cambria" pitchFamily="34" charset="-120"/>
              </a:rPr>
              <a:t>Roadmap realistis: Mockup → Produk (18 bulan)</a:t>
            </a:r>
            <a:endParaRPr lang="en-US" sz="2400" dirty="0"/>
          </a:p>
        </p:txBody>
      </p:sp>
      <p:sp>
        <p:nvSpPr>
          <p:cNvPr id="5" name="Shape 3"/>
          <p:cNvSpPr/>
          <p:nvPr/>
        </p:nvSpPr>
        <p:spPr>
          <a:xfrm>
            <a:off x="228600" y="1234440"/>
            <a:ext cx="2011680" cy="685800"/>
          </a:xfrm>
          <a:prstGeom prst="rect">
            <a:avLst/>
          </a:prstGeom>
          <a:solidFill>
            <a:srgbClr val="00897B"/>
          </a:solidFill>
          <a:ln w="12700">
            <a:solidFill>
              <a:srgbClr val="00897B"/>
            </a:solidFill>
            <a:prstDash val="solid"/>
          </a:ln>
        </p:spPr>
      </p:sp>
      <p:sp>
        <p:nvSpPr>
          <p:cNvPr id="6" name="Text 4"/>
          <p:cNvSpPr txBox="1"/>
          <p:nvPr/>
        </p:nvSpPr>
        <p:spPr>
          <a:xfrm>
            <a:off x="228600" y="1234440"/>
            <a:ext cx="2011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FASE 0</a:t>
            </a:r>
            <a:endParaRPr lang="en-US" sz="1200" dirty="0"/>
          </a:p>
        </p:txBody>
      </p:sp>
      <p:sp>
        <p:nvSpPr>
          <p:cNvPr id="7" name="Text 5"/>
          <p:cNvSpPr txBox="1"/>
          <p:nvPr/>
        </p:nvSpPr>
        <p:spPr>
          <a:xfrm>
            <a:off x="228600" y="1581912"/>
            <a:ext cx="2011680" cy="33832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Sekarang</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Healthkathon</a:t>
            </a:r>
            <a:endParaRPr lang="en-US" sz="900" dirty="0"/>
          </a:p>
        </p:txBody>
      </p:sp>
      <p:sp>
        <p:nvSpPr>
          <p:cNvPr id="8" name="Shape 6"/>
          <p:cNvSpPr/>
          <p:nvPr/>
        </p:nvSpPr>
        <p:spPr>
          <a:xfrm>
            <a:off x="548640" y="1938528"/>
            <a:ext cx="1371600" cy="256032"/>
          </a:xfrm>
          <a:prstGeom prst="roundRect">
            <a:avLst>
              <a:gd name="adj" fmla="val 14286"/>
            </a:avLst>
          </a:prstGeom>
          <a:solidFill>
            <a:srgbClr val="FFFFFF"/>
          </a:solidFill>
          <a:ln w="12700">
            <a:solidFill>
              <a:srgbClr val="00897B"/>
            </a:solidFill>
            <a:prstDash val="solid"/>
          </a:ln>
        </p:spPr>
      </p:sp>
      <p:sp>
        <p:nvSpPr>
          <p:cNvPr id="9" name="Text 7"/>
          <p:cNvSpPr txBox="1"/>
          <p:nvPr/>
        </p:nvSpPr>
        <p:spPr>
          <a:xfrm>
            <a:off x="548640" y="1938528"/>
            <a:ext cx="1371600" cy="256032"/>
          </a:xfrm>
          <a:prstGeom prst="rect">
            <a:avLst/>
          </a:prstGeom>
          <a:noFill/>
          <a:ln/>
        </p:spPr>
        <p:txBody>
          <a:bodyPr wrap="square" lIns="0" tIns="0" rIns="0" bIns="0" rtlCol="0" anchor="ctr"/>
          <a:lstStyle/>
          <a:p>
            <a:pPr algn="ctr" indent="0" marL="0">
              <a:buNone/>
            </a:pPr>
            <a:r>
              <a:rPr lang="en-US" sz="900" b="1" dirty="0">
                <a:solidFill>
                  <a:srgbClr val="00897B"/>
                </a:solidFill>
                <a:latin typeface="Calibri" pitchFamily="34" charset="0"/>
                <a:ea typeface="Calibri" pitchFamily="34" charset="-122"/>
                <a:cs typeface="Calibri" pitchFamily="34" charset="-120"/>
              </a:rPr>
              <a:t>TRL 3–4</a:t>
            </a:r>
            <a:endParaRPr lang="en-US" sz="900" dirty="0"/>
          </a:p>
        </p:txBody>
      </p:sp>
      <p:sp>
        <p:nvSpPr>
          <p:cNvPr id="10" name="Shape 8"/>
          <p:cNvSpPr/>
          <p:nvPr/>
        </p:nvSpPr>
        <p:spPr>
          <a:xfrm>
            <a:off x="228600" y="2267712"/>
            <a:ext cx="2011680" cy="2514600"/>
          </a:xfrm>
          <a:prstGeom prst="rect">
            <a:avLst/>
          </a:prstGeom>
          <a:solidFill>
            <a:srgbClr val="FFFFFF"/>
          </a:solidFill>
          <a:ln w="12700">
            <a:solidFill>
              <a:srgbClr val="00897B"/>
            </a:solidFill>
            <a:prstDash val="solid"/>
          </a:ln>
          <a:effectLst>
            <a:outerShdw sx="100000" sy="100000" kx="0" ky="0" algn="bl" rotWithShape="0" blurRad="50800" dist="25400" dir="2700000">
              <a:srgbClr val="94A3B8">
                <a:alpha val="15000"/>
              </a:srgbClr>
            </a:outerShdw>
          </a:effectLst>
        </p:spPr>
      </p:sp>
      <p:sp>
        <p:nvSpPr>
          <p:cNvPr id="11" name="Shape 9"/>
          <p:cNvSpPr/>
          <p:nvPr/>
        </p:nvSpPr>
        <p:spPr>
          <a:xfrm>
            <a:off x="338328" y="2377440"/>
            <a:ext cx="54864" cy="594360"/>
          </a:xfrm>
          <a:prstGeom prst="rect">
            <a:avLst/>
          </a:prstGeom>
          <a:solidFill>
            <a:srgbClr val="00897B"/>
          </a:solidFill>
          <a:ln w="12700">
            <a:solidFill>
              <a:srgbClr val="00897B"/>
            </a:solidFill>
            <a:prstDash val="solid"/>
          </a:ln>
        </p:spPr>
      </p:sp>
      <p:sp>
        <p:nvSpPr>
          <p:cNvPr id="12" name="Text 10"/>
          <p:cNvSpPr txBox="1"/>
          <p:nvPr/>
        </p:nvSpPr>
        <p:spPr>
          <a:xfrm>
            <a:off x="457200" y="2377440"/>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Expected Cost Matrix berjalan</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(data DJSN)</a:t>
            </a:r>
            <a:endParaRPr lang="en-US" sz="1000" dirty="0"/>
          </a:p>
        </p:txBody>
      </p:sp>
      <p:sp>
        <p:nvSpPr>
          <p:cNvPr id="13" name="Shape 11"/>
          <p:cNvSpPr/>
          <p:nvPr/>
        </p:nvSpPr>
        <p:spPr>
          <a:xfrm>
            <a:off x="338328" y="3182112"/>
            <a:ext cx="54864" cy="594360"/>
          </a:xfrm>
          <a:prstGeom prst="rect">
            <a:avLst/>
          </a:prstGeom>
          <a:solidFill>
            <a:srgbClr val="00897B"/>
          </a:solidFill>
          <a:ln w="12700">
            <a:solidFill>
              <a:srgbClr val="00897B"/>
            </a:solidFill>
            <a:prstDash val="solid"/>
          </a:ln>
        </p:spPr>
      </p:sp>
      <p:sp>
        <p:nvSpPr>
          <p:cNvPr id="14" name="Text 12"/>
          <p:cNvSpPr txBox="1"/>
          <p:nvPr/>
        </p:nvSpPr>
        <p:spPr>
          <a:xfrm>
            <a:off x="457200" y="3182112"/>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1 skenario end-to-end:</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Inflated Bills</a:t>
            </a:r>
            <a:endParaRPr lang="en-US" sz="1000" dirty="0"/>
          </a:p>
        </p:txBody>
      </p:sp>
      <p:sp>
        <p:nvSpPr>
          <p:cNvPr id="15" name="Shape 13"/>
          <p:cNvSpPr/>
          <p:nvPr/>
        </p:nvSpPr>
        <p:spPr>
          <a:xfrm>
            <a:off x="338328" y="3986784"/>
            <a:ext cx="54864" cy="594360"/>
          </a:xfrm>
          <a:prstGeom prst="rect">
            <a:avLst/>
          </a:prstGeom>
          <a:solidFill>
            <a:srgbClr val="00897B"/>
          </a:solidFill>
          <a:ln w="12700">
            <a:solidFill>
              <a:srgbClr val="00897B"/>
            </a:solidFill>
            <a:prstDash val="solid"/>
          </a:ln>
        </p:spPr>
      </p:sp>
      <p:sp>
        <p:nvSpPr>
          <p:cNvPr id="16" name="Text 14"/>
          <p:cNvSpPr txBox="1"/>
          <p:nvPr/>
        </p:nvSpPr>
        <p:spPr>
          <a:xfrm>
            <a:off x="457200" y="3986784"/>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Docker demo lokal siap</a:t>
            </a:r>
            <a:endParaRPr lang="en-US" sz="1000" dirty="0"/>
          </a:p>
        </p:txBody>
      </p:sp>
      <p:sp>
        <p:nvSpPr>
          <p:cNvPr id="17" name="Text 15"/>
          <p:cNvSpPr txBox="1"/>
          <p:nvPr/>
        </p:nvSpPr>
        <p:spPr>
          <a:xfrm>
            <a:off x="2240280" y="1417320"/>
            <a:ext cx="182880" cy="384048"/>
          </a:xfrm>
          <a:prstGeom prst="rect">
            <a:avLst/>
          </a:prstGeom>
          <a:noFill/>
          <a:ln/>
        </p:spPr>
        <p:txBody>
          <a:bodyPr wrap="square" lIns="0" tIns="0" rIns="0" bIns="0" rtlCol="0" anchor="ctr"/>
          <a:lstStyle/>
          <a:p>
            <a:pPr indent="0" marL="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2423160" y="1234440"/>
            <a:ext cx="2011680" cy="685800"/>
          </a:xfrm>
          <a:prstGeom prst="rect">
            <a:avLst/>
          </a:prstGeom>
          <a:solidFill>
            <a:srgbClr val="1565C0"/>
          </a:solidFill>
          <a:ln w="12700">
            <a:solidFill>
              <a:srgbClr val="1565C0"/>
            </a:solidFill>
            <a:prstDash val="solid"/>
          </a:ln>
        </p:spPr>
      </p:sp>
      <p:sp>
        <p:nvSpPr>
          <p:cNvPr id="19" name="Text 17"/>
          <p:cNvSpPr txBox="1"/>
          <p:nvPr/>
        </p:nvSpPr>
        <p:spPr>
          <a:xfrm>
            <a:off x="2423160" y="1234440"/>
            <a:ext cx="2011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FASE 1</a:t>
            </a:r>
            <a:endParaRPr lang="en-US" sz="1200" dirty="0"/>
          </a:p>
        </p:txBody>
      </p:sp>
      <p:sp>
        <p:nvSpPr>
          <p:cNvPr id="20" name="Text 18"/>
          <p:cNvSpPr txBox="1"/>
          <p:nvPr/>
        </p:nvSpPr>
        <p:spPr>
          <a:xfrm>
            <a:off x="2423160" y="1581912"/>
            <a:ext cx="2011680" cy="33832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Bulan 1–3</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Proof of Concept</a:t>
            </a:r>
            <a:endParaRPr lang="en-US" sz="900" dirty="0"/>
          </a:p>
        </p:txBody>
      </p:sp>
      <p:sp>
        <p:nvSpPr>
          <p:cNvPr id="21" name="Shape 19"/>
          <p:cNvSpPr/>
          <p:nvPr/>
        </p:nvSpPr>
        <p:spPr>
          <a:xfrm>
            <a:off x="2743200" y="1938528"/>
            <a:ext cx="1371600" cy="256032"/>
          </a:xfrm>
          <a:prstGeom prst="roundRect">
            <a:avLst>
              <a:gd name="adj" fmla="val 14286"/>
            </a:avLst>
          </a:prstGeom>
          <a:solidFill>
            <a:srgbClr val="FFFFFF"/>
          </a:solidFill>
          <a:ln w="12700">
            <a:solidFill>
              <a:srgbClr val="1565C0"/>
            </a:solidFill>
            <a:prstDash val="solid"/>
          </a:ln>
        </p:spPr>
      </p:sp>
      <p:sp>
        <p:nvSpPr>
          <p:cNvPr id="22" name="Text 20"/>
          <p:cNvSpPr txBox="1"/>
          <p:nvPr/>
        </p:nvSpPr>
        <p:spPr>
          <a:xfrm>
            <a:off x="2743200" y="1938528"/>
            <a:ext cx="1371600" cy="256032"/>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TRL 4–5</a:t>
            </a:r>
            <a:endParaRPr lang="en-US" sz="900" dirty="0"/>
          </a:p>
        </p:txBody>
      </p:sp>
      <p:sp>
        <p:nvSpPr>
          <p:cNvPr id="23" name="Shape 21"/>
          <p:cNvSpPr/>
          <p:nvPr/>
        </p:nvSpPr>
        <p:spPr>
          <a:xfrm>
            <a:off x="2423160" y="2267712"/>
            <a:ext cx="2011680" cy="251460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24" name="Shape 22"/>
          <p:cNvSpPr/>
          <p:nvPr/>
        </p:nvSpPr>
        <p:spPr>
          <a:xfrm>
            <a:off x="2532888" y="2377440"/>
            <a:ext cx="54864" cy="594360"/>
          </a:xfrm>
          <a:prstGeom prst="rect">
            <a:avLst/>
          </a:prstGeom>
          <a:solidFill>
            <a:srgbClr val="1565C0"/>
          </a:solidFill>
          <a:ln w="12700">
            <a:solidFill>
              <a:srgbClr val="1565C0"/>
            </a:solidFill>
            <a:prstDash val="solid"/>
          </a:ln>
        </p:spPr>
      </p:sp>
      <p:sp>
        <p:nvSpPr>
          <p:cNvPr id="25" name="Text 23"/>
          <p:cNvSpPr txBox="1"/>
          <p:nvPr/>
        </p:nvSpPr>
        <p:spPr>
          <a:xfrm>
            <a:off x="2651760" y="2377440"/>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4 mode deteksi aktif</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(data sintetik)</a:t>
            </a:r>
            <a:endParaRPr lang="en-US" sz="1000" dirty="0"/>
          </a:p>
        </p:txBody>
      </p:sp>
      <p:sp>
        <p:nvSpPr>
          <p:cNvPr id="26" name="Shape 24"/>
          <p:cNvSpPr/>
          <p:nvPr/>
        </p:nvSpPr>
        <p:spPr>
          <a:xfrm>
            <a:off x="2532888" y="3182112"/>
            <a:ext cx="54864" cy="594360"/>
          </a:xfrm>
          <a:prstGeom prst="rect">
            <a:avLst/>
          </a:prstGeom>
          <a:solidFill>
            <a:srgbClr val="1565C0"/>
          </a:solidFill>
          <a:ln w="12700">
            <a:solidFill>
              <a:srgbClr val="1565C0"/>
            </a:solidFill>
            <a:prstDash val="solid"/>
          </a:ln>
        </p:spPr>
      </p:sp>
      <p:sp>
        <p:nvSpPr>
          <p:cNvPr id="27" name="Text 25"/>
          <p:cNvSpPr txBox="1"/>
          <p:nvPr/>
        </p:nvSpPr>
        <p:spPr>
          <a:xfrm>
            <a:off x="2651760" y="3182112"/>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5 wawancara casemix</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officer → validasi UX</a:t>
            </a:r>
            <a:endParaRPr lang="en-US" sz="1000" dirty="0"/>
          </a:p>
        </p:txBody>
      </p:sp>
      <p:sp>
        <p:nvSpPr>
          <p:cNvPr id="28" name="Shape 26"/>
          <p:cNvSpPr/>
          <p:nvPr/>
        </p:nvSpPr>
        <p:spPr>
          <a:xfrm>
            <a:off x="2532888" y="3986784"/>
            <a:ext cx="54864" cy="594360"/>
          </a:xfrm>
          <a:prstGeom prst="rect">
            <a:avLst/>
          </a:prstGeom>
          <a:solidFill>
            <a:srgbClr val="1565C0"/>
          </a:solidFill>
          <a:ln w="12700">
            <a:solidFill>
              <a:srgbClr val="1565C0"/>
            </a:solidFill>
            <a:prstDash val="solid"/>
          </a:ln>
        </p:spPr>
      </p:sp>
      <p:sp>
        <p:nvSpPr>
          <p:cNvPr id="29" name="Text 27"/>
          <p:cNvSpPr txBox="1"/>
          <p:nvPr/>
        </p:nvSpPr>
        <p:spPr>
          <a:xfrm>
            <a:off x="2651760" y="3986784"/>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1 faskes: Letter of Intent</a:t>
            </a:r>
            <a:endParaRPr lang="en-US" sz="1000" dirty="0"/>
          </a:p>
        </p:txBody>
      </p:sp>
      <p:sp>
        <p:nvSpPr>
          <p:cNvPr id="30" name="Text 28"/>
          <p:cNvSpPr txBox="1"/>
          <p:nvPr/>
        </p:nvSpPr>
        <p:spPr>
          <a:xfrm>
            <a:off x="4434840" y="1417320"/>
            <a:ext cx="182880" cy="384048"/>
          </a:xfrm>
          <a:prstGeom prst="rect">
            <a:avLst/>
          </a:prstGeom>
          <a:noFill/>
          <a:ln/>
        </p:spPr>
        <p:txBody>
          <a:bodyPr wrap="square" lIns="0" tIns="0" rIns="0" bIns="0" rtlCol="0" anchor="ctr"/>
          <a:lstStyle/>
          <a:p>
            <a:pPr indent="0" marL="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4617720" y="1234440"/>
            <a:ext cx="2011680" cy="685800"/>
          </a:xfrm>
          <a:prstGeom prst="rect">
            <a:avLst/>
          </a:prstGeom>
          <a:solidFill>
            <a:srgbClr val="F59E0B"/>
          </a:solidFill>
          <a:ln w="12700">
            <a:solidFill>
              <a:srgbClr val="F59E0B"/>
            </a:solidFill>
            <a:prstDash val="solid"/>
          </a:ln>
        </p:spPr>
      </p:sp>
      <p:sp>
        <p:nvSpPr>
          <p:cNvPr id="32" name="Text 30"/>
          <p:cNvSpPr txBox="1"/>
          <p:nvPr/>
        </p:nvSpPr>
        <p:spPr>
          <a:xfrm>
            <a:off x="4617720" y="1234440"/>
            <a:ext cx="2011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FASE 2</a:t>
            </a:r>
            <a:endParaRPr lang="en-US" sz="1200" dirty="0"/>
          </a:p>
        </p:txBody>
      </p:sp>
      <p:sp>
        <p:nvSpPr>
          <p:cNvPr id="33" name="Text 31"/>
          <p:cNvSpPr txBox="1"/>
          <p:nvPr/>
        </p:nvSpPr>
        <p:spPr>
          <a:xfrm>
            <a:off x="4617720" y="1581912"/>
            <a:ext cx="2011680" cy="33832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Bulan 4–9</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Pilot</a:t>
            </a:r>
            <a:endParaRPr lang="en-US" sz="900" dirty="0"/>
          </a:p>
        </p:txBody>
      </p:sp>
      <p:sp>
        <p:nvSpPr>
          <p:cNvPr id="34" name="Shape 32"/>
          <p:cNvSpPr/>
          <p:nvPr/>
        </p:nvSpPr>
        <p:spPr>
          <a:xfrm>
            <a:off x="4937760" y="1938528"/>
            <a:ext cx="1371600" cy="256032"/>
          </a:xfrm>
          <a:prstGeom prst="roundRect">
            <a:avLst>
              <a:gd name="adj" fmla="val 14286"/>
            </a:avLst>
          </a:prstGeom>
          <a:solidFill>
            <a:srgbClr val="FFFFFF"/>
          </a:solidFill>
          <a:ln w="12700">
            <a:solidFill>
              <a:srgbClr val="F59E0B"/>
            </a:solidFill>
            <a:prstDash val="solid"/>
          </a:ln>
        </p:spPr>
      </p:sp>
      <p:sp>
        <p:nvSpPr>
          <p:cNvPr id="35" name="Text 33"/>
          <p:cNvSpPr txBox="1"/>
          <p:nvPr/>
        </p:nvSpPr>
        <p:spPr>
          <a:xfrm>
            <a:off x="4937760" y="1938528"/>
            <a:ext cx="1371600" cy="256032"/>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TRL 5–6</a:t>
            </a:r>
            <a:endParaRPr lang="en-US" sz="900" dirty="0"/>
          </a:p>
        </p:txBody>
      </p:sp>
      <p:sp>
        <p:nvSpPr>
          <p:cNvPr id="36" name="Shape 34"/>
          <p:cNvSpPr/>
          <p:nvPr/>
        </p:nvSpPr>
        <p:spPr>
          <a:xfrm>
            <a:off x="4617720" y="2267712"/>
            <a:ext cx="2011680" cy="2514600"/>
          </a:xfrm>
          <a:prstGeom prst="rect">
            <a:avLst/>
          </a:prstGeom>
          <a:solidFill>
            <a:srgbClr val="FFFFFF"/>
          </a:solidFill>
          <a:ln w="12700">
            <a:solidFill>
              <a:srgbClr val="F59E0B"/>
            </a:solidFill>
            <a:prstDash val="solid"/>
          </a:ln>
          <a:effectLst>
            <a:outerShdw sx="100000" sy="100000" kx="0" ky="0" algn="bl" rotWithShape="0" blurRad="50800" dist="25400" dir="2700000">
              <a:srgbClr val="94A3B8">
                <a:alpha val="15000"/>
              </a:srgbClr>
            </a:outerShdw>
          </a:effectLst>
        </p:spPr>
      </p:sp>
      <p:sp>
        <p:nvSpPr>
          <p:cNvPr id="37" name="Shape 35"/>
          <p:cNvSpPr/>
          <p:nvPr/>
        </p:nvSpPr>
        <p:spPr>
          <a:xfrm>
            <a:off x="4727448" y="2377440"/>
            <a:ext cx="54864" cy="594360"/>
          </a:xfrm>
          <a:prstGeom prst="rect">
            <a:avLst/>
          </a:prstGeom>
          <a:solidFill>
            <a:srgbClr val="F59E0B"/>
          </a:solidFill>
          <a:ln w="12700">
            <a:solidFill>
              <a:srgbClr val="F59E0B"/>
            </a:solidFill>
            <a:prstDash val="solid"/>
          </a:ln>
        </p:spPr>
      </p:sp>
      <p:sp>
        <p:nvSpPr>
          <p:cNvPr id="38" name="Text 36"/>
          <p:cNvSpPr txBox="1"/>
          <p:nvPr/>
        </p:nvSpPr>
        <p:spPr>
          <a:xfrm>
            <a:off x="4846320" y="2377440"/>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Deploy 1 RS pilot</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(data klaim riil)</a:t>
            </a:r>
            <a:endParaRPr lang="en-US" sz="1000" dirty="0"/>
          </a:p>
        </p:txBody>
      </p:sp>
      <p:sp>
        <p:nvSpPr>
          <p:cNvPr id="39" name="Shape 37"/>
          <p:cNvSpPr/>
          <p:nvPr/>
        </p:nvSpPr>
        <p:spPr>
          <a:xfrm>
            <a:off x="4727448" y="3182112"/>
            <a:ext cx="54864" cy="594360"/>
          </a:xfrm>
          <a:prstGeom prst="rect">
            <a:avLst/>
          </a:prstGeom>
          <a:solidFill>
            <a:srgbClr val="F59E0B"/>
          </a:solidFill>
          <a:ln w="12700">
            <a:solidFill>
              <a:srgbClr val="F59E0B"/>
            </a:solidFill>
            <a:prstDash val="solid"/>
          </a:ln>
        </p:spPr>
      </p:sp>
      <p:sp>
        <p:nvSpPr>
          <p:cNvPr id="40" name="Text 38"/>
          <p:cNvSpPr txBox="1"/>
          <p:nvPr/>
        </p:nvSpPr>
        <p:spPr>
          <a:xfrm>
            <a:off x="4846320" y="3182112"/>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Upload CSV dari SIM RS</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 Risk Signal Card</a:t>
            </a:r>
            <a:endParaRPr lang="en-US" sz="1000" dirty="0"/>
          </a:p>
        </p:txBody>
      </p:sp>
      <p:sp>
        <p:nvSpPr>
          <p:cNvPr id="41" name="Shape 39"/>
          <p:cNvSpPr/>
          <p:nvPr/>
        </p:nvSpPr>
        <p:spPr>
          <a:xfrm>
            <a:off x="4727448" y="3986784"/>
            <a:ext cx="54864" cy="594360"/>
          </a:xfrm>
          <a:prstGeom prst="rect">
            <a:avLst/>
          </a:prstGeom>
          <a:solidFill>
            <a:srgbClr val="F59E0B"/>
          </a:solidFill>
          <a:ln w="12700">
            <a:solidFill>
              <a:srgbClr val="F59E0B"/>
            </a:solidFill>
            <a:prstDash val="solid"/>
          </a:ln>
        </p:spPr>
      </p:sp>
      <p:sp>
        <p:nvSpPr>
          <p:cNvPr id="42" name="Text 40"/>
          <p:cNvSpPr txBox="1"/>
          <p:nvPr/>
        </p:nvSpPr>
        <p:spPr>
          <a:xfrm>
            <a:off x="4846320" y="3986784"/>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Ukur precision rate</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&amp; rejection before/after</a:t>
            </a:r>
            <a:endParaRPr lang="en-US" sz="1000" dirty="0"/>
          </a:p>
        </p:txBody>
      </p:sp>
      <p:sp>
        <p:nvSpPr>
          <p:cNvPr id="43" name="Text 41"/>
          <p:cNvSpPr txBox="1"/>
          <p:nvPr/>
        </p:nvSpPr>
        <p:spPr>
          <a:xfrm>
            <a:off x="6629400" y="1417320"/>
            <a:ext cx="182880" cy="384048"/>
          </a:xfrm>
          <a:prstGeom prst="rect">
            <a:avLst/>
          </a:prstGeom>
          <a:noFill/>
          <a:ln/>
        </p:spPr>
        <p:txBody>
          <a:bodyPr wrap="square" lIns="0" tIns="0" rIns="0" bIns="0" rtlCol="0" anchor="ctr"/>
          <a:lstStyle/>
          <a:p>
            <a:pPr indent="0" marL="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44" name="Shape 42"/>
          <p:cNvSpPr/>
          <p:nvPr/>
        </p:nvSpPr>
        <p:spPr>
          <a:xfrm>
            <a:off x="6812280" y="1234440"/>
            <a:ext cx="2011680" cy="685800"/>
          </a:xfrm>
          <a:prstGeom prst="rect">
            <a:avLst/>
          </a:prstGeom>
          <a:solidFill>
            <a:srgbClr val="00A878"/>
          </a:solidFill>
          <a:ln w="12700">
            <a:solidFill>
              <a:srgbClr val="00A878"/>
            </a:solidFill>
            <a:prstDash val="solid"/>
          </a:ln>
        </p:spPr>
      </p:sp>
      <p:sp>
        <p:nvSpPr>
          <p:cNvPr id="45" name="Text 43"/>
          <p:cNvSpPr txBox="1"/>
          <p:nvPr/>
        </p:nvSpPr>
        <p:spPr>
          <a:xfrm>
            <a:off x="6812280" y="1234440"/>
            <a:ext cx="20116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FASE 3</a:t>
            </a:r>
            <a:endParaRPr lang="en-US" sz="1200" dirty="0"/>
          </a:p>
        </p:txBody>
      </p:sp>
      <p:sp>
        <p:nvSpPr>
          <p:cNvPr id="46" name="Text 44"/>
          <p:cNvSpPr txBox="1"/>
          <p:nvPr/>
        </p:nvSpPr>
        <p:spPr>
          <a:xfrm>
            <a:off x="6812280" y="1581912"/>
            <a:ext cx="2011680" cy="33832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Bulan 10–18</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MVP to Market</a:t>
            </a:r>
            <a:endParaRPr lang="en-US" sz="900" dirty="0"/>
          </a:p>
        </p:txBody>
      </p:sp>
      <p:sp>
        <p:nvSpPr>
          <p:cNvPr id="47" name="Shape 45"/>
          <p:cNvSpPr/>
          <p:nvPr/>
        </p:nvSpPr>
        <p:spPr>
          <a:xfrm>
            <a:off x="7132320" y="1938528"/>
            <a:ext cx="1371600" cy="256032"/>
          </a:xfrm>
          <a:prstGeom prst="roundRect">
            <a:avLst>
              <a:gd name="adj" fmla="val 14286"/>
            </a:avLst>
          </a:prstGeom>
          <a:solidFill>
            <a:srgbClr val="FFFFFF"/>
          </a:solidFill>
          <a:ln w="12700">
            <a:solidFill>
              <a:srgbClr val="00A878"/>
            </a:solidFill>
            <a:prstDash val="solid"/>
          </a:ln>
        </p:spPr>
      </p:sp>
      <p:sp>
        <p:nvSpPr>
          <p:cNvPr id="48" name="Text 46"/>
          <p:cNvSpPr txBox="1"/>
          <p:nvPr/>
        </p:nvSpPr>
        <p:spPr>
          <a:xfrm>
            <a:off x="7132320" y="1938528"/>
            <a:ext cx="1371600" cy="256032"/>
          </a:xfrm>
          <a:prstGeom prst="rect">
            <a:avLst/>
          </a:prstGeom>
          <a:noFill/>
          <a:ln/>
        </p:spPr>
        <p:txBody>
          <a:bodyPr wrap="square" lIns="0" tIns="0" rIns="0" bIns="0" rtlCol="0" anchor="ctr"/>
          <a:lstStyle/>
          <a:p>
            <a:pPr algn="ctr" indent="0" marL="0">
              <a:buNone/>
            </a:pPr>
            <a:r>
              <a:rPr lang="en-US" sz="900" b="1" dirty="0">
                <a:solidFill>
                  <a:srgbClr val="00A878"/>
                </a:solidFill>
                <a:latin typeface="Calibri" pitchFamily="34" charset="0"/>
                <a:ea typeface="Calibri" pitchFamily="34" charset="-122"/>
                <a:cs typeface="Calibri" pitchFamily="34" charset="-120"/>
              </a:rPr>
              <a:t>TRL 7</a:t>
            </a:r>
            <a:endParaRPr lang="en-US" sz="900" dirty="0"/>
          </a:p>
        </p:txBody>
      </p:sp>
      <p:sp>
        <p:nvSpPr>
          <p:cNvPr id="49" name="Shape 47"/>
          <p:cNvSpPr/>
          <p:nvPr/>
        </p:nvSpPr>
        <p:spPr>
          <a:xfrm>
            <a:off x="6812280" y="2267712"/>
            <a:ext cx="2011680" cy="2514600"/>
          </a:xfrm>
          <a:prstGeom prst="rect">
            <a:avLst/>
          </a:prstGeom>
          <a:solidFill>
            <a:srgbClr val="FFFFFF"/>
          </a:solidFill>
          <a:ln w="12700">
            <a:solidFill>
              <a:srgbClr val="00A878"/>
            </a:solidFill>
            <a:prstDash val="solid"/>
          </a:ln>
          <a:effectLst>
            <a:outerShdw sx="100000" sy="100000" kx="0" ky="0" algn="bl" rotWithShape="0" blurRad="50800" dist="25400" dir="2700000">
              <a:srgbClr val="94A3B8">
                <a:alpha val="15000"/>
              </a:srgbClr>
            </a:outerShdw>
          </a:effectLst>
        </p:spPr>
      </p:sp>
      <p:sp>
        <p:nvSpPr>
          <p:cNvPr id="50" name="Shape 48"/>
          <p:cNvSpPr/>
          <p:nvPr/>
        </p:nvSpPr>
        <p:spPr>
          <a:xfrm>
            <a:off x="6922008" y="2377440"/>
            <a:ext cx="54864" cy="594360"/>
          </a:xfrm>
          <a:prstGeom prst="rect">
            <a:avLst/>
          </a:prstGeom>
          <a:solidFill>
            <a:srgbClr val="00A878"/>
          </a:solidFill>
          <a:ln w="12700">
            <a:solidFill>
              <a:srgbClr val="00A878"/>
            </a:solidFill>
            <a:prstDash val="solid"/>
          </a:ln>
        </p:spPr>
      </p:sp>
      <p:sp>
        <p:nvSpPr>
          <p:cNvPr id="51" name="Text 49"/>
          <p:cNvSpPr txBox="1"/>
          <p:nvPr/>
        </p:nvSpPr>
        <p:spPr>
          <a:xfrm>
            <a:off x="7040880" y="2377440"/>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20 faskes pembayar</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(SaaS subscription)</a:t>
            </a:r>
            <a:endParaRPr lang="en-US" sz="1000" dirty="0"/>
          </a:p>
        </p:txBody>
      </p:sp>
      <p:sp>
        <p:nvSpPr>
          <p:cNvPr id="52" name="Shape 50"/>
          <p:cNvSpPr/>
          <p:nvPr/>
        </p:nvSpPr>
        <p:spPr>
          <a:xfrm>
            <a:off x="6922008" y="3182112"/>
            <a:ext cx="54864" cy="594360"/>
          </a:xfrm>
          <a:prstGeom prst="rect">
            <a:avLst/>
          </a:prstGeom>
          <a:solidFill>
            <a:srgbClr val="00A878"/>
          </a:solidFill>
          <a:ln w="12700">
            <a:solidFill>
              <a:srgbClr val="00A878"/>
            </a:solidFill>
            <a:prstDash val="solid"/>
          </a:ln>
        </p:spPr>
      </p:sp>
      <p:sp>
        <p:nvSpPr>
          <p:cNvPr id="53" name="Text 51"/>
          <p:cNvSpPr txBox="1"/>
          <p:nvPr/>
        </p:nvSpPr>
        <p:spPr>
          <a:xfrm>
            <a:off x="7040880" y="3182112"/>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Integrasi SATUSEHAT &amp;</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HL7/FHIR R4</a:t>
            </a:r>
            <a:endParaRPr lang="en-US" sz="1000" dirty="0"/>
          </a:p>
        </p:txBody>
      </p:sp>
      <p:sp>
        <p:nvSpPr>
          <p:cNvPr id="54" name="Shape 52"/>
          <p:cNvSpPr/>
          <p:nvPr/>
        </p:nvSpPr>
        <p:spPr>
          <a:xfrm>
            <a:off x="6922008" y="3986784"/>
            <a:ext cx="54864" cy="594360"/>
          </a:xfrm>
          <a:prstGeom prst="rect">
            <a:avLst/>
          </a:prstGeom>
          <a:solidFill>
            <a:srgbClr val="00A878"/>
          </a:solidFill>
          <a:ln w="12700">
            <a:solidFill>
              <a:srgbClr val="00A878"/>
            </a:solidFill>
            <a:prstDash val="solid"/>
          </a:ln>
        </p:spPr>
      </p:sp>
      <p:sp>
        <p:nvSpPr>
          <p:cNvPr id="55" name="Text 53"/>
          <p:cNvSpPr txBox="1"/>
          <p:nvPr/>
        </p:nvSpPr>
        <p:spPr>
          <a:xfrm>
            <a:off x="7040880" y="3986784"/>
            <a:ext cx="1691640" cy="71323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Seed funding:</a:t>
            </a:r>
            <a:endParaRPr lang="en-US" sz="1000" dirty="0"/>
          </a:p>
          <a:p>
            <a:pPr indent="0" marL="0">
              <a:buNone/>
            </a:pPr>
            <a:r>
              <a:rPr lang="en-US" sz="1000" dirty="0">
                <a:solidFill>
                  <a:srgbClr val="334155"/>
                </a:solidFill>
                <a:latin typeface="Calibri" pitchFamily="34" charset="0"/>
                <a:ea typeface="Calibri" pitchFamily="34" charset="-122"/>
                <a:cs typeface="Calibri" pitchFamily="34" charset="-120"/>
              </a:rPr>
              <a:t>Rp 1–3 miliar</a:t>
            </a:r>
            <a:endParaRPr lang="en-US" sz="1000" dirty="0"/>
          </a:p>
        </p:txBody>
      </p:sp>
      <p:sp>
        <p:nvSpPr>
          <p:cNvPr id="56" name="Text 54"/>
          <p:cNvSpPr txBox="1"/>
          <p:nvPr/>
        </p:nvSpPr>
        <p:spPr>
          <a:xfrm>
            <a:off x="7955280" y="4892040"/>
            <a:ext cx="10972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B6  ·  RENCANA &amp; KELAYAKAN</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800" b="1" dirty="0">
                <a:solidFill>
                  <a:srgbClr val="0C2461"/>
                </a:solidFill>
                <a:latin typeface="Cambria" pitchFamily="34" charset="0"/>
                <a:ea typeface="Cambria" pitchFamily="34" charset="-122"/>
                <a:cs typeface="Cambria" pitchFamily="34" charset="-120"/>
              </a:rPr>
              <a:t>Mengapa TilikKlaim dapat dieksekusi?</a:t>
            </a:r>
            <a:endParaRPr lang="en-US" sz="2800" dirty="0"/>
          </a:p>
        </p:txBody>
      </p:sp>
      <p:sp>
        <p:nvSpPr>
          <p:cNvPr id="5" name="Shape 3"/>
          <p:cNvSpPr/>
          <p:nvPr/>
        </p:nvSpPr>
        <p:spPr>
          <a:xfrm>
            <a:off x="274320" y="1234440"/>
            <a:ext cx="4023360" cy="237744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6" name="Shape 4"/>
          <p:cNvSpPr/>
          <p:nvPr/>
        </p:nvSpPr>
        <p:spPr>
          <a:xfrm>
            <a:off x="274320" y="1234440"/>
            <a:ext cx="4023360" cy="384048"/>
          </a:xfrm>
          <a:prstGeom prst="rect">
            <a:avLst/>
          </a:prstGeom>
          <a:solidFill>
            <a:srgbClr val="1565C0"/>
          </a:solidFill>
          <a:ln w="12700">
            <a:solidFill>
              <a:srgbClr val="1565C0"/>
            </a:solidFill>
            <a:prstDash val="solid"/>
          </a:ln>
        </p:spPr>
      </p:sp>
      <p:sp>
        <p:nvSpPr>
          <p:cNvPr id="7" name="Text 5"/>
          <p:cNvSpPr txBox="1"/>
          <p:nvPr/>
        </p:nvSpPr>
        <p:spPr>
          <a:xfrm>
            <a:off x="457200" y="1234440"/>
            <a:ext cx="365760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TIM MINIMAL (Fase 1)</a:t>
            </a:r>
            <a:endParaRPr lang="en-US" sz="1100" dirty="0"/>
          </a:p>
        </p:txBody>
      </p:sp>
      <p:sp>
        <p:nvSpPr>
          <p:cNvPr id="8" name="Text 6"/>
          <p:cNvSpPr txBox="1"/>
          <p:nvPr/>
        </p:nvSpPr>
        <p:spPr>
          <a:xfrm>
            <a:off x="457200" y="1719072"/>
            <a:ext cx="3657600" cy="22860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Backend Engineer</a:t>
            </a:r>
            <a:endParaRPr lang="en-US" sz="1100" dirty="0"/>
          </a:p>
        </p:txBody>
      </p:sp>
      <p:sp>
        <p:nvSpPr>
          <p:cNvPr id="9" name="Text 7"/>
          <p:cNvSpPr txBox="1"/>
          <p:nvPr/>
        </p:nvSpPr>
        <p:spPr>
          <a:xfrm>
            <a:off x="457200" y="1938528"/>
            <a:ext cx="36576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FastAPI, PostgreSQL, rules engine — Full-time 3 bln</a:t>
            </a:r>
            <a:endParaRPr lang="en-US" sz="1000" dirty="0"/>
          </a:p>
        </p:txBody>
      </p:sp>
      <p:sp>
        <p:nvSpPr>
          <p:cNvPr id="10" name="Text 8"/>
          <p:cNvSpPr txBox="1"/>
          <p:nvPr/>
        </p:nvSpPr>
        <p:spPr>
          <a:xfrm>
            <a:off x="457200" y="2313432"/>
            <a:ext cx="3657600" cy="22860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Frontend / UX</a:t>
            </a:r>
            <a:endParaRPr lang="en-US" sz="1100" dirty="0"/>
          </a:p>
        </p:txBody>
      </p:sp>
      <p:sp>
        <p:nvSpPr>
          <p:cNvPr id="11" name="Text 9"/>
          <p:cNvSpPr txBox="1"/>
          <p:nvPr/>
        </p:nvSpPr>
        <p:spPr>
          <a:xfrm>
            <a:off x="457200" y="2532888"/>
            <a:ext cx="36576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React, user testing casemix officer — Part-time</a:t>
            </a:r>
            <a:endParaRPr lang="en-US" sz="1000" dirty="0"/>
          </a:p>
        </p:txBody>
      </p:sp>
      <p:sp>
        <p:nvSpPr>
          <p:cNvPr id="12" name="Text 10"/>
          <p:cNvSpPr txBox="1"/>
          <p:nvPr/>
        </p:nvSpPr>
        <p:spPr>
          <a:xfrm>
            <a:off x="457200" y="2907792"/>
            <a:ext cx="3657600" cy="22860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Domain Expert</a:t>
            </a:r>
            <a:endParaRPr lang="en-US" sz="1100" dirty="0"/>
          </a:p>
        </p:txBody>
      </p:sp>
      <p:sp>
        <p:nvSpPr>
          <p:cNvPr id="13" name="Text 11"/>
          <p:cNvSpPr txBox="1"/>
          <p:nvPr/>
        </p:nvSpPr>
        <p:spPr>
          <a:xfrm>
            <a:off x="457200" y="3127248"/>
            <a:ext cx="36576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Casemix / rekam medis — Advisory</a:t>
            </a:r>
            <a:endParaRPr lang="en-US" sz="1000" dirty="0"/>
          </a:p>
        </p:txBody>
      </p:sp>
      <p:sp>
        <p:nvSpPr>
          <p:cNvPr id="14" name="Shape 12"/>
          <p:cNvSpPr/>
          <p:nvPr/>
        </p:nvSpPr>
        <p:spPr>
          <a:xfrm>
            <a:off x="4480560" y="1234440"/>
            <a:ext cx="4389120" cy="2377440"/>
          </a:xfrm>
          <a:prstGeom prst="rect">
            <a:avLst/>
          </a:prstGeom>
          <a:solidFill>
            <a:srgbClr val="FFFFFF"/>
          </a:solidFill>
          <a:ln w="12700">
            <a:solidFill>
              <a:srgbClr val="00897B"/>
            </a:solidFill>
            <a:prstDash val="solid"/>
          </a:ln>
          <a:effectLst>
            <a:outerShdw sx="100000" sy="100000" kx="0" ky="0" algn="bl" rotWithShape="0" blurRad="50800" dist="25400" dir="2700000">
              <a:srgbClr val="94A3B8">
                <a:alpha val="15000"/>
              </a:srgbClr>
            </a:outerShdw>
          </a:effectLst>
        </p:spPr>
      </p:sp>
      <p:sp>
        <p:nvSpPr>
          <p:cNvPr id="15" name="Shape 13"/>
          <p:cNvSpPr/>
          <p:nvPr/>
        </p:nvSpPr>
        <p:spPr>
          <a:xfrm>
            <a:off x="4480560" y="1234440"/>
            <a:ext cx="4389120" cy="384048"/>
          </a:xfrm>
          <a:prstGeom prst="rect">
            <a:avLst/>
          </a:prstGeom>
          <a:solidFill>
            <a:srgbClr val="00897B"/>
          </a:solidFill>
          <a:ln w="12700">
            <a:solidFill>
              <a:srgbClr val="00897B"/>
            </a:solidFill>
            <a:prstDash val="solid"/>
          </a:ln>
        </p:spPr>
      </p:sp>
      <p:sp>
        <p:nvSpPr>
          <p:cNvPr id="16" name="Text 14"/>
          <p:cNvSpPr txBox="1"/>
          <p:nvPr/>
        </p:nvSpPr>
        <p:spPr>
          <a:xfrm>
            <a:off x="4663440" y="1234440"/>
            <a:ext cx="402336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INFRASTRUKTUR &amp; BIAYA (Fase 1)</a:t>
            </a:r>
            <a:endParaRPr lang="en-US" sz="1100" dirty="0"/>
          </a:p>
        </p:txBody>
      </p:sp>
      <p:sp>
        <p:nvSpPr>
          <p:cNvPr id="17" name="Text 15"/>
          <p:cNvSpPr txBox="1"/>
          <p:nvPr/>
        </p:nvSpPr>
        <p:spPr>
          <a:xfrm>
            <a:off x="4663440" y="1719072"/>
            <a:ext cx="4023360" cy="22860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Cloud VPS</a:t>
            </a:r>
            <a:endParaRPr lang="en-US" sz="1100" dirty="0"/>
          </a:p>
        </p:txBody>
      </p:sp>
      <p:sp>
        <p:nvSpPr>
          <p:cNvPr id="18" name="Text 16"/>
          <p:cNvSpPr txBox="1"/>
          <p:nvPr/>
        </p:nvSpPr>
        <p:spPr>
          <a:xfrm>
            <a:off x="4663440" y="1938528"/>
            <a:ext cx="40233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Rp 500 rb–1 juta/bulan (Docker, bukan enterprise)</a:t>
            </a:r>
            <a:endParaRPr lang="en-US" sz="1000" dirty="0"/>
          </a:p>
        </p:txBody>
      </p:sp>
      <p:sp>
        <p:nvSpPr>
          <p:cNvPr id="19" name="Text 17"/>
          <p:cNvSpPr txBox="1"/>
          <p:nvPr/>
        </p:nvSpPr>
        <p:spPr>
          <a:xfrm>
            <a:off x="4663440" y="2313432"/>
            <a:ext cx="4023360" cy="22860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Database</a:t>
            </a:r>
            <a:endParaRPr lang="en-US" sz="1100" dirty="0"/>
          </a:p>
        </p:txBody>
      </p:sp>
      <p:sp>
        <p:nvSpPr>
          <p:cNvPr id="20" name="Text 18"/>
          <p:cNvSpPr txBox="1"/>
          <p:nvPr/>
        </p:nvSpPr>
        <p:spPr>
          <a:xfrm>
            <a:off x="4663440" y="2532888"/>
            <a:ext cx="40233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PostgreSQL self-hosted — data tidak ke third-party</a:t>
            </a:r>
            <a:endParaRPr lang="en-US" sz="1000" dirty="0"/>
          </a:p>
        </p:txBody>
      </p:sp>
      <p:sp>
        <p:nvSpPr>
          <p:cNvPr id="21" name="Text 19"/>
          <p:cNvSpPr txBox="1"/>
          <p:nvPr/>
        </p:nvSpPr>
        <p:spPr>
          <a:xfrm>
            <a:off x="4663440" y="2907792"/>
            <a:ext cx="4023360" cy="22860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 Total burn rate 3 bln</a:t>
            </a:r>
            <a:endParaRPr lang="en-US" sz="1100" dirty="0"/>
          </a:p>
        </p:txBody>
      </p:sp>
      <p:sp>
        <p:nvSpPr>
          <p:cNvPr id="22" name="Text 20"/>
          <p:cNvSpPr txBox="1"/>
          <p:nvPr/>
        </p:nvSpPr>
        <p:spPr>
          <a:xfrm>
            <a:off x="4663440" y="3127248"/>
            <a:ext cx="40233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Rp 150–300 juta (termasuk tim)</a:t>
            </a:r>
            <a:endParaRPr lang="en-US" sz="1000" dirty="0"/>
          </a:p>
        </p:txBody>
      </p:sp>
      <p:sp>
        <p:nvSpPr>
          <p:cNvPr id="23" name="Shape 21"/>
          <p:cNvSpPr/>
          <p:nvPr/>
        </p:nvSpPr>
        <p:spPr>
          <a:xfrm>
            <a:off x="274320" y="3703320"/>
            <a:ext cx="8549640" cy="1078992"/>
          </a:xfrm>
          <a:prstGeom prst="rect">
            <a:avLst/>
          </a:prstGeom>
          <a:solidFill>
            <a:srgbClr val="FFFF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24" name="Text 22"/>
          <p:cNvSpPr txBox="1"/>
          <p:nvPr/>
        </p:nvSpPr>
        <p:spPr>
          <a:xfrm>
            <a:off x="457200" y="3749040"/>
            <a:ext cx="2743200" cy="27432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Mengapa layak dieksekusi:</a:t>
            </a:r>
            <a:endParaRPr lang="en-US" sz="1100" dirty="0"/>
          </a:p>
        </p:txBody>
      </p:sp>
      <p:sp>
        <p:nvSpPr>
          <p:cNvPr id="25" name="Text 23"/>
          <p:cNvSpPr txBox="1"/>
          <p:nvPr/>
        </p:nvSpPr>
        <p:spPr>
          <a:xfrm>
            <a:off x="457200" y="4069080"/>
            <a:ext cx="4114800" cy="3474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Tidak butuh data BPJS untuk mulai — DJSN + sintetik cukup</a:t>
            </a:r>
            <a:endParaRPr lang="en-US" sz="1000" dirty="0"/>
          </a:p>
        </p:txBody>
      </p:sp>
      <p:sp>
        <p:nvSpPr>
          <p:cNvPr id="26" name="Text 24"/>
          <p:cNvSpPr txBox="1"/>
          <p:nvPr/>
        </p:nvSpPr>
        <p:spPr>
          <a:xfrm>
            <a:off x="4754880" y="4069080"/>
            <a:ext cx="4114800" cy="3474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Tidak butuh integrasi SIM RS untuk pilot — upload CSV sudah cukup</a:t>
            </a:r>
            <a:endParaRPr lang="en-US" sz="1000" dirty="0"/>
          </a:p>
        </p:txBody>
      </p:sp>
      <p:sp>
        <p:nvSpPr>
          <p:cNvPr id="27" name="Text 25"/>
          <p:cNvSpPr txBox="1"/>
          <p:nvPr/>
        </p:nvSpPr>
        <p:spPr>
          <a:xfrm>
            <a:off x="457200" y="4434840"/>
            <a:ext cx="4114800" cy="3474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Stack 100% open-source — zero licensing cost</a:t>
            </a:r>
            <a:endParaRPr lang="en-US" sz="1000" dirty="0"/>
          </a:p>
        </p:txBody>
      </p:sp>
      <p:sp>
        <p:nvSpPr>
          <p:cNvPr id="28" name="Text 26"/>
          <p:cNvSpPr txBox="1"/>
          <p:nvPr/>
        </p:nvSpPr>
        <p:spPr>
          <a:xfrm>
            <a:off x="4754880" y="4434840"/>
            <a:ext cx="4114800" cy="347472"/>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Tidak perlu izin Kemenkes untuk prototype — analitik statistik, bukan alat klinis</a:t>
            </a:r>
            <a:endParaRPr lang="en-US" sz="1000" dirty="0"/>
          </a:p>
        </p:txBody>
      </p:sp>
      <p:sp>
        <p:nvSpPr>
          <p:cNvPr id="29" name="Text 27"/>
          <p:cNvSpPr txBox="1"/>
          <p:nvPr/>
        </p:nvSpPr>
        <p:spPr>
          <a:xfrm>
            <a:off x="7955280" y="4892040"/>
            <a:ext cx="10972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A878"/>
          </a:solidFill>
          <a:ln w="12700">
            <a:solidFill>
              <a:srgbClr val="00A878"/>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B7  ·  DAMPAK &amp; NILAI</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400" b="1" dirty="0">
                <a:solidFill>
                  <a:srgbClr val="0C2461"/>
                </a:solidFill>
                <a:latin typeface="Cambria" pitchFamily="34" charset="0"/>
                <a:ea typeface="Cambria" pitchFamily="34" charset="-122"/>
                <a:cs typeface="Cambria" pitchFamily="34" charset="-120"/>
              </a:rPr>
              <a:t>Nilai TilikKlaim untuk Satu Rumah Sakit</a:t>
            </a:r>
            <a:endParaRPr lang="en-US" sz="2400" dirty="0"/>
          </a:p>
        </p:txBody>
      </p:sp>
      <p:sp>
        <p:nvSpPr>
          <p:cNvPr id="5" name="Shape 3"/>
          <p:cNvSpPr/>
          <p:nvPr/>
        </p:nvSpPr>
        <p:spPr>
          <a:xfrm>
            <a:off x="274320" y="1234440"/>
            <a:ext cx="8549640" cy="502920"/>
          </a:xfrm>
          <a:prstGeom prst="rect">
            <a:avLst/>
          </a:prstGeom>
          <a:solidFill>
            <a:srgbClr val="FFF9E6"/>
          </a:solidFill>
          <a:ln w="12700">
            <a:solidFill>
              <a:srgbClr val="F59E0B"/>
            </a:solidFill>
            <a:prstDash val="solid"/>
          </a:ln>
          <a:effectLst>
            <a:outerShdw sx="100000" sy="100000" kx="0" ky="0" algn="bl" rotWithShape="0" blurRad="50800" dist="25400" dir="2700000">
              <a:srgbClr val="94A3B8">
                <a:alpha val="15000"/>
              </a:srgbClr>
            </a:outerShdw>
          </a:effectLst>
        </p:spPr>
      </p:sp>
      <p:sp>
        <p:nvSpPr>
          <p:cNvPr id="6" name="Text 4"/>
          <p:cNvSpPr txBox="1"/>
          <p:nvPr/>
        </p:nvSpPr>
        <p:spPr>
          <a:xfrm>
            <a:off x="457200" y="1234440"/>
            <a:ext cx="8321040" cy="502920"/>
          </a:xfrm>
          <a:prstGeom prst="rect">
            <a:avLst/>
          </a:prstGeom>
          <a:noFill/>
          <a:ln/>
        </p:spPr>
        <p:txBody>
          <a:bodyPr wrap="square" lIns="0" tIns="0" rIns="0" bIns="0" rtlCol="0" anchor="ctr"/>
          <a:lstStyle/>
          <a:p>
            <a:pPr indent="0" marL="0">
              <a:buNone/>
            </a:pPr>
            <a:r>
              <a:rPr lang="en-US" sz="900" dirty="0">
                <a:solidFill>
                  <a:srgbClr val="B45309"/>
                </a:solidFill>
                <a:latin typeface="Calibri" pitchFamily="34" charset="0"/>
                <a:ea typeface="Calibri" pitchFamily="34" charset="-122"/>
                <a:cs typeface="Calibri" pitchFamily="34" charset="-120"/>
              </a:rPr>
              <a:t>■ Asumsi simulasi (perlu divalidasi di pilot): RS tipe C · 500 klaim RITL/bulan · Rejection rate saat ini 6% · Nilai rata-rata klaim RITL Rp 4.747.547 (DJSN 2018) · Penurunan rejection: 40% (konservatif)</a:t>
            </a:r>
            <a:endParaRPr lang="en-US" sz="900" dirty="0"/>
          </a:p>
        </p:txBody>
      </p:sp>
      <p:sp>
        <p:nvSpPr>
          <p:cNvPr id="7" name="Shape 5"/>
          <p:cNvSpPr/>
          <p:nvPr/>
        </p:nvSpPr>
        <p:spPr>
          <a:xfrm>
            <a:off x="274320" y="1874520"/>
            <a:ext cx="4114800" cy="2423160"/>
          </a:xfrm>
          <a:prstGeom prst="rect">
            <a:avLst/>
          </a:prstGeom>
          <a:solidFill>
            <a:srgbClr val="FFFFFF"/>
          </a:solidFill>
          <a:ln w="12700">
            <a:solidFill>
              <a:srgbClr val="D32F2F"/>
            </a:solidFill>
            <a:prstDash val="solid"/>
          </a:ln>
          <a:effectLst>
            <a:outerShdw sx="100000" sy="100000" kx="0" ky="0" algn="bl" rotWithShape="0" blurRad="50800" dist="25400" dir="2700000">
              <a:srgbClr val="94A3B8">
                <a:alpha val="15000"/>
              </a:srgbClr>
            </a:outerShdw>
          </a:effectLst>
        </p:spPr>
      </p:sp>
      <p:sp>
        <p:nvSpPr>
          <p:cNvPr id="8" name="Shape 6"/>
          <p:cNvSpPr/>
          <p:nvPr/>
        </p:nvSpPr>
        <p:spPr>
          <a:xfrm>
            <a:off x="274320" y="1874520"/>
            <a:ext cx="4114800" cy="384048"/>
          </a:xfrm>
          <a:prstGeom prst="rect">
            <a:avLst/>
          </a:prstGeom>
          <a:solidFill>
            <a:srgbClr val="D32F2F"/>
          </a:solidFill>
          <a:ln w="12700">
            <a:solidFill>
              <a:srgbClr val="D32F2F"/>
            </a:solidFill>
            <a:prstDash val="solid"/>
          </a:ln>
        </p:spPr>
      </p:sp>
      <p:sp>
        <p:nvSpPr>
          <p:cNvPr id="9" name="Text 7"/>
          <p:cNvSpPr txBox="1"/>
          <p:nvPr/>
        </p:nvSpPr>
        <p:spPr>
          <a:xfrm>
            <a:off x="457200" y="1874520"/>
            <a:ext cx="37490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TANPA TilikKlaim</a:t>
            </a:r>
            <a:endParaRPr lang="en-US" sz="1200" dirty="0"/>
          </a:p>
        </p:txBody>
      </p:sp>
      <p:sp>
        <p:nvSpPr>
          <p:cNvPr id="10" name="Text 8"/>
          <p:cNvSpPr txBox="1"/>
          <p:nvPr/>
        </p:nvSpPr>
        <p:spPr>
          <a:xfrm>
            <a:off x="457200" y="2359152"/>
            <a:ext cx="228600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Klaim ditolak/bulan:</a:t>
            </a:r>
            <a:endParaRPr lang="en-US" sz="1100" dirty="0"/>
          </a:p>
        </p:txBody>
      </p:sp>
      <p:sp>
        <p:nvSpPr>
          <p:cNvPr id="11" name="Text 9"/>
          <p:cNvSpPr txBox="1"/>
          <p:nvPr/>
        </p:nvSpPr>
        <p:spPr>
          <a:xfrm>
            <a:off x="2743200" y="2359152"/>
            <a:ext cx="1508760" cy="411480"/>
          </a:xfrm>
          <a:prstGeom prst="rect">
            <a:avLst/>
          </a:prstGeom>
          <a:noFill/>
          <a:ln/>
        </p:spPr>
        <p:txBody>
          <a:bodyPr wrap="square" lIns="0" tIns="0" rIns="0" bIns="0" rtlCol="0" anchor="ctr"/>
          <a:lstStyle/>
          <a:p>
            <a:pPr algn="r" indent="0" marL="0">
              <a:buNone/>
            </a:pPr>
            <a:r>
              <a:rPr lang="en-US" sz="1100" b="1" dirty="0">
                <a:solidFill>
                  <a:srgbClr val="D32F2F"/>
                </a:solidFill>
                <a:latin typeface="Calibri" pitchFamily="34" charset="0"/>
                <a:ea typeface="Calibri" pitchFamily="34" charset="-122"/>
                <a:cs typeface="Calibri" pitchFamily="34" charset="-120"/>
              </a:rPr>
              <a:t>500 × 6% = 30 klaim</a:t>
            </a:r>
            <a:endParaRPr lang="en-US" sz="1100" dirty="0"/>
          </a:p>
        </p:txBody>
      </p:sp>
      <p:sp>
        <p:nvSpPr>
          <p:cNvPr id="12" name="Text 10"/>
          <p:cNvSpPr txBox="1"/>
          <p:nvPr/>
        </p:nvSpPr>
        <p:spPr>
          <a:xfrm>
            <a:off x="457200" y="2834640"/>
            <a:ext cx="228600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Nilai terhambat/bulan:</a:t>
            </a:r>
            <a:endParaRPr lang="en-US" sz="1100" dirty="0"/>
          </a:p>
        </p:txBody>
      </p:sp>
      <p:sp>
        <p:nvSpPr>
          <p:cNvPr id="13" name="Text 11"/>
          <p:cNvSpPr txBox="1"/>
          <p:nvPr/>
        </p:nvSpPr>
        <p:spPr>
          <a:xfrm>
            <a:off x="2743200" y="2834640"/>
            <a:ext cx="1508760" cy="411480"/>
          </a:xfrm>
          <a:prstGeom prst="rect">
            <a:avLst/>
          </a:prstGeom>
          <a:noFill/>
          <a:ln/>
        </p:spPr>
        <p:txBody>
          <a:bodyPr wrap="square" lIns="0" tIns="0" rIns="0" bIns="0" rtlCol="0" anchor="ctr"/>
          <a:lstStyle/>
          <a:p>
            <a:pPr algn="r" indent="0" marL="0">
              <a:buNone/>
            </a:pPr>
            <a:r>
              <a:rPr lang="en-US" sz="1100" b="1" dirty="0">
                <a:solidFill>
                  <a:srgbClr val="D32F2F"/>
                </a:solidFill>
                <a:latin typeface="Calibri" pitchFamily="34" charset="0"/>
                <a:ea typeface="Calibri" pitchFamily="34" charset="-122"/>
                <a:cs typeface="Calibri" pitchFamily="34" charset="-120"/>
              </a:rPr>
              <a:t>Rp 142.426.410</a:t>
            </a:r>
            <a:endParaRPr lang="en-US" sz="1100" dirty="0"/>
          </a:p>
        </p:txBody>
      </p:sp>
      <p:sp>
        <p:nvSpPr>
          <p:cNvPr id="14" name="Text 12"/>
          <p:cNvSpPr txBox="1"/>
          <p:nvPr/>
        </p:nvSpPr>
        <p:spPr>
          <a:xfrm>
            <a:off x="457200" y="3310128"/>
            <a:ext cx="228600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Proses keberatan:</a:t>
            </a:r>
            <a:endParaRPr lang="en-US" sz="1100" dirty="0"/>
          </a:p>
        </p:txBody>
      </p:sp>
      <p:sp>
        <p:nvSpPr>
          <p:cNvPr id="15" name="Text 13"/>
          <p:cNvSpPr txBox="1"/>
          <p:nvPr/>
        </p:nvSpPr>
        <p:spPr>
          <a:xfrm>
            <a:off x="2743200" y="3310128"/>
            <a:ext cx="1508760" cy="411480"/>
          </a:xfrm>
          <a:prstGeom prst="rect">
            <a:avLst/>
          </a:prstGeom>
          <a:noFill/>
          <a:ln/>
        </p:spPr>
        <p:txBody>
          <a:bodyPr wrap="square" lIns="0" tIns="0" rIns="0" bIns="0" rtlCol="0" anchor="ctr"/>
          <a:lstStyle/>
          <a:p>
            <a:pPr algn="r" indent="0" marL="0">
              <a:buNone/>
            </a:pPr>
            <a:r>
              <a:rPr lang="en-US" sz="1100" b="1" dirty="0">
                <a:solidFill>
                  <a:srgbClr val="D32F2F"/>
                </a:solidFill>
                <a:latin typeface="Calibri" pitchFamily="34" charset="0"/>
                <a:ea typeface="Calibri" pitchFamily="34" charset="-122"/>
                <a:cs typeface="Calibri" pitchFamily="34" charset="-120"/>
              </a:rPr>
              <a:t>30–90 hari</a:t>
            </a:r>
            <a:endParaRPr lang="en-US" sz="1100" dirty="0"/>
          </a:p>
        </p:txBody>
      </p:sp>
      <p:sp>
        <p:nvSpPr>
          <p:cNvPr id="16" name="Text 14"/>
          <p:cNvSpPr txBox="1"/>
          <p:nvPr/>
        </p:nvSpPr>
        <p:spPr>
          <a:xfrm>
            <a:off x="457200" y="3785616"/>
            <a:ext cx="228600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Cash flow:</a:t>
            </a:r>
            <a:endParaRPr lang="en-US" sz="1100" dirty="0"/>
          </a:p>
        </p:txBody>
      </p:sp>
      <p:sp>
        <p:nvSpPr>
          <p:cNvPr id="17" name="Text 15"/>
          <p:cNvSpPr txBox="1"/>
          <p:nvPr/>
        </p:nvSpPr>
        <p:spPr>
          <a:xfrm>
            <a:off x="2743200" y="3785616"/>
            <a:ext cx="1508760" cy="411480"/>
          </a:xfrm>
          <a:prstGeom prst="rect">
            <a:avLst/>
          </a:prstGeom>
          <a:noFill/>
          <a:ln/>
        </p:spPr>
        <p:txBody>
          <a:bodyPr wrap="square" lIns="0" tIns="0" rIns="0" bIns="0" rtlCol="0" anchor="ctr"/>
          <a:lstStyle/>
          <a:p>
            <a:pPr algn="r" indent="0" marL="0">
              <a:buNone/>
            </a:pPr>
            <a:r>
              <a:rPr lang="en-US" sz="1100" b="1" dirty="0">
                <a:solidFill>
                  <a:srgbClr val="D32F2F"/>
                </a:solidFill>
                <a:latin typeface="Calibri" pitchFamily="34" charset="0"/>
                <a:ea typeface="Calibri" pitchFamily="34" charset="-122"/>
                <a:cs typeface="Calibri" pitchFamily="34" charset="-120"/>
              </a:rPr>
              <a:t>Terganggu setiap bulan</a:t>
            </a:r>
            <a:endParaRPr lang="en-US" sz="1100" dirty="0"/>
          </a:p>
        </p:txBody>
      </p:sp>
      <p:sp>
        <p:nvSpPr>
          <p:cNvPr id="18" name="Shape 16"/>
          <p:cNvSpPr/>
          <p:nvPr/>
        </p:nvSpPr>
        <p:spPr>
          <a:xfrm>
            <a:off x="4572000" y="1874520"/>
            <a:ext cx="4251960" cy="2423160"/>
          </a:xfrm>
          <a:prstGeom prst="rect">
            <a:avLst/>
          </a:prstGeom>
          <a:solidFill>
            <a:srgbClr val="FFFFFF"/>
          </a:solidFill>
          <a:ln w="12700">
            <a:solidFill>
              <a:srgbClr val="00A878"/>
            </a:solidFill>
            <a:prstDash val="solid"/>
          </a:ln>
          <a:effectLst>
            <a:outerShdw sx="100000" sy="100000" kx="0" ky="0" algn="bl" rotWithShape="0" blurRad="50800" dist="25400" dir="2700000">
              <a:srgbClr val="94A3B8">
                <a:alpha val="15000"/>
              </a:srgbClr>
            </a:outerShdw>
          </a:effectLst>
        </p:spPr>
      </p:sp>
      <p:sp>
        <p:nvSpPr>
          <p:cNvPr id="19" name="Shape 17"/>
          <p:cNvSpPr/>
          <p:nvPr/>
        </p:nvSpPr>
        <p:spPr>
          <a:xfrm>
            <a:off x="4572000" y="1874520"/>
            <a:ext cx="4251960" cy="384048"/>
          </a:xfrm>
          <a:prstGeom prst="rect">
            <a:avLst/>
          </a:prstGeom>
          <a:solidFill>
            <a:srgbClr val="00A878"/>
          </a:solidFill>
          <a:ln w="12700">
            <a:solidFill>
              <a:srgbClr val="00A878"/>
            </a:solidFill>
            <a:prstDash val="solid"/>
          </a:ln>
        </p:spPr>
      </p:sp>
      <p:sp>
        <p:nvSpPr>
          <p:cNvPr id="20" name="Text 18"/>
          <p:cNvSpPr txBox="1"/>
          <p:nvPr/>
        </p:nvSpPr>
        <p:spPr>
          <a:xfrm>
            <a:off x="4754880" y="1874520"/>
            <a:ext cx="38404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DENGAN TilikKlaim</a:t>
            </a:r>
            <a:endParaRPr lang="en-US" sz="1200" dirty="0"/>
          </a:p>
        </p:txBody>
      </p:sp>
      <p:sp>
        <p:nvSpPr>
          <p:cNvPr id="21" name="Text 19"/>
          <p:cNvSpPr txBox="1"/>
          <p:nvPr/>
        </p:nvSpPr>
        <p:spPr>
          <a:xfrm>
            <a:off x="4754880" y="2359152"/>
            <a:ext cx="256032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Rejection berkurang 40%:</a:t>
            </a:r>
            <a:endParaRPr lang="en-US" sz="1100" dirty="0"/>
          </a:p>
        </p:txBody>
      </p:sp>
      <p:sp>
        <p:nvSpPr>
          <p:cNvPr id="22" name="Text 20"/>
          <p:cNvSpPr txBox="1"/>
          <p:nvPr/>
        </p:nvSpPr>
        <p:spPr>
          <a:xfrm>
            <a:off x="7315200" y="2359152"/>
            <a:ext cx="1371600" cy="411480"/>
          </a:xfrm>
          <a:prstGeom prst="rect">
            <a:avLst/>
          </a:prstGeom>
          <a:noFill/>
          <a:ln/>
        </p:spPr>
        <p:txBody>
          <a:bodyPr wrap="square" lIns="0" tIns="0" rIns="0" bIns="0" rtlCol="0" anchor="ctr"/>
          <a:lstStyle/>
          <a:p>
            <a:pPr algn="r" indent="0" marL="0">
              <a:buNone/>
            </a:pPr>
            <a:r>
              <a:rPr lang="en-US" sz="1100" b="1" dirty="0">
                <a:solidFill>
                  <a:srgbClr val="334155"/>
                </a:solidFill>
                <a:latin typeface="Calibri" pitchFamily="34" charset="0"/>
                <a:ea typeface="Calibri" pitchFamily="34" charset="-122"/>
                <a:cs typeface="Calibri" pitchFamily="34" charset="-120"/>
              </a:rPr>
              <a:t>12 klaim terselamatkan</a:t>
            </a:r>
            <a:endParaRPr lang="en-US" sz="1100" dirty="0"/>
          </a:p>
        </p:txBody>
      </p:sp>
      <p:sp>
        <p:nvSpPr>
          <p:cNvPr id="23" name="Text 21"/>
          <p:cNvSpPr txBox="1"/>
          <p:nvPr/>
        </p:nvSpPr>
        <p:spPr>
          <a:xfrm>
            <a:off x="4754880" y="2834640"/>
            <a:ext cx="256032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Nilai terselamatkan/bulan:</a:t>
            </a:r>
            <a:endParaRPr lang="en-US" sz="1100" dirty="0"/>
          </a:p>
        </p:txBody>
      </p:sp>
      <p:sp>
        <p:nvSpPr>
          <p:cNvPr id="24" name="Text 22"/>
          <p:cNvSpPr txBox="1"/>
          <p:nvPr/>
        </p:nvSpPr>
        <p:spPr>
          <a:xfrm>
            <a:off x="7315200" y="2834640"/>
            <a:ext cx="1371600" cy="411480"/>
          </a:xfrm>
          <a:prstGeom prst="rect">
            <a:avLst/>
          </a:prstGeom>
          <a:noFill/>
          <a:ln/>
        </p:spPr>
        <p:txBody>
          <a:bodyPr wrap="square" lIns="0" tIns="0" rIns="0" bIns="0" rtlCol="0" anchor="ctr"/>
          <a:lstStyle/>
          <a:p>
            <a:pPr algn="r" indent="0" marL="0">
              <a:buNone/>
            </a:pPr>
            <a:r>
              <a:rPr lang="en-US" sz="1100" b="1" dirty="0">
                <a:solidFill>
                  <a:srgbClr val="334155"/>
                </a:solidFill>
                <a:latin typeface="Calibri" pitchFamily="34" charset="0"/>
                <a:ea typeface="Calibri" pitchFamily="34" charset="-122"/>
                <a:cs typeface="Calibri" pitchFamily="34" charset="-120"/>
              </a:rPr>
              <a:t>Rp 56.970.564</a:t>
            </a:r>
            <a:endParaRPr lang="en-US" sz="1100" dirty="0"/>
          </a:p>
        </p:txBody>
      </p:sp>
      <p:sp>
        <p:nvSpPr>
          <p:cNvPr id="25" name="Text 23"/>
          <p:cNvSpPr txBox="1"/>
          <p:nvPr/>
        </p:nvSpPr>
        <p:spPr>
          <a:xfrm>
            <a:off x="4754880" y="3310128"/>
            <a:ext cx="256032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Biaya TilikKlaim:</a:t>
            </a:r>
            <a:endParaRPr lang="en-US" sz="1100" dirty="0"/>
          </a:p>
        </p:txBody>
      </p:sp>
      <p:sp>
        <p:nvSpPr>
          <p:cNvPr id="26" name="Text 24"/>
          <p:cNvSpPr txBox="1"/>
          <p:nvPr/>
        </p:nvSpPr>
        <p:spPr>
          <a:xfrm>
            <a:off x="7315200" y="3310128"/>
            <a:ext cx="1371600" cy="411480"/>
          </a:xfrm>
          <a:prstGeom prst="rect">
            <a:avLst/>
          </a:prstGeom>
          <a:noFill/>
          <a:ln/>
        </p:spPr>
        <p:txBody>
          <a:bodyPr wrap="square" lIns="0" tIns="0" rIns="0" bIns="0" rtlCol="0" anchor="ctr"/>
          <a:lstStyle/>
          <a:p>
            <a:pPr algn="r" indent="0" marL="0">
              <a:buNone/>
            </a:pPr>
            <a:r>
              <a:rPr lang="en-US" sz="1100" b="1" dirty="0">
                <a:solidFill>
                  <a:srgbClr val="334155"/>
                </a:solidFill>
                <a:latin typeface="Calibri" pitchFamily="34" charset="0"/>
                <a:ea typeface="Calibri" pitchFamily="34" charset="-122"/>
                <a:cs typeface="Calibri" pitchFamily="34" charset="-120"/>
              </a:rPr>
              <a:t>Rp 3.000.000/bulan</a:t>
            </a:r>
            <a:endParaRPr lang="en-US" sz="1100" dirty="0"/>
          </a:p>
        </p:txBody>
      </p:sp>
      <p:sp>
        <p:nvSpPr>
          <p:cNvPr id="27" name="Text 25"/>
          <p:cNvSpPr txBox="1"/>
          <p:nvPr/>
        </p:nvSpPr>
        <p:spPr>
          <a:xfrm>
            <a:off x="4754880" y="3785616"/>
            <a:ext cx="256032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Net benefit/bulan:</a:t>
            </a:r>
            <a:endParaRPr lang="en-US" sz="1100" dirty="0"/>
          </a:p>
        </p:txBody>
      </p:sp>
      <p:sp>
        <p:nvSpPr>
          <p:cNvPr id="28" name="Text 26"/>
          <p:cNvSpPr txBox="1"/>
          <p:nvPr/>
        </p:nvSpPr>
        <p:spPr>
          <a:xfrm>
            <a:off x="7315200" y="3785616"/>
            <a:ext cx="1371600" cy="411480"/>
          </a:xfrm>
          <a:prstGeom prst="rect">
            <a:avLst/>
          </a:prstGeom>
          <a:noFill/>
          <a:ln/>
        </p:spPr>
        <p:txBody>
          <a:bodyPr wrap="square" lIns="0" tIns="0" rIns="0" bIns="0" rtlCol="0" anchor="ctr"/>
          <a:lstStyle/>
          <a:p>
            <a:pPr algn="r" indent="0" marL="0">
              <a:buNone/>
            </a:pPr>
            <a:r>
              <a:rPr lang="en-US" sz="1100" b="1" dirty="0">
                <a:solidFill>
                  <a:srgbClr val="00A878"/>
                </a:solidFill>
                <a:latin typeface="Calibri" pitchFamily="34" charset="0"/>
                <a:ea typeface="Calibri" pitchFamily="34" charset="-122"/>
                <a:cs typeface="Calibri" pitchFamily="34" charset="-120"/>
              </a:rPr>
              <a:t>Rp 53.970.564</a:t>
            </a:r>
            <a:endParaRPr lang="en-US" sz="1100" dirty="0"/>
          </a:p>
        </p:txBody>
      </p:sp>
      <p:sp>
        <p:nvSpPr>
          <p:cNvPr id="29" name="Text 27"/>
          <p:cNvSpPr txBox="1"/>
          <p:nvPr/>
        </p:nvSpPr>
        <p:spPr>
          <a:xfrm>
            <a:off x="274320" y="4325112"/>
            <a:ext cx="8549640" cy="47548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  Simulasi ini dibangun dari data DJSN 2018 (Rp 4.747.547/admisi). Angka ROI bersifat indikatif — validasi akan dilakukan pada pilot faskes tahap pertama. Penurunan rejection 40% adalah asumsi konservatif berdasarkan literatur deteksi anomali klaim.</a:t>
            </a:r>
            <a:endParaRPr lang="en-US" sz="900" dirty="0"/>
          </a:p>
        </p:txBody>
      </p:sp>
      <p:sp>
        <p:nvSpPr>
          <p:cNvPr id="30" name="Shape 28"/>
          <p:cNvSpPr/>
          <p:nvPr/>
        </p:nvSpPr>
        <p:spPr>
          <a:xfrm>
            <a:off x="0" y="4818888"/>
            <a:ext cx="9144000" cy="324612"/>
          </a:xfrm>
          <a:prstGeom prst="rect">
            <a:avLst/>
          </a:prstGeom>
          <a:solidFill>
            <a:srgbClr val="0C2461"/>
          </a:solidFill>
          <a:ln w="12700">
            <a:solidFill>
              <a:srgbClr val="0C2461"/>
            </a:solidFill>
            <a:prstDash val="solid"/>
          </a:ln>
        </p:spPr>
      </p:sp>
      <p:sp>
        <p:nvSpPr>
          <p:cNvPr id="31" name="Text 29"/>
          <p:cNvSpPr txBox="1"/>
          <p:nvPr/>
        </p:nvSpPr>
        <p:spPr>
          <a:xfrm>
            <a:off x="365760" y="4818888"/>
            <a:ext cx="3200400" cy="324612"/>
          </a:xfrm>
          <a:prstGeom prst="rect">
            <a:avLst/>
          </a:prstGeom>
          <a:noFill/>
          <a:ln/>
        </p:spPr>
        <p:txBody>
          <a:bodyPr wrap="square" lIns="0" tIns="0" rIns="0" bIns="0" rtlCol="0" anchor="ctr"/>
          <a:lstStyle/>
          <a:p>
            <a:pPr indent="0" marL="0">
              <a:buNone/>
            </a:pPr>
            <a:r>
              <a:rPr lang="en-US" sz="1800" b="1" dirty="0">
                <a:solidFill>
                  <a:srgbClr val="00897B"/>
                </a:solidFill>
                <a:latin typeface="Cambria" pitchFamily="34" charset="0"/>
                <a:ea typeface="Cambria" pitchFamily="34" charset="-122"/>
                <a:cs typeface="Cambria" pitchFamily="34" charset="-120"/>
              </a:rPr>
              <a:t>ROI  19×  per bulan</a:t>
            </a:r>
            <a:endParaRPr lang="en-US" sz="1800" dirty="0"/>
          </a:p>
        </p:txBody>
      </p:sp>
      <p:sp>
        <p:nvSpPr>
          <p:cNvPr id="32" name="Text 30"/>
          <p:cNvSpPr txBox="1"/>
          <p:nvPr/>
        </p:nvSpPr>
        <p:spPr>
          <a:xfrm>
            <a:off x="3657600" y="4818888"/>
            <a:ext cx="5029200" cy="324612"/>
          </a:xfrm>
          <a:prstGeom prst="rect">
            <a:avLst/>
          </a:prstGeom>
          <a:noFill/>
          <a:ln/>
        </p:spPr>
        <p:txBody>
          <a:bodyPr wrap="square" lIns="0" tIns="0" rIns="0" bIns="0" rtlCol="0" anchor="ctr"/>
          <a:lstStyle/>
          <a:p>
            <a:pPr indent="0" marL="0">
              <a:buNone/>
            </a:pPr>
            <a:r>
              <a:rPr lang="en-US" sz="1000" dirty="0">
                <a:solidFill>
                  <a:srgbClr val="B0C4DE"/>
                </a:solidFill>
                <a:latin typeface="Calibri" pitchFamily="34" charset="0"/>
                <a:ea typeface="Calibri" pitchFamily="34" charset="-122"/>
                <a:cs typeface="Calibri" pitchFamily="34" charset="-120"/>
              </a:rPr>
              <a:t>Rp 56,9 juta diselamatkan vs Rp 3 juta biaya subscription  ·  Payback period &lt; 2 minggu</a:t>
            </a:r>
            <a:endParaRPr lang="en-US" sz="1000" dirty="0"/>
          </a:p>
        </p:txBody>
      </p:sp>
      <p:sp>
        <p:nvSpPr>
          <p:cNvPr id="33" name="Text 31"/>
          <p:cNvSpPr txBox="1"/>
          <p:nvPr/>
        </p:nvSpPr>
        <p:spPr>
          <a:xfrm>
            <a:off x="7909560" y="4846320"/>
            <a:ext cx="1097280" cy="182880"/>
          </a:xfrm>
          <a:prstGeom prst="rect">
            <a:avLst/>
          </a:prstGeom>
          <a:noFill/>
          <a:ln/>
        </p:spPr>
        <p:txBody>
          <a:bodyPr wrap="square" lIns="0" tIns="0" rIns="0" bIns="0" rtlCol="0" anchor="ctr"/>
          <a:lstStyle/>
          <a:p>
            <a:pPr indent="0" marL="0">
              <a:buNone/>
            </a:pPr>
            <a:r>
              <a:rPr lang="en-US" sz="800" dirty="0">
                <a:solidFill>
                  <a:srgbClr val="6B93B8"/>
                </a:solidFill>
                <a:latin typeface="Calibri" pitchFamily="34" charset="0"/>
                <a:ea typeface="Calibri" pitchFamily="34" charset="-122"/>
                <a:cs typeface="Calibri" pitchFamily="34" charset="-120"/>
              </a:rPr>
              <a:t>Slide 17 / 20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4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A878"/>
          </a:solidFill>
          <a:ln w="12700">
            <a:solidFill>
              <a:srgbClr val="00A878"/>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B7  ·  DAMPAK &amp; NILAI</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400" b="1" dirty="0">
                <a:solidFill>
                  <a:srgbClr val="0C2461"/>
                </a:solidFill>
                <a:latin typeface="Cambria" pitchFamily="34" charset="0"/>
                <a:ea typeface="Cambria" pitchFamily="34" charset="-122"/>
                <a:cs typeface="Cambria" pitchFamily="34" charset="-120"/>
              </a:rPr>
              <a:t>Dampak Nasional: 500 Faskes × TilikKlaim</a:t>
            </a:r>
            <a:endParaRPr lang="en-US" sz="2400" dirty="0"/>
          </a:p>
        </p:txBody>
      </p:sp>
      <p:sp>
        <p:nvSpPr>
          <p:cNvPr id="5" name="Shape 3"/>
          <p:cNvSpPr/>
          <p:nvPr/>
        </p:nvSpPr>
        <p:spPr>
          <a:xfrm>
            <a:off x="274320" y="1234440"/>
            <a:ext cx="2743200" cy="1828800"/>
          </a:xfrm>
          <a:prstGeom prst="rect">
            <a:avLst/>
          </a:prstGeom>
          <a:solidFill>
            <a:srgbClr val="FFFFFF"/>
          </a:solidFill>
          <a:ln w="12700">
            <a:solidFill>
              <a:srgbClr val="00A878"/>
            </a:solidFill>
            <a:prstDash val="solid"/>
          </a:ln>
          <a:effectLst>
            <a:outerShdw sx="100000" sy="100000" kx="0" ky="0" algn="bl" rotWithShape="0" blurRad="50800" dist="25400" dir="2700000">
              <a:srgbClr val="94A3B8">
                <a:alpha val="15000"/>
              </a:srgbClr>
            </a:outerShdw>
          </a:effectLst>
        </p:spPr>
      </p:sp>
      <p:sp>
        <p:nvSpPr>
          <p:cNvPr id="6" name="Text 4"/>
          <p:cNvSpPr txBox="1"/>
          <p:nvPr/>
        </p:nvSpPr>
        <p:spPr>
          <a:xfrm>
            <a:off x="457200" y="1389888"/>
            <a:ext cx="2377440" cy="594360"/>
          </a:xfrm>
          <a:prstGeom prst="rect">
            <a:avLst/>
          </a:prstGeom>
          <a:noFill/>
          <a:ln/>
        </p:spPr>
        <p:txBody>
          <a:bodyPr wrap="square" lIns="0" tIns="0" rIns="0" bIns="0" rtlCol="0" anchor="ctr"/>
          <a:lstStyle/>
          <a:p>
            <a:pPr indent="0" marL="0">
              <a:buNone/>
            </a:pPr>
            <a:r>
              <a:rPr lang="en-US" sz="3200" b="1" dirty="0">
                <a:solidFill>
                  <a:srgbClr val="00A878"/>
                </a:solidFill>
                <a:latin typeface="Cambria" pitchFamily="34" charset="0"/>
                <a:ea typeface="Cambria" pitchFamily="34" charset="-122"/>
                <a:cs typeface="Cambria" pitchFamily="34" charset="-120"/>
              </a:rPr>
              <a:t>Rp 342 M</a:t>
            </a:r>
            <a:endParaRPr lang="en-US" sz="3200" dirty="0"/>
          </a:p>
        </p:txBody>
      </p:sp>
      <p:sp>
        <p:nvSpPr>
          <p:cNvPr id="7" name="Text 5"/>
          <p:cNvSpPr txBox="1"/>
          <p:nvPr/>
        </p:nvSpPr>
        <p:spPr>
          <a:xfrm>
            <a:off x="457200" y="1984248"/>
            <a:ext cx="2377440" cy="50292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Efisiensi/tahun</a:t>
            </a:r>
            <a:endParaRPr lang="en-US" sz="1100" dirty="0"/>
          </a:p>
          <a:p>
            <a:pPr indent="0" marL="0">
              <a:buNone/>
            </a:pPr>
            <a:r>
              <a:rPr lang="en-US" sz="1100" b="1" dirty="0">
                <a:solidFill>
                  <a:srgbClr val="0C2461"/>
                </a:solidFill>
                <a:latin typeface="Calibri" pitchFamily="34" charset="0"/>
                <a:ea typeface="Calibri" pitchFamily="34" charset="-122"/>
                <a:cs typeface="Calibri" pitchFamily="34" charset="-120"/>
              </a:rPr>
              <a:t>ke seluruh ekosistem faskes</a:t>
            </a:r>
            <a:endParaRPr lang="en-US" sz="1100" dirty="0"/>
          </a:p>
        </p:txBody>
      </p:sp>
      <p:sp>
        <p:nvSpPr>
          <p:cNvPr id="8" name="Text 6"/>
          <p:cNvSpPr txBox="1"/>
          <p:nvPr/>
        </p:nvSpPr>
        <p:spPr>
          <a:xfrm>
            <a:off x="457200" y="2487168"/>
            <a:ext cx="2377440" cy="4572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500 faskes × Rp 57 juta net benefit/bulan</a:t>
            </a:r>
            <a:endParaRPr lang="en-US" sz="900" dirty="0"/>
          </a:p>
        </p:txBody>
      </p:sp>
      <p:sp>
        <p:nvSpPr>
          <p:cNvPr id="9" name="Shape 7"/>
          <p:cNvSpPr/>
          <p:nvPr/>
        </p:nvSpPr>
        <p:spPr>
          <a:xfrm>
            <a:off x="3218688" y="1234440"/>
            <a:ext cx="2743200" cy="182880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10" name="Text 8"/>
          <p:cNvSpPr txBox="1"/>
          <p:nvPr/>
        </p:nvSpPr>
        <p:spPr>
          <a:xfrm>
            <a:off x="3401568" y="1389888"/>
            <a:ext cx="2377440" cy="594360"/>
          </a:xfrm>
          <a:prstGeom prst="rect">
            <a:avLst/>
          </a:prstGeom>
          <a:noFill/>
          <a:ln/>
        </p:spPr>
        <p:txBody>
          <a:bodyPr wrap="square" lIns="0" tIns="0" rIns="0" bIns="0" rtlCol="0" anchor="ctr"/>
          <a:lstStyle/>
          <a:p>
            <a:pPr indent="0" marL="0">
              <a:buNone/>
            </a:pPr>
            <a:r>
              <a:rPr lang="en-US" sz="3200" b="1" dirty="0">
                <a:solidFill>
                  <a:srgbClr val="1565C0"/>
                </a:solidFill>
                <a:latin typeface="Cambria" pitchFamily="34" charset="0"/>
                <a:ea typeface="Cambria" pitchFamily="34" charset="-122"/>
                <a:cs typeface="Cambria" pitchFamily="34" charset="-120"/>
              </a:rPr>
              <a:t>Rp 1,04 T</a:t>
            </a:r>
            <a:endParaRPr lang="en-US" sz="3200" dirty="0"/>
          </a:p>
        </p:txBody>
      </p:sp>
      <p:sp>
        <p:nvSpPr>
          <p:cNvPr id="11" name="Text 9"/>
          <p:cNvSpPr txBox="1"/>
          <p:nvPr/>
        </p:nvSpPr>
        <p:spPr>
          <a:xfrm>
            <a:off x="3401568" y="1984248"/>
            <a:ext cx="2377440" cy="50292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Potensi efisiensi</a:t>
            </a:r>
            <a:endParaRPr lang="en-US" sz="1100" dirty="0"/>
          </a:p>
          <a:p>
            <a:pPr indent="0" marL="0">
              <a:buNone/>
            </a:pPr>
            <a:r>
              <a:rPr lang="en-US" sz="1100" b="1" dirty="0">
                <a:solidFill>
                  <a:srgbClr val="0C2461"/>
                </a:solidFill>
                <a:latin typeface="Calibri" pitchFamily="34" charset="0"/>
                <a:ea typeface="Calibri" pitchFamily="34" charset="-122"/>
                <a:cs typeface="Calibri" pitchFamily="34" charset="-120"/>
              </a:rPr>
              <a:t>sistem JKN/tahun</a:t>
            </a:r>
            <a:endParaRPr lang="en-US" sz="1100" dirty="0"/>
          </a:p>
        </p:txBody>
      </p:sp>
      <p:sp>
        <p:nvSpPr>
          <p:cNvPr id="12" name="Text 10"/>
          <p:cNvSpPr txBox="1"/>
          <p:nvPr/>
        </p:nvSpPr>
        <p:spPr>
          <a:xfrm>
            <a:off x="3401568" y="2487168"/>
            <a:ext cx="2377440" cy="4572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20% dari 3% anomali klaim Rp 172,59 T</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(asumsi konservatif)</a:t>
            </a:r>
            <a:endParaRPr lang="en-US" sz="900" dirty="0"/>
          </a:p>
        </p:txBody>
      </p:sp>
      <p:sp>
        <p:nvSpPr>
          <p:cNvPr id="13" name="Shape 11"/>
          <p:cNvSpPr/>
          <p:nvPr/>
        </p:nvSpPr>
        <p:spPr>
          <a:xfrm>
            <a:off x="6163056" y="1234440"/>
            <a:ext cx="2743200" cy="1828800"/>
          </a:xfrm>
          <a:prstGeom prst="rect">
            <a:avLst/>
          </a:prstGeom>
          <a:solidFill>
            <a:srgbClr val="FFFFFF"/>
          </a:solidFill>
          <a:ln w="12700">
            <a:solidFill>
              <a:srgbClr val="00897B"/>
            </a:solidFill>
            <a:prstDash val="solid"/>
          </a:ln>
          <a:effectLst>
            <a:outerShdw sx="100000" sy="100000" kx="0" ky="0" algn="bl" rotWithShape="0" blurRad="50800" dist="25400" dir="2700000">
              <a:srgbClr val="94A3B8">
                <a:alpha val="15000"/>
              </a:srgbClr>
            </a:outerShdw>
          </a:effectLst>
        </p:spPr>
      </p:sp>
      <p:sp>
        <p:nvSpPr>
          <p:cNvPr id="14" name="Text 12"/>
          <p:cNvSpPr txBox="1"/>
          <p:nvPr/>
        </p:nvSpPr>
        <p:spPr>
          <a:xfrm>
            <a:off x="6345936" y="1389888"/>
            <a:ext cx="2377440" cy="594360"/>
          </a:xfrm>
          <a:prstGeom prst="rect">
            <a:avLst/>
          </a:prstGeom>
          <a:noFill/>
          <a:ln/>
        </p:spPr>
        <p:txBody>
          <a:bodyPr wrap="square" lIns="0" tIns="0" rIns="0" bIns="0" rtlCol="0" anchor="ctr"/>
          <a:lstStyle/>
          <a:p>
            <a:pPr indent="0" marL="0">
              <a:buNone/>
            </a:pPr>
            <a:r>
              <a:rPr lang="en-US" sz="3200" b="1" dirty="0">
                <a:solidFill>
                  <a:srgbClr val="00897B"/>
                </a:solidFill>
                <a:latin typeface="Cambria" pitchFamily="34" charset="0"/>
                <a:ea typeface="Cambria" pitchFamily="34" charset="-122"/>
                <a:cs typeface="Cambria" pitchFamily="34" charset="-120"/>
              </a:rPr>
              <a:t>20×</a:t>
            </a:r>
            <a:endParaRPr lang="en-US" sz="3200" dirty="0"/>
          </a:p>
        </p:txBody>
      </p:sp>
      <p:sp>
        <p:nvSpPr>
          <p:cNvPr id="15" name="Text 13"/>
          <p:cNvSpPr txBox="1"/>
          <p:nvPr/>
        </p:nvSpPr>
        <p:spPr>
          <a:xfrm>
            <a:off x="6345936" y="1984248"/>
            <a:ext cx="2377440" cy="502920"/>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ROI rata-rata</a:t>
            </a:r>
            <a:endParaRPr lang="en-US" sz="1100" dirty="0"/>
          </a:p>
          <a:p>
            <a:pPr indent="0" marL="0">
              <a:buNone/>
            </a:pPr>
            <a:r>
              <a:rPr lang="en-US" sz="1100" b="1" dirty="0">
                <a:solidFill>
                  <a:srgbClr val="0C2461"/>
                </a:solidFill>
                <a:latin typeface="Calibri" pitchFamily="34" charset="0"/>
                <a:ea typeface="Calibri" pitchFamily="34" charset="-122"/>
                <a:cs typeface="Calibri" pitchFamily="34" charset="-120"/>
              </a:rPr>
              <a:t>per faskes berlangganan</a:t>
            </a:r>
            <a:endParaRPr lang="en-US" sz="1100" dirty="0"/>
          </a:p>
        </p:txBody>
      </p:sp>
      <p:sp>
        <p:nvSpPr>
          <p:cNvPr id="16" name="Text 14"/>
          <p:cNvSpPr txBox="1"/>
          <p:nvPr/>
        </p:nvSpPr>
        <p:spPr>
          <a:xfrm>
            <a:off x="6345936" y="2487168"/>
            <a:ext cx="2377440" cy="4572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Nilai terselamatkan vs biaya subscription</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berdasarkan simulasi RS tipe C</a:t>
            </a:r>
            <a:endParaRPr lang="en-US" sz="900" dirty="0"/>
          </a:p>
        </p:txBody>
      </p:sp>
      <p:sp>
        <p:nvSpPr>
          <p:cNvPr id="17" name="Shape 15"/>
          <p:cNvSpPr/>
          <p:nvPr/>
        </p:nvSpPr>
        <p:spPr>
          <a:xfrm>
            <a:off x="274320" y="3154680"/>
            <a:ext cx="8549640" cy="1600200"/>
          </a:xfrm>
          <a:prstGeom prst="rect">
            <a:avLst/>
          </a:prstGeom>
          <a:solidFill>
            <a:srgbClr val="FFFFFF"/>
          </a:solidFill>
          <a:ln w="12700">
            <a:solidFill>
              <a:srgbClr val="CBD5E1"/>
            </a:solidFill>
            <a:prstDash val="solid"/>
          </a:ln>
          <a:effectLst>
            <a:outerShdw sx="100000" sy="100000" kx="0" ky="0" algn="bl" rotWithShape="0" blurRad="50800" dist="25400" dir="2700000">
              <a:srgbClr val="94A3B8">
                <a:alpha val="15000"/>
              </a:srgbClr>
            </a:outerShdw>
          </a:effectLst>
        </p:spPr>
      </p:sp>
      <p:sp>
        <p:nvSpPr>
          <p:cNvPr id="18" name="Text 16"/>
          <p:cNvSpPr txBox="1"/>
          <p:nvPr/>
        </p:nvSpPr>
        <p:spPr>
          <a:xfrm>
            <a:off x="457200" y="3218688"/>
            <a:ext cx="3657600" cy="274320"/>
          </a:xfrm>
          <a:prstGeom prst="rect">
            <a:avLst/>
          </a:prstGeom>
          <a:noFill/>
          <a:ln/>
        </p:spPr>
        <p:txBody>
          <a:bodyPr wrap="square" lIns="0" tIns="0" rIns="0" bIns="0" rtlCol="0" anchor="ctr"/>
          <a:lstStyle/>
          <a:p>
            <a:pPr indent="0" marL="0">
              <a:buNone/>
            </a:pPr>
            <a:r>
              <a:rPr lang="en-US" sz="1200" b="1" dirty="0">
                <a:solidFill>
                  <a:srgbClr val="0C2461"/>
                </a:solidFill>
                <a:latin typeface="Calibri" pitchFamily="34" charset="0"/>
                <a:ea typeface="Calibri" pitchFamily="34" charset="-122"/>
                <a:cs typeface="Calibri" pitchFamily="34" charset="-120"/>
              </a:rPr>
              <a:t>Dampak Non-Finansial</a:t>
            </a:r>
            <a:endParaRPr lang="en-US" sz="1200" dirty="0"/>
          </a:p>
        </p:txBody>
      </p:sp>
      <p:sp>
        <p:nvSpPr>
          <p:cNvPr id="19" name="Text 17"/>
          <p:cNvSpPr txBox="1"/>
          <p:nvPr/>
        </p:nvSpPr>
        <p:spPr>
          <a:xfrm>
            <a:off x="457200" y="3566160"/>
            <a:ext cx="2743200" cy="256032"/>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Casemix Officer</a:t>
            </a:r>
            <a:endParaRPr lang="en-US" sz="1100" dirty="0"/>
          </a:p>
        </p:txBody>
      </p:sp>
      <p:sp>
        <p:nvSpPr>
          <p:cNvPr id="20" name="Text 18"/>
          <p:cNvSpPr txBox="1"/>
          <p:nvPr/>
        </p:nvSpPr>
        <p:spPr>
          <a:xfrm>
            <a:off x="457200" y="3840480"/>
            <a:ext cx="2651760" cy="8229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Dari 500 klaim manual/bulan → fokus pada ~30 klaim berisiko tinggi. Berkurang: overtime, stres, human error.</a:t>
            </a:r>
            <a:endParaRPr lang="en-US" sz="950" dirty="0"/>
          </a:p>
        </p:txBody>
      </p:sp>
      <p:sp>
        <p:nvSpPr>
          <p:cNvPr id="21" name="Text 19"/>
          <p:cNvSpPr txBox="1"/>
          <p:nvPr/>
        </p:nvSpPr>
        <p:spPr>
          <a:xfrm>
            <a:off x="3401568" y="3566160"/>
            <a:ext cx="2743200" cy="256032"/>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Faskes</a:t>
            </a:r>
            <a:endParaRPr lang="en-US" sz="1100" dirty="0"/>
          </a:p>
        </p:txBody>
      </p:sp>
      <p:sp>
        <p:nvSpPr>
          <p:cNvPr id="22" name="Text 20"/>
          <p:cNvSpPr txBox="1"/>
          <p:nvPr/>
        </p:nvSpPr>
        <p:spPr>
          <a:xfrm>
            <a:off x="3401568" y="3840480"/>
            <a:ext cx="2651760" cy="8229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Audit trail internal terdokumentasi → bukti due diligence jika ada sengketa BPJS. Cash flow lebih prediktabel.</a:t>
            </a:r>
            <a:endParaRPr lang="en-US" sz="950" dirty="0"/>
          </a:p>
        </p:txBody>
      </p:sp>
      <p:sp>
        <p:nvSpPr>
          <p:cNvPr id="23" name="Text 21"/>
          <p:cNvSpPr txBox="1"/>
          <p:nvPr/>
        </p:nvSpPr>
        <p:spPr>
          <a:xfrm>
            <a:off x="6345936" y="3566160"/>
            <a:ext cx="2743200" cy="256032"/>
          </a:xfrm>
          <a:prstGeom prst="rect">
            <a:avLst/>
          </a:prstGeom>
          <a:noFill/>
          <a:ln/>
        </p:spPr>
        <p:txBody>
          <a:bodyPr wrap="square" lIns="0" tIns="0" rIns="0" bIns="0" rtlCol="0" anchor="ctr"/>
          <a:lstStyle/>
          <a:p>
            <a:pPr indent="0" marL="0">
              <a:buNone/>
            </a:pPr>
            <a:r>
              <a:rPr lang="en-US" sz="1100" b="1" dirty="0">
                <a:solidFill>
                  <a:srgbClr val="0C2461"/>
                </a:solidFill>
                <a:latin typeface="Calibri" pitchFamily="34" charset="0"/>
                <a:ea typeface="Calibri" pitchFamily="34" charset="-122"/>
                <a:cs typeface="Calibri" pitchFamily="34" charset="-120"/>
              </a:rPr>
              <a:t>■️ BPJS / JKN</a:t>
            </a:r>
            <a:endParaRPr lang="en-US" sz="1100" dirty="0"/>
          </a:p>
        </p:txBody>
      </p:sp>
      <p:sp>
        <p:nvSpPr>
          <p:cNvPr id="24" name="Text 22"/>
          <p:cNvSpPr txBox="1"/>
          <p:nvPr/>
        </p:nvSpPr>
        <p:spPr>
          <a:xfrm>
            <a:off x="6345936" y="3840480"/>
            <a:ext cx="2651760" cy="8229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Filter pertama ada di sumber klaim. Beban verifikasi BPJS berkurang. Potensi adopsi lintas kategori (monitoring rujukan, obat-alkes).</a:t>
            </a:r>
            <a:endParaRPr lang="en-US" sz="950" dirty="0"/>
          </a:p>
        </p:txBody>
      </p:sp>
      <p:sp>
        <p:nvSpPr>
          <p:cNvPr id="25" name="Shape 23"/>
          <p:cNvSpPr/>
          <p:nvPr/>
        </p:nvSpPr>
        <p:spPr>
          <a:xfrm>
            <a:off x="274320" y="4663440"/>
            <a:ext cx="8549640" cy="347472"/>
          </a:xfrm>
          <a:prstGeom prst="rect">
            <a:avLst/>
          </a:prstGeom>
          <a:solidFill>
            <a:srgbClr val="0C2461"/>
          </a:solidFill>
          <a:ln w="12700">
            <a:solidFill>
              <a:srgbClr val="0C2461"/>
            </a:solidFill>
            <a:prstDash val="solid"/>
          </a:ln>
        </p:spPr>
      </p:sp>
      <p:sp>
        <p:nvSpPr>
          <p:cNvPr id="26" name="Text 24"/>
          <p:cNvSpPr txBox="1"/>
          <p:nvPr/>
        </p:nvSpPr>
        <p:spPr>
          <a:xfrm>
            <a:off x="411480" y="4681728"/>
            <a:ext cx="960120" cy="146304"/>
          </a:xfrm>
          <a:prstGeom prst="rect">
            <a:avLst/>
          </a:prstGeom>
          <a:noFill/>
          <a:ln/>
        </p:spPr>
        <p:txBody>
          <a:bodyPr wrap="square" lIns="0" tIns="0" rIns="0" bIns="0" rtlCol="0" anchor="ctr"/>
          <a:lstStyle/>
          <a:p>
            <a:pPr indent="0" marL="0">
              <a:buNone/>
            </a:pPr>
            <a:r>
              <a:rPr lang="en-US" sz="750" b="1" dirty="0">
                <a:solidFill>
                  <a:srgbClr val="00897B"/>
                </a:solidFill>
                <a:latin typeface="Calibri" pitchFamily="34" charset="0"/>
                <a:ea typeface="Calibri" pitchFamily="34" charset="-122"/>
                <a:cs typeface="Calibri" pitchFamily="34" charset="-120"/>
              </a:rPr>
              <a:t>Rp PAYER</a:t>
            </a:r>
            <a:endParaRPr lang="en-US" sz="750" dirty="0"/>
          </a:p>
        </p:txBody>
      </p:sp>
      <p:sp>
        <p:nvSpPr>
          <p:cNvPr id="27" name="Text 25"/>
          <p:cNvSpPr txBox="1"/>
          <p:nvPr/>
        </p:nvSpPr>
        <p:spPr>
          <a:xfrm>
            <a:off x="411480" y="4828032"/>
            <a:ext cx="2743200" cy="146304"/>
          </a:xfrm>
          <a:prstGeom prst="rect">
            <a:avLst/>
          </a:prstGeom>
          <a:noFill/>
          <a:ln/>
        </p:spPr>
        <p:txBody>
          <a:bodyPr wrap="square" lIns="0" tIns="0" rIns="0" bIns="0" rtlCol="0" anchor="ctr"/>
          <a:lstStyle/>
          <a:p>
            <a:pPr indent="0" marL="0">
              <a:buNone/>
            </a:pPr>
            <a:r>
              <a:rPr lang="en-US" sz="750" dirty="0">
                <a:solidFill>
                  <a:srgbClr val="B0C4DE"/>
                </a:solidFill>
                <a:latin typeface="Calibri" pitchFamily="34" charset="0"/>
                <a:ea typeface="Calibri" pitchFamily="34" charset="-122"/>
                <a:cs typeface="Calibri" pitchFamily="34" charset="-120"/>
              </a:rPr>
              <a:t>Faskes membayar lisensi SaaS — bukan BPJS, bukan pasien</a:t>
            </a:r>
            <a:endParaRPr lang="en-US" sz="750" dirty="0"/>
          </a:p>
        </p:txBody>
      </p:sp>
      <p:sp>
        <p:nvSpPr>
          <p:cNvPr id="28" name="Text 26"/>
          <p:cNvSpPr txBox="1"/>
          <p:nvPr/>
        </p:nvSpPr>
        <p:spPr>
          <a:xfrm>
            <a:off x="3264408" y="4681728"/>
            <a:ext cx="960120" cy="146304"/>
          </a:xfrm>
          <a:prstGeom prst="rect">
            <a:avLst/>
          </a:prstGeom>
          <a:noFill/>
          <a:ln/>
        </p:spPr>
        <p:txBody>
          <a:bodyPr wrap="square" lIns="0" tIns="0" rIns="0" bIns="0" rtlCol="0" anchor="ctr"/>
          <a:lstStyle/>
          <a:p>
            <a:pPr indent="0" marL="0">
              <a:buNone/>
            </a:pPr>
            <a:r>
              <a:rPr lang="en-US" sz="750" b="1" dirty="0">
                <a:solidFill>
                  <a:srgbClr val="00897B"/>
                </a:solidFill>
                <a:latin typeface="Calibri" pitchFamily="34" charset="0"/>
                <a:ea typeface="Calibri" pitchFamily="34" charset="-122"/>
                <a:cs typeface="Calibri" pitchFamily="34" charset="-120"/>
              </a:rPr>
              <a:t>▲ VALUE for BPJS</a:t>
            </a:r>
            <a:endParaRPr lang="en-US" sz="750" dirty="0"/>
          </a:p>
        </p:txBody>
      </p:sp>
      <p:sp>
        <p:nvSpPr>
          <p:cNvPr id="29" name="Text 27"/>
          <p:cNvSpPr txBox="1"/>
          <p:nvPr/>
        </p:nvSpPr>
        <p:spPr>
          <a:xfrm>
            <a:off x="3264408" y="4828032"/>
            <a:ext cx="2743200" cy="146304"/>
          </a:xfrm>
          <a:prstGeom prst="rect">
            <a:avLst/>
          </a:prstGeom>
          <a:noFill/>
          <a:ln/>
        </p:spPr>
        <p:txBody>
          <a:bodyPr wrap="square" lIns="0" tIns="0" rIns="0" bIns="0" rtlCol="0" anchor="ctr"/>
          <a:lstStyle/>
          <a:p>
            <a:pPr indent="0" marL="0">
              <a:buNone/>
            </a:pPr>
            <a:r>
              <a:rPr lang="en-US" sz="750" dirty="0">
                <a:solidFill>
                  <a:srgbClr val="B0C4DE"/>
                </a:solidFill>
                <a:latin typeface="Calibri" pitchFamily="34" charset="0"/>
                <a:ea typeface="Calibri" pitchFamily="34" charset="-122"/>
                <a:cs typeface="Calibri" pitchFamily="34" charset="-120"/>
              </a:rPr>
              <a:t>Klaim masuk lebih bersih → beban verifikasi BPJS berkurang</a:t>
            </a:r>
            <a:endParaRPr lang="en-US" sz="750" dirty="0"/>
          </a:p>
        </p:txBody>
      </p:sp>
      <p:sp>
        <p:nvSpPr>
          <p:cNvPr id="30" name="Text 28"/>
          <p:cNvSpPr txBox="1"/>
          <p:nvPr/>
        </p:nvSpPr>
        <p:spPr>
          <a:xfrm>
            <a:off x="6117336" y="4681728"/>
            <a:ext cx="960120" cy="146304"/>
          </a:xfrm>
          <a:prstGeom prst="rect">
            <a:avLst/>
          </a:prstGeom>
          <a:noFill/>
          <a:ln/>
        </p:spPr>
        <p:txBody>
          <a:bodyPr wrap="square" lIns="0" tIns="0" rIns="0" bIns="0" rtlCol="0" anchor="ctr"/>
          <a:lstStyle/>
          <a:p>
            <a:pPr indent="0" marL="0">
              <a:buNone/>
            </a:pPr>
            <a:r>
              <a:rPr lang="en-US" sz="750" b="1" dirty="0">
                <a:solidFill>
                  <a:srgbClr val="00897B"/>
                </a:solidFill>
                <a:latin typeface="Calibri" pitchFamily="34" charset="0"/>
                <a:ea typeface="Calibri" pitchFamily="34" charset="-122"/>
                <a:cs typeface="Calibri" pitchFamily="34" charset="-120"/>
              </a:rPr>
              <a:t>◆ EKOSISTEM</a:t>
            </a:r>
            <a:endParaRPr lang="en-US" sz="750" dirty="0"/>
          </a:p>
        </p:txBody>
      </p:sp>
      <p:sp>
        <p:nvSpPr>
          <p:cNvPr id="31" name="Text 29"/>
          <p:cNvSpPr txBox="1"/>
          <p:nvPr/>
        </p:nvSpPr>
        <p:spPr>
          <a:xfrm>
            <a:off x="6117336" y="4828032"/>
            <a:ext cx="2743200" cy="146304"/>
          </a:xfrm>
          <a:prstGeom prst="rect">
            <a:avLst/>
          </a:prstGeom>
          <a:noFill/>
          <a:ln/>
        </p:spPr>
        <p:txBody>
          <a:bodyPr wrap="square" lIns="0" tIns="0" rIns="0" bIns="0" rtlCol="0" anchor="ctr"/>
          <a:lstStyle/>
          <a:p>
            <a:pPr indent="0" marL="0">
              <a:buNone/>
            </a:pPr>
            <a:r>
              <a:rPr lang="en-US" sz="750" dirty="0">
                <a:solidFill>
                  <a:srgbClr val="B0C4DE"/>
                </a:solidFill>
                <a:latin typeface="Calibri" pitchFamily="34" charset="0"/>
                <a:ea typeface="Calibri" pitchFamily="34" charset="-122"/>
                <a:cs typeface="Calibri" pitchFamily="34" charset="-120"/>
              </a:rPr>
              <a:t>SATUSEHAT &amp; HL7/FHIR R4 ready · skalabilitas lintas 34 provinsi</a:t>
            </a:r>
            <a:endParaRPr lang="en-US" sz="750" dirty="0"/>
          </a:p>
        </p:txBody>
      </p:sp>
      <p:sp>
        <p:nvSpPr>
          <p:cNvPr id="32" name="Text 30"/>
          <p:cNvSpPr txBox="1"/>
          <p:nvPr/>
        </p:nvSpPr>
        <p:spPr>
          <a:xfrm>
            <a:off x="7955280" y="5001768"/>
            <a:ext cx="1097280" cy="137160"/>
          </a:xfrm>
          <a:prstGeom prst="rect">
            <a:avLst/>
          </a:prstGeom>
          <a:noFill/>
          <a:ln/>
        </p:spPr>
        <p:txBody>
          <a:bodyPr wrap="square" lIns="0" tIns="0" rIns="0" bIns="0" rtlCol="0" anchor="ctr"/>
          <a:lstStyle/>
          <a:p>
            <a:pPr indent="0" marL="0">
              <a:buNone/>
            </a:pPr>
            <a:r>
              <a:rPr lang="en-US" sz="800" dirty="0">
                <a:solidFill>
                  <a:srgbClr val="6B93B8"/>
                </a:solidFill>
                <a:latin typeface="Calibri" pitchFamily="34" charset="0"/>
                <a:ea typeface="Calibri" pitchFamily="34" charset="-122"/>
                <a:cs typeface="Calibri" pitchFamily="34" charset="-120"/>
              </a:rPr>
              <a:t>Slide 18 / 20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C2461"/>
          </a:solidFill>
          <a:ln w="12700">
            <a:solidFill>
              <a:srgbClr val="0C2461"/>
            </a:solidFill>
            <a:prstDash val="solid"/>
          </a:ln>
        </p:spPr>
      </p:sp>
      <p:sp>
        <p:nvSpPr>
          <p:cNvPr id="3" name="Text 1"/>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B8  ·  RISIKO, PRIVASI &amp; ETIKA</a:t>
            </a:r>
            <a:endParaRPr lang="en-US" sz="1100" dirty="0"/>
          </a:p>
        </p:txBody>
      </p:sp>
      <p:sp>
        <p:nvSpPr>
          <p:cNvPr id="4" name="Text 2"/>
          <p:cNvSpPr txBox="1"/>
          <p:nvPr/>
        </p:nvSpPr>
        <p:spPr>
          <a:xfrm>
            <a:off x="365760" y="640080"/>
            <a:ext cx="8412480" cy="640080"/>
          </a:xfrm>
          <a:prstGeom prst="rect">
            <a:avLst/>
          </a:prstGeom>
          <a:noFill/>
          <a:ln/>
        </p:spPr>
        <p:txBody>
          <a:bodyPr wrap="square" lIns="0" tIns="0" rIns="0" bIns="0" rtlCol="0" anchor="ctr"/>
          <a:lstStyle/>
          <a:p>
            <a:pPr indent="0" marL="0">
              <a:buNone/>
            </a:pPr>
            <a:r>
              <a:rPr lang="en-US" sz="2400" b="1" dirty="0">
                <a:solidFill>
                  <a:srgbClr val="0C2461"/>
                </a:solidFill>
                <a:latin typeface="Cambria" pitchFamily="34" charset="0"/>
                <a:ea typeface="Cambria" pitchFamily="34" charset="-122"/>
                <a:cs typeface="Cambria" pitchFamily="34" charset="-120"/>
              </a:rPr>
              <a:t>Sistem yang Sadar Risikonya Sendiri</a:t>
            </a:r>
            <a:endParaRPr lang="en-US" sz="2400" dirty="0"/>
          </a:p>
        </p:txBody>
      </p:sp>
      <p:sp>
        <p:nvSpPr>
          <p:cNvPr id="5" name="Shape 3"/>
          <p:cNvSpPr/>
          <p:nvPr/>
        </p:nvSpPr>
        <p:spPr>
          <a:xfrm>
            <a:off x="274320" y="1234440"/>
            <a:ext cx="2743200" cy="2880360"/>
          </a:xfrm>
          <a:prstGeom prst="rect">
            <a:avLst/>
          </a:prstGeom>
          <a:solidFill>
            <a:srgbClr val="FFFFFF"/>
          </a:solidFill>
          <a:ln w="12700">
            <a:solidFill>
              <a:srgbClr val="F59E0B"/>
            </a:solidFill>
            <a:prstDash val="solid"/>
          </a:ln>
          <a:effectLst>
            <a:outerShdw sx="100000" sy="100000" kx="0" ky="0" algn="bl" rotWithShape="0" blurRad="50800" dist="25400" dir="2700000">
              <a:srgbClr val="94A3B8">
                <a:alpha val="15000"/>
              </a:srgbClr>
            </a:outerShdw>
          </a:effectLst>
        </p:spPr>
      </p:sp>
      <p:sp>
        <p:nvSpPr>
          <p:cNvPr id="6" name="Shape 4"/>
          <p:cNvSpPr/>
          <p:nvPr/>
        </p:nvSpPr>
        <p:spPr>
          <a:xfrm>
            <a:off x="274320" y="1234440"/>
            <a:ext cx="2743200" cy="475488"/>
          </a:xfrm>
          <a:prstGeom prst="rect">
            <a:avLst/>
          </a:prstGeom>
          <a:solidFill>
            <a:srgbClr val="F59E0B"/>
          </a:solidFill>
          <a:ln w="12700">
            <a:solidFill>
              <a:srgbClr val="F59E0B"/>
            </a:solidFill>
            <a:prstDash val="solid"/>
          </a:ln>
        </p:spPr>
      </p:sp>
      <p:sp>
        <p:nvSpPr>
          <p:cNvPr id="7" name="Text 5"/>
          <p:cNvSpPr txBox="1"/>
          <p:nvPr/>
        </p:nvSpPr>
        <p:spPr>
          <a:xfrm>
            <a:off x="365760" y="1234440"/>
            <a:ext cx="256032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False Positive</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(Alert Fatigue)</a:t>
            </a:r>
            <a:endParaRPr lang="en-US" sz="1100" dirty="0"/>
          </a:p>
        </p:txBody>
      </p:sp>
      <p:sp>
        <p:nvSpPr>
          <p:cNvPr id="8" name="Shape 6"/>
          <p:cNvSpPr/>
          <p:nvPr/>
        </p:nvSpPr>
        <p:spPr>
          <a:xfrm>
            <a:off x="411480" y="1709928"/>
            <a:ext cx="2468880" cy="9144"/>
          </a:xfrm>
          <a:prstGeom prst="rect">
            <a:avLst/>
          </a:prstGeom>
          <a:solidFill>
            <a:srgbClr val="F59E0B"/>
          </a:solidFill>
          <a:ln w="12700">
            <a:solidFill>
              <a:srgbClr val="F59E0B"/>
            </a:solidFill>
            <a:prstDash val="solid"/>
          </a:ln>
        </p:spPr>
      </p:sp>
      <p:sp>
        <p:nvSpPr>
          <p:cNvPr id="9" name="Text 7"/>
          <p:cNvSpPr txBox="1"/>
          <p:nvPr/>
        </p:nvSpPr>
        <p:spPr>
          <a:xfrm>
            <a:off x="411480" y="1737360"/>
            <a:ext cx="2468880" cy="50292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Risiko: Terlalu banyak sinyal → casemix officer mengabaikan semua flag</a:t>
            </a:r>
            <a:endParaRPr lang="en-US" sz="900" dirty="0"/>
          </a:p>
        </p:txBody>
      </p:sp>
      <p:sp>
        <p:nvSpPr>
          <p:cNvPr id="10" name="Text 8"/>
          <p:cNvSpPr txBox="1"/>
          <p:nvPr/>
        </p:nvSpPr>
        <p:spPr>
          <a:xfrm>
            <a:off x="411480" y="2304288"/>
            <a:ext cx="2468880" cy="22860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Mitigasi:</a:t>
            </a:r>
            <a:endParaRPr lang="en-US" sz="900" dirty="0"/>
          </a:p>
        </p:txBody>
      </p:sp>
      <p:sp>
        <p:nvSpPr>
          <p:cNvPr id="11" name="Text 9"/>
          <p:cNvSpPr txBox="1"/>
          <p:nvPr/>
        </p:nvSpPr>
        <p:spPr>
          <a:xfrm>
            <a:off x="411480" y="2514600"/>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Threshold dikalibrasi per faskes (bukan global)</a:t>
            </a:r>
            <a:endParaRPr lang="en-US" sz="900" dirty="0"/>
          </a:p>
        </p:txBody>
      </p:sp>
      <p:sp>
        <p:nvSpPr>
          <p:cNvPr id="12" name="Text 10"/>
          <p:cNvSpPr txBox="1"/>
          <p:nvPr/>
        </p:nvSpPr>
        <p:spPr>
          <a:xfrm>
            <a:off x="411480" y="2916936"/>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Precision &gt; Recall di fase awal</a:t>
            </a:r>
            <a:endParaRPr lang="en-US" sz="900" dirty="0"/>
          </a:p>
        </p:txBody>
      </p:sp>
      <p:sp>
        <p:nvSpPr>
          <p:cNvPr id="13" name="Text 11"/>
          <p:cNvSpPr txBox="1"/>
          <p:nvPr/>
        </p:nvSpPr>
        <p:spPr>
          <a:xfrm>
            <a:off x="411480" y="3319272"/>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Feedback loop: disposisi → perbaiki model</a:t>
            </a:r>
            <a:endParaRPr lang="en-US" sz="900" dirty="0"/>
          </a:p>
        </p:txBody>
      </p:sp>
      <p:sp>
        <p:nvSpPr>
          <p:cNvPr id="14" name="Text 12"/>
          <p:cNvSpPr txBox="1"/>
          <p:nvPr/>
        </p:nvSpPr>
        <p:spPr>
          <a:xfrm>
            <a:off x="411480" y="3721608"/>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Target: &lt; 15% klaim diflag di awal</a:t>
            </a:r>
            <a:endParaRPr lang="en-US" sz="900" dirty="0"/>
          </a:p>
        </p:txBody>
      </p:sp>
      <p:sp>
        <p:nvSpPr>
          <p:cNvPr id="15" name="Shape 13"/>
          <p:cNvSpPr/>
          <p:nvPr/>
        </p:nvSpPr>
        <p:spPr>
          <a:xfrm>
            <a:off x="3218688" y="1234440"/>
            <a:ext cx="2743200" cy="2880360"/>
          </a:xfrm>
          <a:prstGeom prst="rect">
            <a:avLst/>
          </a:prstGeom>
          <a:solidFill>
            <a:srgbClr val="FFFFFF"/>
          </a:solidFill>
          <a:ln w="12700">
            <a:solidFill>
              <a:srgbClr val="1565C0"/>
            </a:solidFill>
            <a:prstDash val="solid"/>
          </a:ln>
          <a:effectLst>
            <a:outerShdw sx="100000" sy="100000" kx="0" ky="0" algn="bl" rotWithShape="0" blurRad="50800" dist="25400" dir="2700000">
              <a:srgbClr val="94A3B8">
                <a:alpha val="15000"/>
              </a:srgbClr>
            </a:outerShdw>
          </a:effectLst>
        </p:spPr>
      </p:sp>
      <p:sp>
        <p:nvSpPr>
          <p:cNvPr id="16" name="Shape 14"/>
          <p:cNvSpPr/>
          <p:nvPr/>
        </p:nvSpPr>
        <p:spPr>
          <a:xfrm>
            <a:off x="3218688" y="1234440"/>
            <a:ext cx="2743200" cy="475488"/>
          </a:xfrm>
          <a:prstGeom prst="rect">
            <a:avLst/>
          </a:prstGeom>
          <a:solidFill>
            <a:srgbClr val="1565C0"/>
          </a:solidFill>
          <a:ln w="12700">
            <a:solidFill>
              <a:srgbClr val="1565C0"/>
            </a:solidFill>
            <a:prstDash val="solid"/>
          </a:ln>
        </p:spPr>
      </p:sp>
      <p:sp>
        <p:nvSpPr>
          <p:cNvPr id="17" name="Text 15"/>
          <p:cNvSpPr txBox="1"/>
          <p:nvPr/>
        </p:nvSpPr>
        <p:spPr>
          <a:xfrm>
            <a:off x="3310128" y="1234440"/>
            <a:ext cx="256032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Data Privasi</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&amp; UU PDP</a:t>
            </a:r>
            <a:endParaRPr lang="en-US" sz="1100" dirty="0"/>
          </a:p>
        </p:txBody>
      </p:sp>
      <p:sp>
        <p:nvSpPr>
          <p:cNvPr id="18" name="Shape 16"/>
          <p:cNvSpPr/>
          <p:nvPr/>
        </p:nvSpPr>
        <p:spPr>
          <a:xfrm>
            <a:off x="3355848" y="1709928"/>
            <a:ext cx="2468880" cy="9144"/>
          </a:xfrm>
          <a:prstGeom prst="rect">
            <a:avLst/>
          </a:prstGeom>
          <a:solidFill>
            <a:srgbClr val="1565C0"/>
          </a:solidFill>
          <a:ln w="12700">
            <a:solidFill>
              <a:srgbClr val="1565C0"/>
            </a:solidFill>
            <a:prstDash val="solid"/>
          </a:ln>
        </p:spPr>
      </p:sp>
      <p:sp>
        <p:nvSpPr>
          <p:cNvPr id="19" name="Text 17"/>
          <p:cNvSpPr txBox="1"/>
          <p:nvPr/>
        </p:nvSpPr>
        <p:spPr>
          <a:xfrm>
            <a:off x="3355848" y="1737360"/>
            <a:ext cx="2468880" cy="50292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Risiko: Data klaim pasien terekspos ke pihak ketiga</a:t>
            </a:r>
            <a:endParaRPr lang="en-US" sz="900" dirty="0"/>
          </a:p>
        </p:txBody>
      </p:sp>
      <p:sp>
        <p:nvSpPr>
          <p:cNvPr id="20" name="Text 18"/>
          <p:cNvSpPr txBox="1"/>
          <p:nvPr/>
        </p:nvSpPr>
        <p:spPr>
          <a:xfrm>
            <a:off x="3355848" y="2304288"/>
            <a:ext cx="2468880" cy="228600"/>
          </a:xfrm>
          <a:prstGeom prst="rect">
            <a:avLst/>
          </a:prstGeom>
          <a:noFill/>
          <a:ln/>
        </p:spPr>
        <p:txBody>
          <a:bodyPr wrap="square" lIns="0" tIns="0" rIns="0" bIns="0" rtlCol="0" anchor="ctr"/>
          <a:lstStyle/>
          <a:p>
            <a:pPr indent="0" marL="0">
              <a:buNone/>
            </a:pPr>
            <a:r>
              <a:rPr lang="en-US" sz="900" b="1" dirty="0">
                <a:solidFill>
                  <a:srgbClr val="1565C0"/>
                </a:solidFill>
                <a:latin typeface="Calibri" pitchFamily="34" charset="0"/>
                <a:ea typeface="Calibri" pitchFamily="34" charset="-122"/>
                <a:cs typeface="Calibri" pitchFamily="34" charset="-120"/>
              </a:rPr>
              <a:t>Mitigasi:</a:t>
            </a:r>
            <a:endParaRPr lang="en-US" sz="900" dirty="0"/>
          </a:p>
        </p:txBody>
      </p:sp>
      <p:sp>
        <p:nvSpPr>
          <p:cNvPr id="21" name="Text 19"/>
          <p:cNvSpPr txBox="1"/>
          <p:nvPr/>
        </p:nvSpPr>
        <p:spPr>
          <a:xfrm>
            <a:off x="3355848" y="2514600"/>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Arsitektur on-premise / private cloud faskes</a:t>
            </a:r>
            <a:endParaRPr lang="en-US" sz="900" dirty="0"/>
          </a:p>
        </p:txBody>
      </p:sp>
      <p:sp>
        <p:nvSpPr>
          <p:cNvPr id="22" name="Text 20"/>
          <p:cNvSpPr txBox="1"/>
          <p:nvPr/>
        </p:nvSpPr>
        <p:spPr>
          <a:xfrm>
            <a:off x="3355848" y="2916936"/>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Data TIDAK meninggalkan infrastruktur faskes</a:t>
            </a:r>
            <a:endParaRPr lang="en-US" sz="900" dirty="0"/>
          </a:p>
        </p:txBody>
      </p:sp>
      <p:sp>
        <p:nvSpPr>
          <p:cNvPr id="23" name="Text 21"/>
          <p:cNvSpPr txBox="1"/>
          <p:nvPr/>
        </p:nvSpPr>
        <p:spPr>
          <a:xfrm>
            <a:off x="3355848" y="3319272"/>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Pseudonimisasi ID pasien dalam log audit</a:t>
            </a:r>
            <a:endParaRPr lang="en-US" sz="900" dirty="0"/>
          </a:p>
        </p:txBody>
      </p:sp>
      <p:sp>
        <p:nvSpPr>
          <p:cNvPr id="24" name="Text 22"/>
          <p:cNvSpPr txBox="1"/>
          <p:nvPr/>
        </p:nvSpPr>
        <p:spPr>
          <a:xfrm>
            <a:off x="3355848" y="3721608"/>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UU PDP No. 27/2022 + Permenkes No. 24/2022 · FHIR R4 API-first</a:t>
            </a:r>
            <a:endParaRPr lang="en-US" sz="900" dirty="0"/>
          </a:p>
        </p:txBody>
      </p:sp>
      <p:sp>
        <p:nvSpPr>
          <p:cNvPr id="25" name="Shape 23"/>
          <p:cNvSpPr/>
          <p:nvPr/>
        </p:nvSpPr>
        <p:spPr>
          <a:xfrm>
            <a:off x="6163056" y="1234440"/>
            <a:ext cx="2743200" cy="2880360"/>
          </a:xfrm>
          <a:prstGeom prst="rect">
            <a:avLst/>
          </a:prstGeom>
          <a:solidFill>
            <a:srgbClr val="FFFFFF"/>
          </a:solidFill>
          <a:ln w="12700">
            <a:solidFill>
              <a:srgbClr val="D32F2F"/>
            </a:solidFill>
            <a:prstDash val="solid"/>
          </a:ln>
          <a:effectLst>
            <a:outerShdw sx="100000" sy="100000" kx="0" ky="0" algn="bl" rotWithShape="0" blurRad="50800" dist="25400" dir="2700000">
              <a:srgbClr val="94A3B8">
                <a:alpha val="15000"/>
              </a:srgbClr>
            </a:outerShdw>
          </a:effectLst>
        </p:spPr>
      </p:sp>
      <p:sp>
        <p:nvSpPr>
          <p:cNvPr id="26" name="Shape 24"/>
          <p:cNvSpPr/>
          <p:nvPr/>
        </p:nvSpPr>
        <p:spPr>
          <a:xfrm>
            <a:off x="6163056" y="1234440"/>
            <a:ext cx="2743200" cy="475488"/>
          </a:xfrm>
          <a:prstGeom prst="rect">
            <a:avLst/>
          </a:prstGeom>
          <a:solidFill>
            <a:srgbClr val="D32F2F"/>
          </a:solidFill>
          <a:ln w="12700">
            <a:solidFill>
              <a:srgbClr val="D32F2F"/>
            </a:solidFill>
            <a:prstDash val="solid"/>
          </a:ln>
        </p:spPr>
      </p:sp>
      <p:sp>
        <p:nvSpPr>
          <p:cNvPr id="27" name="Text 25"/>
          <p:cNvSpPr txBox="1"/>
          <p:nvPr/>
        </p:nvSpPr>
        <p:spPr>
          <a:xfrm>
            <a:off x="6254496" y="1234440"/>
            <a:ext cx="256032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Liability &amp;</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Akuntabilitas Hukum</a:t>
            </a:r>
            <a:endParaRPr lang="en-US" sz="1100" dirty="0"/>
          </a:p>
        </p:txBody>
      </p:sp>
      <p:sp>
        <p:nvSpPr>
          <p:cNvPr id="28" name="Shape 26"/>
          <p:cNvSpPr/>
          <p:nvPr/>
        </p:nvSpPr>
        <p:spPr>
          <a:xfrm>
            <a:off x="6300216" y="1709928"/>
            <a:ext cx="2468880" cy="9144"/>
          </a:xfrm>
          <a:prstGeom prst="rect">
            <a:avLst/>
          </a:prstGeom>
          <a:solidFill>
            <a:srgbClr val="D32F2F"/>
          </a:solidFill>
          <a:ln w="12700">
            <a:solidFill>
              <a:srgbClr val="D32F2F"/>
            </a:solidFill>
            <a:prstDash val="solid"/>
          </a:ln>
        </p:spPr>
      </p:sp>
      <p:sp>
        <p:nvSpPr>
          <p:cNvPr id="29" name="Text 27"/>
          <p:cNvSpPr txBox="1"/>
          <p:nvPr/>
        </p:nvSpPr>
        <p:spPr>
          <a:xfrm>
            <a:off x="6300216" y="1737360"/>
            <a:ext cx="2468880" cy="50292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Risiko: Jika sinyal "aman" tapi klaim ditolak — siapa bertanggung jawab?</a:t>
            </a:r>
            <a:endParaRPr lang="en-US" sz="900" dirty="0"/>
          </a:p>
        </p:txBody>
      </p:sp>
      <p:sp>
        <p:nvSpPr>
          <p:cNvPr id="30" name="Text 28"/>
          <p:cNvSpPr txBox="1"/>
          <p:nvPr/>
        </p:nvSpPr>
        <p:spPr>
          <a:xfrm>
            <a:off x="6300216" y="2304288"/>
            <a:ext cx="2468880" cy="228600"/>
          </a:xfrm>
          <a:prstGeom prst="rect">
            <a:avLst/>
          </a:prstGeom>
          <a:noFill/>
          <a:ln/>
        </p:spPr>
        <p:txBody>
          <a:bodyPr wrap="square" lIns="0" tIns="0" rIns="0" bIns="0" rtlCol="0" anchor="ctr"/>
          <a:lstStyle/>
          <a:p>
            <a:pPr indent="0" marL="0">
              <a:buNone/>
            </a:pPr>
            <a:r>
              <a:rPr lang="en-US" sz="900" b="1" dirty="0">
                <a:solidFill>
                  <a:srgbClr val="D32F2F"/>
                </a:solidFill>
                <a:latin typeface="Calibri" pitchFamily="34" charset="0"/>
                <a:ea typeface="Calibri" pitchFamily="34" charset="-122"/>
                <a:cs typeface="Calibri" pitchFamily="34" charset="-120"/>
              </a:rPr>
              <a:t>Mitigasi:</a:t>
            </a:r>
            <a:endParaRPr lang="en-US" sz="900" dirty="0"/>
          </a:p>
        </p:txBody>
      </p:sp>
      <p:sp>
        <p:nvSpPr>
          <p:cNvPr id="31" name="Text 29"/>
          <p:cNvSpPr txBox="1"/>
          <p:nvPr/>
        </p:nvSpPr>
        <p:spPr>
          <a:xfrm>
            <a:off x="6300216" y="2514600"/>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TilikKlaim = alat bantu, BUKAN penjamin klaim</a:t>
            </a:r>
            <a:endParaRPr lang="en-US" sz="900" dirty="0"/>
          </a:p>
        </p:txBody>
      </p:sp>
      <p:sp>
        <p:nvSpPr>
          <p:cNvPr id="32" name="Text 30"/>
          <p:cNvSpPr txBox="1"/>
          <p:nvPr/>
        </p:nvSpPr>
        <p:spPr>
          <a:xfrm>
            <a:off x="6300216" y="2916936"/>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ToS eksplisit: keputusan final ada pada casemix</a:t>
            </a:r>
            <a:endParaRPr lang="en-US" sz="900" dirty="0"/>
          </a:p>
        </p:txBody>
      </p:sp>
      <p:sp>
        <p:nvSpPr>
          <p:cNvPr id="33" name="Text 31"/>
          <p:cNvSpPr txBox="1"/>
          <p:nvPr/>
        </p:nvSpPr>
        <p:spPr>
          <a:xfrm>
            <a:off x="6300216" y="3319272"/>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Audit trail immutable: setiap disposisi tercatat</a:t>
            </a:r>
            <a:endParaRPr lang="en-US" sz="900" dirty="0"/>
          </a:p>
        </p:txBody>
      </p:sp>
      <p:sp>
        <p:nvSpPr>
          <p:cNvPr id="34" name="Text 32"/>
          <p:cNvSpPr txBox="1"/>
          <p:nvPr/>
        </p:nvSpPr>
        <p:spPr>
          <a:xfrm>
            <a:off x="6300216" y="3721608"/>
            <a:ext cx="24688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 Human-in-the-loop wajib — tidak ada auto-approve</a:t>
            </a:r>
            <a:endParaRPr lang="en-US" sz="900" dirty="0"/>
          </a:p>
        </p:txBody>
      </p:sp>
      <p:sp>
        <p:nvSpPr>
          <p:cNvPr id="35" name="Shape 33"/>
          <p:cNvSpPr/>
          <p:nvPr/>
        </p:nvSpPr>
        <p:spPr>
          <a:xfrm>
            <a:off x="274320" y="4187952"/>
            <a:ext cx="8549640" cy="868680"/>
          </a:xfrm>
          <a:prstGeom prst="rect">
            <a:avLst/>
          </a:prstGeom>
          <a:solidFill>
            <a:srgbClr val="E8EAF6"/>
          </a:solidFill>
          <a:ln w="12700">
            <a:solidFill>
              <a:srgbClr val="0C2461"/>
            </a:solidFill>
            <a:prstDash val="solid"/>
          </a:ln>
          <a:effectLst>
            <a:outerShdw sx="100000" sy="100000" kx="0" ky="0" algn="bl" rotWithShape="0" blurRad="50800" dist="25400" dir="2700000">
              <a:srgbClr val="94A3B8">
                <a:alpha val="15000"/>
              </a:srgbClr>
            </a:outerShdw>
          </a:effectLst>
        </p:spPr>
      </p:sp>
      <p:sp>
        <p:nvSpPr>
          <p:cNvPr id="36" name="Text 34"/>
          <p:cNvSpPr txBox="1"/>
          <p:nvPr/>
        </p:nvSpPr>
        <p:spPr>
          <a:xfrm>
            <a:off x="365760" y="4233672"/>
            <a:ext cx="2011680" cy="256032"/>
          </a:xfrm>
          <a:prstGeom prst="rect">
            <a:avLst/>
          </a:prstGeom>
          <a:noFill/>
          <a:ln/>
        </p:spPr>
        <p:txBody>
          <a:bodyPr wrap="square" lIns="0" tIns="0" rIns="0" bIns="0" rtlCol="0" anchor="ctr"/>
          <a:lstStyle/>
          <a:p>
            <a:pPr indent="0" marL="0">
              <a:buNone/>
            </a:pPr>
            <a:r>
              <a:rPr lang="en-US" sz="900" b="1" dirty="0">
                <a:solidFill>
                  <a:srgbClr val="0C2461"/>
                </a:solidFill>
                <a:latin typeface="Calibri" pitchFamily="34" charset="0"/>
                <a:ea typeface="Calibri" pitchFamily="34" charset="-122"/>
                <a:cs typeface="Calibri" pitchFamily="34" charset="-120"/>
              </a:rPr>
              <a:t>■  PRIVACY BY DESIGN</a:t>
            </a:r>
            <a:endParaRPr lang="en-US" sz="900" dirty="0"/>
          </a:p>
        </p:txBody>
      </p:sp>
      <p:sp>
        <p:nvSpPr>
          <p:cNvPr id="37" name="Text 35"/>
          <p:cNvSpPr txBox="1"/>
          <p:nvPr/>
        </p:nvSpPr>
        <p:spPr>
          <a:xfrm>
            <a:off x="365760" y="4489704"/>
            <a:ext cx="2011680" cy="502920"/>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Data tetap di faskes</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Tidak ada transfer tanpa consent</a:t>
            </a:r>
            <a:endParaRPr lang="en-US" sz="850" dirty="0"/>
          </a:p>
        </p:txBody>
      </p:sp>
      <p:sp>
        <p:nvSpPr>
          <p:cNvPr id="38" name="Text 36"/>
          <p:cNvSpPr txBox="1"/>
          <p:nvPr/>
        </p:nvSpPr>
        <p:spPr>
          <a:xfrm>
            <a:off x="2514600" y="4233672"/>
            <a:ext cx="2011680" cy="256032"/>
          </a:xfrm>
          <a:prstGeom prst="rect">
            <a:avLst/>
          </a:prstGeom>
          <a:noFill/>
          <a:ln/>
        </p:spPr>
        <p:txBody>
          <a:bodyPr wrap="square" lIns="0" tIns="0" rIns="0" bIns="0" rtlCol="0" anchor="ctr"/>
          <a:lstStyle/>
          <a:p>
            <a:pPr indent="0" marL="0">
              <a:buNone/>
            </a:pPr>
            <a:r>
              <a:rPr lang="en-US" sz="900" b="1" dirty="0">
                <a:solidFill>
                  <a:srgbClr val="0C2461"/>
                </a:solidFill>
                <a:latin typeface="Calibri" pitchFamily="34" charset="0"/>
                <a:ea typeface="Calibri" pitchFamily="34" charset="-122"/>
                <a:cs typeface="Calibri" pitchFamily="34" charset="-120"/>
              </a:rPr>
              <a:t>◎  HUMAN-IN-THE-LOOP</a:t>
            </a:r>
            <a:endParaRPr lang="en-US" sz="900" dirty="0"/>
          </a:p>
        </p:txBody>
      </p:sp>
      <p:sp>
        <p:nvSpPr>
          <p:cNvPr id="39" name="Text 37"/>
          <p:cNvSpPr txBox="1"/>
          <p:nvPr/>
        </p:nvSpPr>
        <p:spPr>
          <a:xfrm>
            <a:off x="2514600" y="4489704"/>
            <a:ext cx="2011680" cy="502920"/>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Sistem melaporkan</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Manusia memutuskan</a:t>
            </a:r>
            <a:endParaRPr lang="en-US" sz="850" dirty="0"/>
          </a:p>
        </p:txBody>
      </p:sp>
      <p:sp>
        <p:nvSpPr>
          <p:cNvPr id="40" name="Text 38"/>
          <p:cNvSpPr txBox="1"/>
          <p:nvPr/>
        </p:nvSpPr>
        <p:spPr>
          <a:xfrm>
            <a:off x="4663440" y="4233672"/>
            <a:ext cx="2011680" cy="256032"/>
          </a:xfrm>
          <a:prstGeom prst="rect">
            <a:avLst/>
          </a:prstGeom>
          <a:noFill/>
          <a:ln/>
        </p:spPr>
        <p:txBody>
          <a:bodyPr wrap="square" lIns="0" tIns="0" rIns="0" bIns="0" rtlCol="0" anchor="ctr"/>
          <a:lstStyle/>
          <a:p>
            <a:pPr indent="0" marL="0">
              <a:buNone/>
            </a:pPr>
            <a:r>
              <a:rPr lang="en-US" sz="900" b="1" dirty="0">
                <a:solidFill>
                  <a:srgbClr val="0C2461"/>
                </a:solidFill>
                <a:latin typeface="Calibri" pitchFamily="34" charset="0"/>
                <a:ea typeface="Calibri" pitchFamily="34" charset="-122"/>
                <a:cs typeface="Calibri" pitchFamily="34" charset="-120"/>
              </a:rPr>
              <a:t>■  AUDIT TRAIL</a:t>
            </a:r>
            <a:endParaRPr lang="en-US" sz="900" dirty="0"/>
          </a:p>
        </p:txBody>
      </p:sp>
      <p:sp>
        <p:nvSpPr>
          <p:cNvPr id="41" name="Text 39"/>
          <p:cNvSpPr txBox="1"/>
          <p:nvPr/>
        </p:nvSpPr>
        <p:spPr>
          <a:xfrm>
            <a:off x="4663440" y="4489704"/>
            <a:ext cx="2011680" cy="502920"/>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Setiap keputusan tercatat</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Tidak dapat dihapus</a:t>
            </a:r>
            <a:endParaRPr lang="en-US" sz="850" dirty="0"/>
          </a:p>
        </p:txBody>
      </p:sp>
      <p:sp>
        <p:nvSpPr>
          <p:cNvPr id="42" name="Text 40"/>
          <p:cNvSpPr txBox="1"/>
          <p:nvPr/>
        </p:nvSpPr>
        <p:spPr>
          <a:xfrm>
            <a:off x="6812280" y="4233672"/>
            <a:ext cx="2011680" cy="256032"/>
          </a:xfrm>
          <a:prstGeom prst="rect">
            <a:avLst/>
          </a:prstGeom>
          <a:noFill/>
          <a:ln/>
        </p:spPr>
        <p:txBody>
          <a:bodyPr wrap="square" lIns="0" tIns="0" rIns="0" bIns="0" rtlCol="0" anchor="ctr"/>
          <a:lstStyle/>
          <a:p>
            <a:pPr indent="0" marL="0">
              <a:buNone/>
            </a:pPr>
            <a:r>
              <a:rPr lang="en-US" sz="900" b="1" dirty="0">
                <a:solidFill>
                  <a:srgbClr val="0C2461"/>
                </a:solidFill>
                <a:latin typeface="Calibri" pitchFamily="34" charset="0"/>
                <a:ea typeface="Calibri" pitchFamily="34" charset="-122"/>
                <a:cs typeface="Calibri" pitchFamily="34" charset="-120"/>
              </a:rPr>
              <a:t>◆  REGULASI</a:t>
            </a:r>
            <a:endParaRPr lang="en-US" sz="900" dirty="0"/>
          </a:p>
        </p:txBody>
      </p:sp>
      <p:sp>
        <p:nvSpPr>
          <p:cNvPr id="43" name="Text 41"/>
          <p:cNvSpPr txBox="1"/>
          <p:nvPr/>
        </p:nvSpPr>
        <p:spPr>
          <a:xfrm>
            <a:off x="6812280" y="4489704"/>
            <a:ext cx="2011680" cy="502920"/>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UU PDP + Permenkes No. 24/2022</a:t>
            </a:r>
            <a:endParaRPr lang="en-US" sz="850" dirty="0"/>
          </a:p>
          <a:p>
            <a:pPr indent="0" marL="0">
              <a:buNone/>
            </a:pPr>
            <a:r>
              <a:rPr lang="en-US" sz="850" dirty="0">
                <a:solidFill>
                  <a:srgbClr val="334155"/>
                </a:solidFill>
                <a:latin typeface="Calibri" pitchFamily="34" charset="0"/>
                <a:ea typeface="Calibri" pitchFamily="34" charset="-122"/>
                <a:cs typeface="Calibri" pitchFamily="34" charset="-120"/>
              </a:rPr>
              <a:t>SATUSEHAT / HL7/FHIR R4 ready</a:t>
            </a:r>
            <a:endParaRPr lang="en-US" sz="850" dirty="0"/>
          </a:p>
        </p:txBody>
      </p:sp>
      <p:sp>
        <p:nvSpPr>
          <p:cNvPr id="44" name="Text 42"/>
          <p:cNvSpPr txBox="1"/>
          <p:nvPr/>
        </p:nvSpPr>
        <p:spPr>
          <a:xfrm>
            <a:off x="7955280" y="4892040"/>
            <a:ext cx="10972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Slide 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24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897B"/>
          </a:solidFill>
          <a:ln w="12700">
            <a:solidFill>
              <a:srgbClr val="00897B"/>
            </a:solidFill>
            <a:prstDash val="solid"/>
          </a:ln>
        </p:spPr>
      </p:sp>
      <p:sp>
        <p:nvSpPr>
          <p:cNvPr id="3" name="Shape 1"/>
          <p:cNvSpPr/>
          <p:nvPr/>
        </p:nvSpPr>
        <p:spPr>
          <a:xfrm>
            <a:off x="164592" y="0"/>
            <a:ext cx="8979408" cy="109728"/>
          </a:xfrm>
          <a:prstGeom prst="rect">
            <a:avLst/>
          </a:prstGeom>
          <a:solidFill>
            <a:srgbClr val="00897B"/>
          </a:solidFill>
          <a:ln w="12700">
            <a:solidFill>
              <a:srgbClr val="00897B"/>
            </a:solidFill>
            <a:prstDash val="solid"/>
          </a:ln>
        </p:spPr>
      </p:sp>
      <p:sp>
        <p:nvSpPr>
          <p:cNvPr id="4" name="Shape 2"/>
          <p:cNvSpPr/>
          <p:nvPr/>
        </p:nvSpPr>
        <p:spPr>
          <a:xfrm>
            <a:off x="0" y="0"/>
            <a:ext cx="9144000" cy="502920"/>
          </a:xfrm>
          <a:prstGeom prst="rect">
            <a:avLst/>
          </a:prstGeom>
          <a:solidFill>
            <a:srgbClr val="0A1E40"/>
          </a:solidFill>
          <a:ln w="12700">
            <a:solidFill>
              <a:srgbClr val="0A1E40"/>
            </a:solidFill>
            <a:prstDash val="solid"/>
          </a:ln>
        </p:spPr>
      </p:sp>
      <p:sp>
        <p:nvSpPr>
          <p:cNvPr id="5" name="Text 3"/>
          <p:cNvSpPr txBox="1"/>
          <p:nvPr/>
        </p:nvSpPr>
        <p:spPr>
          <a:xfrm>
            <a:off x="365760" y="0"/>
            <a:ext cx="8412480" cy="5029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B9  ·  PROFIL &amp; PENGALAMAN TIM</a:t>
            </a:r>
            <a:endParaRPr lang="en-US" sz="1100" dirty="0"/>
          </a:p>
        </p:txBody>
      </p:sp>
      <p:sp>
        <p:nvSpPr>
          <p:cNvPr id="6" name="Text 4"/>
          <p:cNvSpPr txBox="1"/>
          <p:nvPr/>
        </p:nvSpPr>
        <p:spPr>
          <a:xfrm>
            <a:off x="365760" y="621792"/>
            <a:ext cx="841248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Tim TilikKlaim</a:t>
            </a:r>
            <a:endParaRPr lang="en-US" sz="3200" dirty="0"/>
          </a:p>
        </p:txBody>
      </p:sp>
      <p:sp>
        <p:nvSpPr>
          <p:cNvPr id="7" name="Shape 5"/>
          <p:cNvSpPr/>
          <p:nvPr/>
        </p:nvSpPr>
        <p:spPr>
          <a:xfrm>
            <a:off x="457200" y="1325880"/>
            <a:ext cx="2560320" cy="3429000"/>
          </a:xfrm>
          <a:prstGeom prst="roundRect">
            <a:avLst>
              <a:gd name="adj" fmla="val 3571"/>
            </a:avLst>
          </a:prstGeom>
          <a:solidFill>
            <a:srgbClr val="152D5A"/>
          </a:solidFill>
          <a:ln w="12700">
            <a:solidFill>
              <a:srgbClr val="F59E0B"/>
            </a:solidFill>
            <a:prstDash val="solid"/>
          </a:ln>
        </p:spPr>
      </p:sp>
      <p:sp>
        <p:nvSpPr>
          <p:cNvPr id="8" name="Shape 6"/>
          <p:cNvSpPr/>
          <p:nvPr/>
        </p:nvSpPr>
        <p:spPr>
          <a:xfrm>
            <a:off x="1325880" y="1481328"/>
            <a:ext cx="822960" cy="822960"/>
          </a:xfrm>
          <a:prstGeom prst="ellipse">
            <a:avLst/>
          </a:prstGeom>
          <a:solidFill>
            <a:srgbClr val="F59E0B"/>
          </a:solidFill>
          <a:ln w="12700">
            <a:solidFill>
              <a:srgbClr val="F59E0B"/>
            </a:solidFill>
            <a:prstDash val="solid"/>
          </a:ln>
        </p:spPr>
      </p:sp>
      <p:sp>
        <p:nvSpPr>
          <p:cNvPr id="9" name="Text 7"/>
          <p:cNvSpPr txBox="1"/>
          <p:nvPr/>
        </p:nvSpPr>
        <p:spPr>
          <a:xfrm>
            <a:off x="1325880" y="1481328"/>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a:t>
            </a:r>
            <a:endParaRPr lang="en-US" sz="2200" dirty="0"/>
          </a:p>
        </p:txBody>
      </p:sp>
      <p:sp>
        <p:nvSpPr>
          <p:cNvPr id="10" name="Text 8"/>
          <p:cNvSpPr txBox="1"/>
          <p:nvPr/>
        </p:nvSpPr>
        <p:spPr>
          <a:xfrm>
            <a:off x="548640" y="2395728"/>
            <a:ext cx="23774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Luthfi Ardiansyah</a:t>
            </a:r>
            <a:endParaRPr lang="en-US" sz="1600" dirty="0"/>
          </a:p>
        </p:txBody>
      </p:sp>
      <p:sp>
        <p:nvSpPr>
          <p:cNvPr id="11" name="Shape 9"/>
          <p:cNvSpPr/>
          <p:nvPr/>
        </p:nvSpPr>
        <p:spPr>
          <a:xfrm>
            <a:off x="914400" y="2743200"/>
            <a:ext cx="1645920" cy="219456"/>
          </a:xfrm>
          <a:prstGeom prst="roundRect">
            <a:avLst>
              <a:gd name="adj" fmla="val 16667"/>
            </a:avLst>
          </a:prstGeom>
          <a:solidFill>
            <a:srgbClr val="F59E0B"/>
          </a:solidFill>
          <a:ln w="12700">
            <a:solidFill>
              <a:srgbClr val="F59E0B"/>
            </a:solidFill>
            <a:prstDash val="solid"/>
          </a:ln>
        </p:spPr>
      </p:sp>
      <p:sp>
        <p:nvSpPr>
          <p:cNvPr id="12" name="Text 10"/>
          <p:cNvSpPr txBox="1"/>
          <p:nvPr/>
        </p:nvSpPr>
        <p:spPr>
          <a:xfrm>
            <a:off x="914400" y="2743200"/>
            <a:ext cx="1645920" cy="219456"/>
          </a:xfrm>
          <a:prstGeom prst="rect">
            <a:avLst/>
          </a:prstGeom>
          <a:noFill/>
          <a:ln/>
        </p:spPr>
        <p:txBody>
          <a:bodyPr wrap="square" lIns="0" tIns="0" rIns="0" bIns="0" rtlCol="0" anchor="ctr"/>
          <a:lstStyle/>
          <a:p>
            <a:pPr algn="ctr" indent="0" marL="0">
              <a:buNone/>
            </a:pPr>
            <a:r>
              <a:rPr lang="en-US" sz="800" b="1" dirty="0">
                <a:solidFill>
                  <a:srgbClr val="0C2461"/>
                </a:solidFill>
                <a:latin typeface="Calibri" pitchFamily="34" charset="0"/>
                <a:ea typeface="Calibri" pitchFamily="34" charset="-122"/>
                <a:cs typeface="Calibri" pitchFamily="34" charset="-120"/>
              </a:rPr>
              <a:t>KETUA TIM</a:t>
            </a:r>
            <a:endParaRPr lang="en-US" sz="800" dirty="0"/>
          </a:p>
        </p:txBody>
      </p:sp>
      <p:sp>
        <p:nvSpPr>
          <p:cNvPr id="13" name="Text 11"/>
          <p:cNvSpPr txBox="1"/>
          <p:nvPr/>
        </p:nvSpPr>
        <p:spPr>
          <a:xfrm>
            <a:off x="548640" y="2990088"/>
            <a:ext cx="2377440" cy="201168"/>
          </a:xfrm>
          <a:prstGeom prst="rect">
            <a:avLst/>
          </a:prstGeom>
          <a:noFill/>
          <a:ln/>
        </p:spPr>
        <p:txBody>
          <a:bodyPr wrap="square" lIns="0" tIns="0" rIns="0" bIns="0" rtlCol="0" anchor="ctr"/>
          <a:lstStyle/>
          <a:p>
            <a:pPr algn="ctr" indent="0" marL="0">
              <a:buNone/>
            </a:pPr>
            <a:r>
              <a:rPr lang="en-US" sz="900" i="1" dirty="0">
                <a:solidFill>
                  <a:srgbClr val="8FB8D9"/>
                </a:solidFill>
                <a:latin typeface="Calibri" pitchFamily="34" charset="0"/>
                <a:ea typeface="Calibri" pitchFamily="34" charset="-122"/>
                <a:cs typeface="Calibri" pitchFamily="34" charset="-120"/>
              </a:rPr>
              <a:t>Mahasiswa</a:t>
            </a:r>
            <a:endParaRPr lang="en-US" sz="900" dirty="0"/>
          </a:p>
        </p:txBody>
      </p:sp>
      <p:sp>
        <p:nvSpPr>
          <p:cNvPr id="14" name="Text 12"/>
          <p:cNvSpPr txBox="1"/>
          <p:nvPr/>
        </p:nvSpPr>
        <p:spPr>
          <a:xfrm>
            <a:off x="594360" y="3200400"/>
            <a:ext cx="22860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Product Lead &amp; Domain Research</a:t>
            </a:r>
            <a:endParaRPr lang="en-US" sz="900" dirty="0"/>
          </a:p>
        </p:txBody>
      </p:sp>
      <p:sp>
        <p:nvSpPr>
          <p:cNvPr id="15" name="Text 13"/>
          <p:cNvSpPr txBox="1"/>
          <p:nvPr/>
        </p:nvSpPr>
        <p:spPr>
          <a:xfrm>
            <a:off x="640080" y="3566160"/>
            <a:ext cx="2194560" cy="1097280"/>
          </a:xfrm>
          <a:prstGeom prst="rect">
            <a:avLst/>
          </a:prstGeom>
          <a:noFill/>
          <a:ln/>
        </p:spPr>
        <p:txBody>
          <a:bodyPr wrap="square" lIns="0" tIns="0" rIns="0" bIns="0" rtlCol="0" anchor="ctr"/>
          <a:lstStyle/>
          <a:p>
            <a:pPr indent="0" marL="0">
              <a:buNone/>
            </a:pPr>
            <a:r>
              <a:rPr lang="en-US" sz="900" dirty="0">
                <a:solidFill>
                  <a:srgbClr val="B0C4DE"/>
                </a:solidFill>
                <a:latin typeface="Calibri" pitchFamily="34" charset="0"/>
                <a:ea typeface="Calibri" pitchFamily="34" charset="-122"/>
                <a:cs typeface="Calibri" pitchFamily="34" charset="-120"/>
              </a:rPr>
              <a:t>• Product Strategy</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Domain JKN &amp; Casemix</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Riset &amp; Validasi Klaim</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Koordinasi Tim</a:t>
            </a:r>
            <a:endParaRPr lang="en-US" sz="900" dirty="0"/>
          </a:p>
        </p:txBody>
      </p:sp>
      <p:sp>
        <p:nvSpPr>
          <p:cNvPr id="16" name="Shape 14"/>
          <p:cNvSpPr/>
          <p:nvPr/>
        </p:nvSpPr>
        <p:spPr>
          <a:xfrm>
            <a:off x="3291840" y="1325880"/>
            <a:ext cx="2560320" cy="3429000"/>
          </a:xfrm>
          <a:prstGeom prst="roundRect">
            <a:avLst>
              <a:gd name="adj" fmla="val 3571"/>
            </a:avLst>
          </a:prstGeom>
          <a:solidFill>
            <a:srgbClr val="152D5A"/>
          </a:solidFill>
          <a:ln w="12700">
            <a:solidFill>
              <a:srgbClr val="00897B"/>
            </a:solidFill>
            <a:prstDash val="solid"/>
          </a:ln>
        </p:spPr>
      </p:sp>
      <p:sp>
        <p:nvSpPr>
          <p:cNvPr id="17" name="Shape 15"/>
          <p:cNvSpPr/>
          <p:nvPr/>
        </p:nvSpPr>
        <p:spPr>
          <a:xfrm>
            <a:off x="4160520" y="1481328"/>
            <a:ext cx="822960" cy="822960"/>
          </a:xfrm>
          <a:prstGeom prst="ellipse">
            <a:avLst/>
          </a:prstGeom>
          <a:solidFill>
            <a:srgbClr val="00897B"/>
          </a:solidFill>
          <a:ln w="12700">
            <a:solidFill>
              <a:srgbClr val="00897B"/>
            </a:solidFill>
            <a:prstDash val="solid"/>
          </a:ln>
        </p:spPr>
      </p:sp>
      <p:sp>
        <p:nvSpPr>
          <p:cNvPr id="18" name="Text 16"/>
          <p:cNvSpPr txBox="1"/>
          <p:nvPr/>
        </p:nvSpPr>
        <p:spPr>
          <a:xfrm>
            <a:off x="4160520" y="1481328"/>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a:t>
            </a:r>
            <a:endParaRPr lang="en-US" sz="2200" dirty="0"/>
          </a:p>
        </p:txBody>
      </p:sp>
      <p:sp>
        <p:nvSpPr>
          <p:cNvPr id="19" name="Text 17"/>
          <p:cNvSpPr txBox="1"/>
          <p:nvPr/>
        </p:nvSpPr>
        <p:spPr>
          <a:xfrm>
            <a:off x="3383280" y="2395728"/>
            <a:ext cx="23774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Fahri Alfiansyah</a:t>
            </a:r>
            <a:endParaRPr lang="en-US" sz="1600" dirty="0"/>
          </a:p>
        </p:txBody>
      </p:sp>
      <p:sp>
        <p:nvSpPr>
          <p:cNvPr id="20" name="Shape 18"/>
          <p:cNvSpPr/>
          <p:nvPr/>
        </p:nvSpPr>
        <p:spPr>
          <a:xfrm>
            <a:off x="3749040" y="2743200"/>
            <a:ext cx="1645920" cy="219456"/>
          </a:xfrm>
          <a:prstGeom prst="roundRect">
            <a:avLst>
              <a:gd name="adj" fmla="val 16667"/>
            </a:avLst>
          </a:prstGeom>
          <a:solidFill>
            <a:srgbClr val="1A3A6B"/>
          </a:solidFill>
          <a:ln w="12700">
            <a:solidFill>
              <a:srgbClr val="00897B"/>
            </a:solidFill>
            <a:prstDash val="solid"/>
          </a:ln>
        </p:spPr>
      </p:sp>
      <p:sp>
        <p:nvSpPr>
          <p:cNvPr id="21" name="Text 19"/>
          <p:cNvSpPr txBox="1"/>
          <p:nvPr/>
        </p:nvSpPr>
        <p:spPr>
          <a:xfrm>
            <a:off x="3749040" y="2743200"/>
            <a:ext cx="1645920" cy="219456"/>
          </a:xfrm>
          <a:prstGeom prst="rect">
            <a:avLst/>
          </a:prstGeom>
          <a:noFill/>
          <a:ln/>
        </p:spPr>
        <p:txBody>
          <a:bodyPr wrap="square" lIns="0" tIns="0" rIns="0" bIns="0" rtlCol="0" anchor="ctr"/>
          <a:lstStyle/>
          <a:p>
            <a:pPr algn="ctr" indent="0" marL="0">
              <a:buNone/>
            </a:pPr>
            <a:r>
              <a:rPr lang="en-US" sz="800" b="1" dirty="0">
                <a:solidFill>
                  <a:srgbClr val="00897B"/>
                </a:solidFill>
                <a:latin typeface="Calibri" pitchFamily="34" charset="0"/>
                <a:ea typeface="Calibri" pitchFamily="34" charset="-122"/>
                <a:cs typeface="Calibri" pitchFamily="34" charset="-120"/>
              </a:rPr>
              <a:t>ANGGOTA TIM</a:t>
            </a:r>
            <a:endParaRPr lang="en-US" sz="800" dirty="0"/>
          </a:p>
        </p:txBody>
      </p:sp>
      <p:sp>
        <p:nvSpPr>
          <p:cNvPr id="22" name="Text 20"/>
          <p:cNvSpPr txBox="1"/>
          <p:nvPr/>
        </p:nvSpPr>
        <p:spPr>
          <a:xfrm>
            <a:off x="3383280" y="2990088"/>
            <a:ext cx="2377440" cy="201168"/>
          </a:xfrm>
          <a:prstGeom prst="rect">
            <a:avLst/>
          </a:prstGeom>
          <a:noFill/>
          <a:ln/>
        </p:spPr>
        <p:txBody>
          <a:bodyPr wrap="square" lIns="0" tIns="0" rIns="0" bIns="0" rtlCol="0" anchor="ctr"/>
          <a:lstStyle/>
          <a:p>
            <a:pPr algn="ctr" indent="0" marL="0">
              <a:buNone/>
            </a:pPr>
            <a:r>
              <a:rPr lang="en-US" sz="900" i="1" dirty="0">
                <a:solidFill>
                  <a:srgbClr val="8FB8D9"/>
                </a:solidFill>
                <a:latin typeface="Calibri" pitchFamily="34" charset="0"/>
                <a:ea typeface="Calibri" pitchFamily="34" charset="-122"/>
                <a:cs typeface="Calibri" pitchFamily="34" charset="-120"/>
              </a:rPr>
              <a:t>Karyawan</a:t>
            </a:r>
            <a:endParaRPr lang="en-US" sz="900" dirty="0"/>
          </a:p>
        </p:txBody>
      </p:sp>
      <p:sp>
        <p:nvSpPr>
          <p:cNvPr id="23" name="Text 21"/>
          <p:cNvSpPr txBox="1"/>
          <p:nvPr/>
        </p:nvSpPr>
        <p:spPr>
          <a:xfrm>
            <a:off x="3429000" y="3200400"/>
            <a:ext cx="22860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Backend · API · AI Architecture</a:t>
            </a:r>
            <a:endParaRPr lang="en-US" sz="900" dirty="0"/>
          </a:p>
        </p:txBody>
      </p:sp>
      <p:sp>
        <p:nvSpPr>
          <p:cNvPr id="24" name="Text 22"/>
          <p:cNvSpPr txBox="1"/>
          <p:nvPr/>
        </p:nvSpPr>
        <p:spPr>
          <a:xfrm>
            <a:off x="3474720" y="3566160"/>
            <a:ext cx="2194560" cy="1097280"/>
          </a:xfrm>
          <a:prstGeom prst="rect">
            <a:avLst/>
          </a:prstGeom>
          <a:noFill/>
          <a:ln/>
        </p:spPr>
        <p:txBody>
          <a:bodyPr wrap="square" lIns="0" tIns="0" rIns="0" bIns="0" rtlCol="0" anchor="ctr"/>
          <a:lstStyle/>
          <a:p>
            <a:pPr indent="0" marL="0">
              <a:buNone/>
            </a:pPr>
            <a:r>
              <a:rPr lang="en-US" sz="900" dirty="0">
                <a:solidFill>
                  <a:srgbClr val="B0C4DE"/>
                </a:solidFill>
                <a:latin typeface="Calibri" pitchFamily="34" charset="0"/>
                <a:ea typeface="Calibri" pitchFamily="34" charset="-122"/>
                <a:cs typeface="Calibri" pitchFamily="34" charset="-120"/>
              </a:rPr>
              <a:t>• Backend Engineering</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REST API &amp; FastAPI</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AI / Rules Architecture</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Database &amp; DevOps</a:t>
            </a:r>
            <a:endParaRPr lang="en-US" sz="900" dirty="0"/>
          </a:p>
        </p:txBody>
      </p:sp>
      <p:sp>
        <p:nvSpPr>
          <p:cNvPr id="25" name="Shape 23"/>
          <p:cNvSpPr/>
          <p:nvPr/>
        </p:nvSpPr>
        <p:spPr>
          <a:xfrm>
            <a:off x="6126480" y="1325880"/>
            <a:ext cx="2560320" cy="3429000"/>
          </a:xfrm>
          <a:prstGeom prst="roundRect">
            <a:avLst>
              <a:gd name="adj" fmla="val 3571"/>
            </a:avLst>
          </a:prstGeom>
          <a:solidFill>
            <a:srgbClr val="152D5A"/>
          </a:solidFill>
          <a:ln w="12700">
            <a:solidFill>
              <a:srgbClr val="00897B"/>
            </a:solidFill>
            <a:prstDash val="solid"/>
          </a:ln>
        </p:spPr>
      </p:sp>
      <p:sp>
        <p:nvSpPr>
          <p:cNvPr id="26" name="Shape 24"/>
          <p:cNvSpPr/>
          <p:nvPr/>
        </p:nvSpPr>
        <p:spPr>
          <a:xfrm>
            <a:off x="6995160" y="1481328"/>
            <a:ext cx="822960" cy="822960"/>
          </a:xfrm>
          <a:prstGeom prst="ellipse">
            <a:avLst/>
          </a:prstGeom>
          <a:solidFill>
            <a:srgbClr val="00897B"/>
          </a:solidFill>
          <a:ln w="12700">
            <a:solidFill>
              <a:srgbClr val="00897B"/>
            </a:solidFill>
            <a:prstDash val="solid"/>
          </a:ln>
        </p:spPr>
      </p:sp>
      <p:sp>
        <p:nvSpPr>
          <p:cNvPr id="27" name="Text 25"/>
          <p:cNvSpPr txBox="1"/>
          <p:nvPr/>
        </p:nvSpPr>
        <p:spPr>
          <a:xfrm>
            <a:off x="6995160" y="1481328"/>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a:t>
            </a:r>
            <a:endParaRPr lang="en-US" sz="2200" dirty="0"/>
          </a:p>
        </p:txBody>
      </p:sp>
      <p:sp>
        <p:nvSpPr>
          <p:cNvPr id="28" name="Text 26"/>
          <p:cNvSpPr txBox="1"/>
          <p:nvPr/>
        </p:nvSpPr>
        <p:spPr>
          <a:xfrm>
            <a:off x="6217920" y="2395728"/>
            <a:ext cx="23774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Dany Irfansyah</a:t>
            </a:r>
            <a:endParaRPr lang="en-US" sz="1600" dirty="0"/>
          </a:p>
        </p:txBody>
      </p:sp>
      <p:sp>
        <p:nvSpPr>
          <p:cNvPr id="29" name="Shape 27"/>
          <p:cNvSpPr/>
          <p:nvPr/>
        </p:nvSpPr>
        <p:spPr>
          <a:xfrm>
            <a:off x="6583680" y="2743200"/>
            <a:ext cx="1645920" cy="219456"/>
          </a:xfrm>
          <a:prstGeom prst="roundRect">
            <a:avLst>
              <a:gd name="adj" fmla="val 16667"/>
            </a:avLst>
          </a:prstGeom>
          <a:solidFill>
            <a:srgbClr val="1A3A6B"/>
          </a:solidFill>
          <a:ln w="12700">
            <a:solidFill>
              <a:srgbClr val="00897B"/>
            </a:solidFill>
            <a:prstDash val="solid"/>
          </a:ln>
        </p:spPr>
      </p:sp>
      <p:sp>
        <p:nvSpPr>
          <p:cNvPr id="30" name="Text 28"/>
          <p:cNvSpPr txBox="1"/>
          <p:nvPr/>
        </p:nvSpPr>
        <p:spPr>
          <a:xfrm>
            <a:off x="6583680" y="2743200"/>
            <a:ext cx="1645920" cy="219456"/>
          </a:xfrm>
          <a:prstGeom prst="rect">
            <a:avLst/>
          </a:prstGeom>
          <a:noFill/>
          <a:ln/>
        </p:spPr>
        <p:txBody>
          <a:bodyPr wrap="square" lIns="0" tIns="0" rIns="0" bIns="0" rtlCol="0" anchor="ctr"/>
          <a:lstStyle/>
          <a:p>
            <a:pPr algn="ctr" indent="0" marL="0">
              <a:buNone/>
            </a:pPr>
            <a:r>
              <a:rPr lang="en-US" sz="800" b="1" dirty="0">
                <a:solidFill>
                  <a:srgbClr val="00897B"/>
                </a:solidFill>
                <a:latin typeface="Calibri" pitchFamily="34" charset="0"/>
                <a:ea typeface="Calibri" pitchFamily="34" charset="-122"/>
                <a:cs typeface="Calibri" pitchFamily="34" charset="-120"/>
              </a:rPr>
              <a:t>ANGGOTA TIM</a:t>
            </a:r>
            <a:endParaRPr lang="en-US" sz="800" dirty="0"/>
          </a:p>
        </p:txBody>
      </p:sp>
      <p:sp>
        <p:nvSpPr>
          <p:cNvPr id="31" name="Text 29"/>
          <p:cNvSpPr txBox="1"/>
          <p:nvPr/>
        </p:nvSpPr>
        <p:spPr>
          <a:xfrm>
            <a:off x="6217920" y="2990088"/>
            <a:ext cx="2377440" cy="201168"/>
          </a:xfrm>
          <a:prstGeom prst="rect">
            <a:avLst/>
          </a:prstGeom>
          <a:noFill/>
          <a:ln/>
        </p:spPr>
        <p:txBody>
          <a:bodyPr wrap="square" lIns="0" tIns="0" rIns="0" bIns="0" rtlCol="0" anchor="ctr"/>
          <a:lstStyle/>
          <a:p>
            <a:pPr algn="ctr" indent="0" marL="0">
              <a:buNone/>
            </a:pPr>
            <a:r>
              <a:rPr lang="en-US" sz="900" i="1" dirty="0">
                <a:solidFill>
                  <a:srgbClr val="8FB8D9"/>
                </a:solidFill>
                <a:latin typeface="Calibri" pitchFamily="34" charset="0"/>
                <a:ea typeface="Calibri" pitchFamily="34" charset="-122"/>
                <a:cs typeface="Calibri" pitchFamily="34" charset="-120"/>
              </a:rPr>
              <a:t>Karyawan</a:t>
            </a:r>
            <a:endParaRPr lang="en-US" sz="900" dirty="0"/>
          </a:p>
        </p:txBody>
      </p:sp>
      <p:sp>
        <p:nvSpPr>
          <p:cNvPr id="32" name="Text 30"/>
          <p:cNvSpPr txBox="1"/>
          <p:nvPr/>
        </p:nvSpPr>
        <p:spPr>
          <a:xfrm>
            <a:off x="6263640" y="3200400"/>
            <a:ext cx="228600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Frontend · UI/UX Design</a:t>
            </a:r>
            <a:endParaRPr lang="en-US" sz="900" dirty="0"/>
          </a:p>
        </p:txBody>
      </p:sp>
      <p:sp>
        <p:nvSpPr>
          <p:cNvPr id="33" name="Text 31"/>
          <p:cNvSpPr txBox="1"/>
          <p:nvPr/>
        </p:nvSpPr>
        <p:spPr>
          <a:xfrm>
            <a:off x="6309360" y="3566160"/>
            <a:ext cx="2194560" cy="1097280"/>
          </a:xfrm>
          <a:prstGeom prst="rect">
            <a:avLst/>
          </a:prstGeom>
          <a:noFill/>
          <a:ln/>
        </p:spPr>
        <p:txBody>
          <a:bodyPr wrap="square" lIns="0" tIns="0" rIns="0" bIns="0" rtlCol="0" anchor="ctr"/>
          <a:lstStyle/>
          <a:p>
            <a:pPr indent="0" marL="0">
              <a:buNone/>
            </a:pPr>
            <a:r>
              <a:rPr lang="en-US" sz="900" dirty="0">
                <a:solidFill>
                  <a:srgbClr val="B0C4DE"/>
                </a:solidFill>
                <a:latin typeface="Calibri" pitchFamily="34" charset="0"/>
                <a:ea typeface="Calibri" pitchFamily="34" charset="-122"/>
                <a:cs typeface="Calibri" pitchFamily="34" charset="-120"/>
              </a:rPr>
              <a:t>• Frontend Development</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UI / UX Design</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React &amp; Component Library</a:t>
            </a:r>
            <a:endParaRPr lang="en-US" sz="900" dirty="0"/>
          </a:p>
          <a:p>
            <a:pPr indent="0" marL="0">
              <a:buNone/>
            </a:pPr>
            <a:r>
              <a:rPr lang="en-US" sz="900" dirty="0">
                <a:solidFill>
                  <a:srgbClr val="B0C4DE"/>
                </a:solidFill>
                <a:latin typeface="Calibri" pitchFamily="34" charset="0"/>
                <a:ea typeface="Calibri" pitchFamily="34" charset="-122"/>
                <a:cs typeface="Calibri" pitchFamily="34" charset="-120"/>
              </a:rPr>
              <a:t>• User Research</a:t>
            </a:r>
            <a:endParaRPr lang="en-US" sz="900" dirty="0"/>
          </a:p>
        </p:txBody>
      </p:sp>
      <p:sp>
        <p:nvSpPr>
          <p:cNvPr id="34" name="Text 32"/>
          <p:cNvSpPr txBox="1"/>
          <p:nvPr/>
        </p:nvSpPr>
        <p:spPr>
          <a:xfrm>
            <a:off x="457200" y="4663440"/>
            <a:ext cx="4572000" cy="274320"/>
          </a:xfrm>
          <a:prstGeom prst="rect">
            <a:avLst/>
          </a:prstGeom>
          <a:noFill/>
          <a:ln/>
        </p:spPr>
        <p:txBody>
          <a:bodyPr wrap="square" lIns="0" tIns="0" rIns="0" bIns="0" rtlCol="0" anchor="ctr"/>
          <a:lstStyle/>
          <a:p>
            <a:pPr indent="0" marL="0">
              <a:buNone/>
            </a:pPr>
            <a:r>
              <a:rPr lang="en-US" sz="1000" dirty="0">
                <a:solidFill>
                  <a:srgbClr val="00897B"/>
                </a:solidFill>
                <a:latin typeface="Calibri" pitchFamily="34" charset="0"/>
                <a:ea typeface="Calibri" pitchFamily="34" charset="-122"/>
                <a:cs typeface="Calibri" pitchFamily="34" charset="-120"/>
              </a:rPr>
              <a:t>▶  github.com/fahriialfiansyah/tilik-klaim</a:t>
            </a:r>
            <a:endParaRPr lang="en-US" sz="1000" dirty="0"/>
          </a:p>
        </p:txBody>
      </p:sp>
      <p:sp>
        <p:nvSpPr>
          <p:cNvPr id="35" name="Text 33"/>
          <p:cNvSpPr txBox="1"/>
          <p:nvPr/>
        </p:nvSpPr>
        <p:spPr>
          <a:xfrm>
            <a:off x="7955280" y="4892040"/>
            <a:ext cx="1097280" cy="182880"/>
          </a:xfrm>
          <a:prstGeom prst="rect">
            <a:avLst/>
          </a:prstGeom>
          <a:noFill/>
          <a:ln/>
        </p:spPr>
        <p:txBody>
          <a:bodyPr wrap="square" lIns="0" tIns="0" rIns="0" bIns="0" rtlCol="0" anchor="ctr"/>
          <a:lstStyle/>
          <a:p>
            <a:pPr indent="0" marL="0">
              <a:buNone/>
            </a:pPr>
            <a:r>
              <a:rPr lang="en-US" sz="900" dirty="0">
                <a:solidFill>
                  <a:srgbClr val="6B93B8"/>
                </a:solidFill>
                <a:latin typeface="Calibri" pitchFamily="34" charset="0"/>
                <a:ea typeface="Calibri" pitchFamily="34" charset="-122"/>
                <a:cs typeface="Calibri" pitchFamily="34" charset="-120"/>
              </a:rPr>
              <a:t>Slide 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2026-09-17T01:17:47Z</dcterms:created>
  <dcterms:modified xsi:type="dcterms:W3CDTF">2026-09-17T01:17:47Z</dcterms:modified>
</cp:coreProperties>
</file>