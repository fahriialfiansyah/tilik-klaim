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ini menunjukkan perbandingan kondisi sebelum dan sesudah TilikKlaim. Fokus pada 4 perubahan kunci yang langsung dirasakan pengguna internal faskes dan auditor BPJS.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ROI. Tiga skenario dengan asumsi eksplisit. Transparansi asumsi adalah nilai lebih di mata juri (lihat panduan: "Hindari overclaim"). WHO fraud rate 3-10% dijadikan ceiling, kami pakai 1-3% sebagai angka konservatif JKN.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kuadran penerima manfaat. Pastikan pesan BPJS Kesehatan ditekankan karena mereka adalah payer utama. Peserta JKN sebagai indirect beneficiary memperkuat framing dampak sistemik.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5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4F5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12801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B7 — Dampak &amp; Nilai  |  Sebelum vs Sesudah TilikKlaim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97764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C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3977640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0040" y="100584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  SEBELUM TilikKlaim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444752"/>
            <a:ext cx="3749040" cy="713232"/>
          </a:xfrm>
          <a:prstGeom prst="rect">
            <a:avLst/>
          </a:prstGeom>
          <a:solidFill>
            <a:srgbClr val="FDF0EE"/>
          </a:solidFill>
          <a:ln w="12700">
            <a:solidFill>
              <a:srgbClr val="F0C8C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4904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</a:rPr>
              <a:t>◉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1490472"/>
            <a:ext cx="3273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Verifikasi Manual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1719072"/>
            <a:ext cx="3273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24"/>
                </a:solidFill>
              </a:rPr>
              <a:t>Staf koding memeriksa tiap klaim satu per satu — tidak konsisten, bergantung pada keahlian individu.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2240280"/>
            <a:ext cx="3749040" cy="713232"/>
          </a:xfrm>
          <a:prstGeom prst="rect">
            <a:avLst/>
          </a:prstGeom>
          <a:solidFill>
            <a:srgbClr val="FDF0EE"/>
          </a:solidFill>
          <a:ln w="12700">
            <a:solidFill>
              <a:srgbClr val="F0C8C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</a:rPr>
              <a:t>◉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2286000"/>
            <a:ext cx="3273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Anomali Tak Terdeteksi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2514600"/>
            <a:ext cx="3273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24"/>
                </a:solidFill>
              </a:rPr>
              <a:t>Pola inflated bills &amp; cloning sulit dilihat tanpa perbandingan statistikal lintas klaim.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3035808"/>
            <a:ext cx="3749040" cy="713232"/>
          </a:xfrm>
          <a:prstGeom prst="rect">
            <a:avLst/>
          </a:prstGeom>
          <a:solidFill>
            <a:srgbClr val="FDF0EE"/>
          </a:solidFill>
          <a:ln w="12700">
            <a:solidFill>
              <a:srgbClr val="F0C8C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081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</a:rPr>
              <a:t>◉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3081528"/>
            <a:ext cx="3273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Feedback Loop Lambat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3310128"/>
            <a:ext cx="3273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24"/>
                </a:solidFill>
              </a:rPr>
              <a:t>Klaim dikirim ke BPJS terlebih dahulu → koreksi pasca-review memperpanjang siklus pembayaran.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3831336"/>
            <a:ext cx="3749040" cy="713232"/>
          </a:xfrm>
          <a:prstGeom prst="rect">
            <a:avLst/>
          </a:prstGeom>
          <a:solidFill>
            <a:srgbClr val="FDF0EE"/>
          </a:solidFill>
          <a:ln w="12700">
            <a:solidFill>
              <a:srgbClr val="F0C8C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8770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</a:rPr>
              <a:t>◉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3877056"/>
            <a:ext cx="3273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Tidak Ada Jejak Audit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4105656"/>
            <a:ext cx="3273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24"/>
                </a:solidFill>
              </a:rPr>
              <a:t>Alasan penerimaan/penolakan klaim tidak terdokumentasi secara sistematis.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34840" y="1005840"/>
            <a:ext cx="443484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A8D5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1005840"/>
            <a:ext cx="4434840" cy="329184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80560" y="1005840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 SESUDAH TilikKlaim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44568" y="1444752"/>
            <a:ext cx="4206240" cy="713232"/>
          </a:xfrm>
          <a:prstGeom prst="rect">
            <a:avLst/>
          </a:prstGeom>
          <a:solidFill>
            <a:srgbClr val="EEF8F2"/>
          </a:solidFill>
          <a:ln w="12700">
            <a:solidFill>
              <a:srgbClr val="B8DEC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17720" y="14904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7A4A"/>
                </a:solidFill>
              </a:rPr>
              <a:t>●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910328" y="1490472"/>
            <a:ext cx="3730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A4A"/>
                </a:solidFill>
              </a:rPr>
              <a:t>Deteksi Otomatis 4 Mode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910328" y="1719072"/>
            <a:ext cx="3730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24"/>
                </a:solidFill>
              </a:rPr>
              <a:t>Rules engine deterministik + statistikal memindai Phantom, Repeat, Upcoding, Inflated, dan Cloning secara konsisten.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44568" y="2240280"/>
            <a:ext cx="4206240" cy="713232"/>
          </a:xfrm>
          <a:prstGeom prst="rect">
            <a:avLst/>
          </a:prstGeom>
          <a:solidFill>
            <a:srgbClr val="EEF8F2"/>
          </a:solidFill>
          <a:ln w="12700">
            <a:solidFill>
              <a:srgbClr val="B8DEC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1772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7A4A"/>
                </a:solidFill>
              </a:rPr>
              <a:t>●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910328" y="2286000"/>
            <a:ext cx="3730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A4A"/>
                </a:solidFill>
              </a:rPr>
              <a:t>Koridor Biaya Berbasis Data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910328" y="2514600"/>
            <a:ext cx="3730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24"/>
                </a:solidFill>
              </a:rPr>
              <a:t>Expected Cost Matrix dari 6 dataset DJSN: flag otomatis jika biaya &gt; mean + 2σ per Provinsi × Kelas × Usia.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44568" y="3035808"/>
            <a:ext cx="4206240" cy="713232"/>
          </a:xfrm>
          <a:prstGeom prst="rect">
            <a:avLst/>
          </a:prstGeom>
          <a:solidFill>
            <a:srgbClr val="EEF8F2"/>
          </a:solidFill>
          <a:ln w="12700">
            <a:solidFill>
              <a:srgbClr val="B8DEC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617720" y="3081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7A4A"/>
                </a:solidFill>
              </a:rPr>
              <a:t>●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910328" y="3081528"/>
            <a:ext cx="3730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A4A"/>
                </a:solidFill>
              </a:rPr>
              <a:t>Review Sebelum Pengiriman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910328" y="3310128"/>
            <a:ext cx="3730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24"/>
                </a:solidFill>
              </a:rPr>
              <a:t>Sinyal risiko muncul sebelum klaim dikirim ke BPJS — mempersingkat siklus koreksi secara signifikan.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44568" y="3831336"/>
            <a:ext cx="4206240" cy="713232"/>
          </a:xfrm>
          <a:prstGeom prst="rect">
            <a:avLst/>
          </a:prstGeom>
          <a:solidFill>
            <a:srgbClr val="EEF8F2"/>
          </a:solidFill>
          <a:ln w="12700">
            <a:solidFill>
              <a:srgbClr val="B8DEC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617720" y="38770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7A4A"/>
                </a:solidFill>
              </a:rPr>
              <a:t>●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910328" y="3877056"/>
            <a:ext cx="3730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A4A"/>
                </a:solidFill>
              </a:rPr>
              <a:t>Audit Trail Immutable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910328" y="4105656"/>
            <a:ext cx="3730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1F24"/>
                </a:solidFill>
              </a:rPr>
              <a:t>Setiap sinyal, disposisi, dan alasan reviewer tercatat permanen — siap untuk pemeriksaan regulatori.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059936" y="2468880"/>
            <a:ext cx="347472" cy="347472"/>
          </a:xfrm>
          <a:prstGeom prst="rightArrow">
            <a:avLst/>
          </a:prstGeom>
          <a:solidFill>
            <a:srgbClr val="E09B10"/>
          </a:solidFill>
          <a:ln w="12700">
            <a:solidFill>
              <a:srgbClr val="E09B1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20040" y="48280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A8E97"/>
                </a:solidFill>
              </a:rPr>
              <a:t>TilikKlaim × Healthkathon 2026  |  B7.1 Sebelum vs Sesudah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F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54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457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B7 — Simulasi Dampak Terukur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0C8D0"/>
                </a:solidFill>
              </a:rPr>
              <a:t>Estimasi konservatif dengan asumsi transparan — bukan klaim aktual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02412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09B10"/>
                </a:solidFill>
              </a:rPr>
              <a:t>BASIS KALKULASI (Data Publik DJSN 2018)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353312"/>
            <a:ext cx="8503920" cy="219456"/>
          </a:xfrm>
          <a:prstGeom prst="rect">
            <a:avLst/>
          </a:prstGeom>
          <a:solidFill>
            <a:srgbClr val="00485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1480" y="13716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Total biaya klaim JKN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977640" y="13716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09B10"/>
                </a:solidFill>
              </a:rPr>
              <a:t>Rp 172,59 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3716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EC4CC"/>
                </a:solidFill>
              </a:rPr>
              <a:t>(Laporan BPJS 2018)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600200"/>
            <a:ext cx="8503920" cy="219456"/>
          </a:xfrm>
          <a:prstGeom prst="rect">
            <a:avLst/>
          </a:prstGeom>
          <a:solidFill>
            <a:srgbClr val="003D4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11480" y="16184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Claim ratio aktual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161848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09B10"/>
                </a:solidFill>
              </a:rPr>
              <a:t>108,04%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61848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EC4CC"/>
                </a:solidFill>
              </a:rPr>
              <a:t>(di atas 100% = defisit struktural)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1847088"/>
            <a:ext cx="8503920" cy="219456"/>
          </a:xfrm>
          <a:prstGeom prst="rect">
            <a:avLst/>
          </a:prstGeom>
          <a:solidFill>
            <a:srgbClr val="00485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11480" y="186537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Kunjungan FKRTL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186537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09B10"/>
                </a:solidFill>
              </a:rPr>
              <a:t>664 juta+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86537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EC4CC"/>
                </a:solidFill>
              </a:rPr>
              <a:t>(volume transaksi yang perlu diverifikasi)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093976"/>
            <a:ext cx="8503920" cy="219456"/>
          </a:xfrm>
          <a:prstGeom prst="rect">
            <a:avLst/>
          </a:prstGeom>
          <a:solidFill>
            <a:srgbClr val="003D4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11480" y="211226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RITL nasional rata-rata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977640" y="211226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09B10"/>
                </a:solidFill>
              </a:rPr>
              <a:t>Rp 4.747.547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211226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EC4CC"/>
                </a:solidFill>
              </a:rPr>
              <a:t>(per admisi — baseline deteksi inflated bills)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320040" y="23774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09B10"/>
                </a:solidFill>
              </a:rPr>
              <a:t>SIMULASI TIGA SKENARIO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20040" y="26334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EC4CC"/>
                </a:solidFill>
              </a:rPr>
              <a:t>Referensi: WHO memperkirakan 3–10% biaya klaim sistem kesehatan global berpotensi anomali. Kami gunakan 1–3% sebagai estimasi konservatif untuk JKN.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944368"/>
            <a:ext cx="2743200" cy="1755648"/>
          </a:xfrm>
          <a:prstGeom prst="rect">
            <a:avLst/>
          </a:prstGeom>
          <a:solidFill>
            <a:srgbClr val="004050"/>
          </a:solidFill>
          <a:ln w="25400">
            <a:solidFill>
              <a:srgbClr val="1A7A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1480" y="29900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A"/>
                </a:solidFill>
              </a:rPr>
              <a:t>SKENARIO A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" y="32186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8E97"/>
                </a:solidFill>
              </a:rPr>
              <a:t>Konservatif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11480" y="34290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7A4A"/>
                </a:solidFill>
              </a:rPr>
              <a:t>Rp 517 M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411480" y="383133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C4CC"/>
                </a:solidFill>
              </a:rPr>
              <a:t>estimasi penghematan/tahun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11480" y="40325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</a:rPr>
              <a:t>1% klaim anomali × 30% terdeteksi TilikKlaim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411480" y="43251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C4CC"/>
                </a:solidFill>
              </a:rPr>
              <a:t>≈ 0,3% dari total klaim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64408" y="2944368"/>
            <a:ext cx="2743200" cy="1755648"/>
          </a:xfrm>
          <a:prstGeom prst="rect">
            <a:avLst/>
          </a:prstGeom>
          <a:solidFill>
            <a:srgbClr val="004050"/>
          </a:solidFill>
          <a:ln w="25400">
            <a:solidFill>
              <a:srgbClr val="E09B1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355848" y="29900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9B10"/>
                </a:solidFill>
              </a:rPr>
              <a:t>SKENARIO B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355848" y="32186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8E97"/>
                </a:solidFill>
              </a:rPr>
              <a:t>Moderat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3355848" y="34290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9B10"/>
                </a:solidFill>
              </a:rPr>
              <a:t>Rp 1,21 T</a:t>
            </a:r>
            <a:endParaRPr lang="en-US" sz="2800" dirty="0"/>
          </a:p>
        </p:txBody>
      </p:sp>
      <p:sp>
        <p:nvSpPr>
          <p:cNvPr id="36" name="Text 34"/>
          <p:cNvSpPr txBox="1"/>
          <p:nvPr/>
        </p:nvSpPr>
        <p:spPr>
          <a:xfrm>
            <a:off x="3355848" y="383133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C4CC"/>
                </a:solidFill>
              </a:rPr>
              <a:t>estimasi penghematan/tahun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3355848" y="40325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</a:rPr>
              <a:t>2% klaim anomali × 35% terdeteksi TilikKlaim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3355848" y="43251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C4CC"/>
                </a:solidFill>
              </a:rPr>
              <a:t>≈ 0,7% dari total klaim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208776" y="2944368"/>
            <a:ext cx="2743200" cy="1755648"/>
          </a:xfrm>
          <a:prstGeom prst="rect">
            <a:avLst/>
          </a:prstGeom>
          <a:solidFill>
            <a:srgbClr val="004050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00216" y="29900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SKENARIO C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300216" y="32186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8E97"/>
                </a:solidFill>
              </a:rPr>
              <a:t>Optimistik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300216" y="34290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</a:rPr>
              <a:t>Rp 2,07 T</a:t>
            </a:r>
            <a:endParaRPr lang="en-US" sz="2800" dirty="0"/>
          </a:p>
        </p:txBody>
      </p:sp>
      <p:sp>
        <p:nvSpPr>
          <p:cNvPr id="43" name="Text 41"/>
          <p:cNvSpPr txBox="1"/>
          <p:nvPr/>
        </p:nvSpPr>
        <p:spPr>
          <a:xfrm>
            <a:off x="6300216" y="383133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C4CC"/>
                </a:solidFill>
              </a:rPr>
              <a:t>estimasi penghematan/tahun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6300216" y="40325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</a:rPr>
              <a:t>3% klaim anomali × 40% terdeteksi TilikKlaim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6300216" y="43251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C4CC"/>
                </a:solidFill>
              </a:rPr>
              <a:t>≈ 1,2% dari total klaim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AAAB4"/>
                </a:solidFill>
              </a:rPr>
              <a:t>⚑  Ini adalah simulasi berbasis data agregat publik DJSN — bukan data klaim transaksional. Angka akan divalidasi ulang pada fase pilot dengan faskes mitra.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5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4F5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B7 — Ekosistem Penerima Manfaat TilikKlaim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24528" cy="1901952"/>
          </a:xfrm>
          <a:prstGeom prst="rect">
            <a:avLst/>
          </a:prstGeom>
          <a:solidFill>
            <a:srgbClr val="FFFFFF"/>
          </a:solidFill>
          <a:ln w="19050">
            <a:solidFill>
              <a:srgbClr val="00839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05840"/>
            <a:ext cx="4224528" cy="347472"/>
          </a:xfrm>
          <a:prstGeom prst="rect">
            <a:avLst/>
          </a:prstGeom>
          <a:solidFill>
            <a:srgbClr val="00839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01752" y="10241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RUMAH SAKIT &amp; FASKES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10515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D0ECEF"/>
                </a:solidFill>
              </a:rPr>
              <a:t>Pengguna Langsung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1399032"/>
            <a:ext cx="54864" cy="54864"/>
          </a:xfrm>
          <a:prstGeom prst="rect">
            <a:avLst/>
          </a:prstGeom>
          <a:solidFill>
            <a:srgbClr val="00839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9768" y="1353312"/>
            <a:ext cx="3913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24"/>
                </a:solidFill>
              </a:rPr>
              <a:t>Deteksi sinyal risiko sebelum klaim dikirim — kurangi pengembalian klaim dari BPJS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755648"/>
            <a:ext cx="54864" cy="54864"/>
          </a:xfrm>
          <a:prstGeom prst="rect">
            <a:avLst/>
          </a:prstGeom>
          <a:solidFill>
            <a:srgbClr val="00839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9768" y="1709928"/>
            <a:ext cx="3913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24"/>
                </a:solidFill>
              </a:rPr>
              <a:t>Dashboard review untuk Komite Klaim internal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112264"/>
            <a:ext cx="54864" cy="54864"/>
          </a:xfrm>
          <a:prstGeom prst="rect">
            <a:avLst/>
          </a:prstGeom>
          <a:solidFill>
            <a:srgbClr val="00839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9768" y="2066544"/>
            <a:ext cx="3913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24"/>
                </a:solidFill>
              </a:rPr>
              <a:t>Audit trail setiap sinyal → siap inspeksi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468880"/>
            <a:ext cx="54864" cy="54864"/>
          </a:xfrm>
          <a:prstGeom prst="rect">
            <a:avLst/>
          </a:prstGeom>
          <a:solidFill>
            <a:srgbClr val="00839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9768" y="2423160"/>
            <a:ext cx="3913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24"/>
                </a:solidFill>
              </a:rPr>
              <a:t>Hemat waktu verifikasi manual staf koding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81728" y="1005840"/>
            <a:ext cx="4224528" cy="1901952"/>
          </a:xfrm>
          <a:prstGeom prst="rect">
            <a:avLst/>
          </a:prstGeom>
          <a:solidFill>
            <a:srgbClr val="FFFFFF"/>
          </a:solidFill>
          <a:ln w="19050">
            <a:solidFill>
              <a:srgbClr val="005F7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1728" y="1005840"/>
            <a:ext cx="4224528" cy="34747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54880" y="10241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BPJS KESEHATAN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699248" y="10515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D0ECEF"/>
                </a:solidFill>
              </a:rPr>
              <a:t>Payer &amp; Regulator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773168" y="1399032"/>
            <a:ext cx="54864" cy="54864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82896" y="1353312"/>
            <a:ext cx="3913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24"/>
                </a:solidFill>
              </a:rPr>
              <a:t>Klaim masuk sudah melalui pre-screening — kurangi beban verifikasi BPJS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73168" y="1755648"/>
            <a:ext cx="54864" cy="54864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82896" y="1709928"/>
            <a:ext cx="3913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24"/>
                </a:solidFill>
              </a:rPr>
              <a:t>Sinyal konsisten berbasis metodologi statistikal bukan opini individual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73168" y="2112264"/>
            <a:ext cx="54864" cy="54864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82896" y="2066544"/>
            <a:ext cx="3913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24"/>
                </a:solidFill>
              </a:rPr>
              <a:t>Potensi efisiensi klaim ratio mendekati 100% (dari 108,04%)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73168" y="2468880"/>
            <a:ext cx="54864" cy="54864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882896" y="2423160"/>
            <a:ext cx="3913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24"/>
                </a:solidFill>
              </a:rPr>
              <a:t>Data sinyal teragregasi mendukung analisis tren anomali nasional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3017520"/>
            <a:ext cx="4224528" cy="1901952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3017520"/>
            <a:ext cx="4224528" cy="347472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01752" y="30358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PESERTA JKN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246120" y="30632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D0ECEF"/>
                </a:solidFill>
              </a:rPr>
              <a:t>Penerima Manfaat Tidak Langsung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0040" y="3410712"/>
            <a:ext cx="54864" cy="54864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29768" y="3364992"/>
            <a:ext cx="3913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24"/>
                </a:solidFill>
              </a:rPr>
              <a:t>Klaim yang akurat → keberlangsungan dana JKN lebih terjaga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767328"/>
            <a:ext cx="54864" cy="54864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29768" y="3721608"/>
            <a:ext cx="3913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24"/>
                </a:solidFill>
              </a:rPr>
              <a:t>Tagihan yang diklaim sesuai layanan aktual yang diterima pasien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4123944"/>
            <a:ext cx="54864" cy="54864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29768" y="4078224"/>
            <a:ext cx="3913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24"/>
                </a:solidFill>
              </a:rPr>
              <a:t>Sistem lebih adil: subsidi silang tidak disalahgunakan oleh entitas tidak bertanggung jawab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" y="4480560"/>
            <a:ext cx="54864" cy="54864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29768" y="4434840"/>
            <a:ext cx="3913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24"/>
                </a:solidFill>
              </a:rPr>
              <a:t>Akses layanan lebih terjaga jika faskes tidak terbebani koreksi administratif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81728" y="3017520"/>
            <a:ext cx="4224528" cy="1901952"/>
          </a:xfrm>
          <a:prstGeom prst="rect">
            <a:avLst/>
          </a:prstGeom>
          <a:solidFill>
            <a:srgbClr val="FFFFFF"/>
          </a:solidFill>
          <a:ln w="19050">
            <a:solidFill>
              <a:srgbClr val="5A4A9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81728" y="3017520"/>
            <a:ext cx="4224528" cy="347472"/>
          </a:xfrm>
          <a:prstGeom prst="rect">
            <a:avLst/>
          </a:prstGeom>
          <a:solidFill>
            <a:srgbClr val="5A4A9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754880" y="30358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REGULATOR &amp; PUBLIK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7699248" y="30632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D0ECEF"/>
                </a:solidFill>
              </a:rPr>
              <a:t>Pemangku Kepentingan Sistem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73168" y="3410712"/>
            <a:ext cx="54864" cy="54864"/>
          </a:xfrm>
          <a:prstGeom prst="rect">
            <a:avLst/>
          </a:prstGeom>
          <a:solidFill>
            <a:srgbClr val="5A4A9B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882896" y="3364992"/>
            <a:ext cx="3913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24"/>
                </a:solidFill>
              </a:rPr>
              <a:t>Transparansi sinyal risiko mendukung tata kelola berbasis bukti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73168" y="3767328"/>
            <a:ext cx="54864" cy="54864"/>
          </a:xfrm>
          <a:prstGeom prst="rect">
            <a:avLst/>
          </a:prstGeom>
          <a:solidFill>
            <a:srgbClr val="5A4A9B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882896" y="3721608"/>
            <a:ext cx="3913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24"/>
                </a:solidFill>
              </a:rPr>
              <a:t>Audit trail immutable untuk pemeriksaan BPK / BPKP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73168" y="4123944"/>
            <a:ext cx="54864" cy="54864"/>
          </a:xfrm>
          <a:prstGeom prst="rect">
            <a:avLst/>
          </a:prstGeom>
          <a:solidFill>
            <a:srgbClr val="5A4A9B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882896" y="4078224"/>
            <a:ext cx="3913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24"/>
                </a:solidFill>
              </a:rPr>
              <a:t>Data agregat sinyal nasional membantu pembaruan regulasi INA-CBGs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73168" y="4480560"/>
            <a:ext cx="54864" cy="54864"/>
          </a:xfrm>
          <a:prstGeom prst="rect">
            <a:avLst/>
          </a:prstGeom>
          <a:solidFill>
            <a:srgbClr val="5A4A9B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4882896" y="4434840"/>
            <a:ext cx="3913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24"/>
                </a:solidFill>
              </a:rPr>
              <a:t>Fondasi ekosistem anti-fraud JKN yang dapat diperluas lintas kategori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4F5E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320040" y="485546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TilikKlaim bukan hanya alat faskes — ini adalah infrastruktur integritas klaim yang menguntungkan seluruh ekosistem JKN.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2026-09-06T10:35:57Z</dcterms:created>
  <dcterms:modified xsi:type="dcterms:W3CDTF">2026-09-06T10:35:57Z</dcterms:modified>
</cp:coreProperties>
</file>